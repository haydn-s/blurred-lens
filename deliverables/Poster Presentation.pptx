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219456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005840"/>
            <a:ext cx="19933920" cy="1536192"/>
          </a:xfrm>
          <a:prstGeom prst="rect">
            <a:avLst/>
          </a:prstGeom>
          <a:noFill/>
        </p:spPr>
        <p:txBody>
          <a:bodyPr wrap="square" lIns="0" rIns="0" tIns="0" bIns="0" anchor="t">
            <a:spAutoFit/>
          </a:bodyPr>
          <a:lstStyle/>
          <a:p>
            <a:pPr algn="l">
              <a:lnSpc>
                <a:spcPct val="92000"/>
              </a:lnSpc>
              <a:spcAft>
                <a:spcPts val="0"/>
              </a:spcAft>
            </a:pPr>
            <a:r>
              <a:rPr sz="12000" b="1" i="0">
                <a:solidFill>
                  <a:srgbClr val="1A1A1A"/>
                </a:solidFill>
                <a:latin typeface="Cambria"/>
              </a:rPr>
              <a:t>Blurred Lens</a:t>
            </a:r>
          </a:p>
        </p:txBody>
      </p:sp>
      <p:sp>
        <p:nvSpPr>
          <p:cNvPr id="3" name="TextBox 2"/>
          <p:cNvSpPr txBox="1"/>
          <p:nvPr/>
        </p:nvSpPr>
        <p:spPr>
          <a:xfrm>
            <a:off x="1005840" y="2596896"/>
            <a:ext cx="19385280" cy="1254760"/>
          </a:xfrm>
          <a:prstGeom prst="rect">
            <a:avLst/>
          </a:prstGeom>
          <a:noFill/>
        </p:spPr>
        <p:txBody>
          <a:bodyPr wrap="square" lIns="0" rIns="0" tIns="0" bIns="0" anchor="t">
            <a:spAutoFit/>
          </a:bodyPr>
          <a:lstStyle/>
          <a:p>
            <a:pPr algn="l">
              <a:lnSpc>
                <a:spcPct val="118000"/>
              </a:lnSpc>
              <a:spcAft>
                <a:spcPts val="0"/>
              </a:spcAft>
            </a:pPr>
            <a:r>
              <a:rPr sz="3800" b="0" i="1">
                <a:solidFill>
                  <a:srgbClr val="5F6670"/>
                </a:solidFill>
                <a:latin typeface="Cambria"/>
              </a:rPr>
              <a:t>An AI image model pictures drier countries in warmer colour — not poorer ones. And it draws Asia warmer than any climate explains.</a:t>
            </a:r>
          </a:p>
        </p:txBody>
      </p:sp>
      <p:sp>
        <p:nvSpPr>
          <p:cNvPr id="4" name="TextBox 3"/>
          <p:cNvSpPr txBox="1"/>
          <p:nvPr/>
        </p:nvSpPr>
        <p:spPr>
          <a:xfrm>
            <a:off x="1005840" y="4016248"/>
            <a:ext cx="19933920" cy="347472"/>
          </a:xfrm>
          <a:prstGeom prst="rect">
            <a:avLst/>
          </a:prstGeom>
          <a:noFill/>
        </p:spPr>
        <p:txBody>
          <a:bodyPr wrap="square" lIns="0" rIns="0" tIns="0" bIns="0" anchor="t">
            <a:spAutoFit/>
          </a:bodyPr>
          <a:lstStyle/>
          <a:p>
            <a:pPr algn="l">
              <a:lnSpc>
                <a:spcPct val="108000"/>
              </a:lnSpc>
              <a:spcAft>
                <a:spcPts val="0"/>
              </a:spcAft>
            </a:pPr>
            <a:r>
              <a:rPr sz="2200" b="0" i="0">
                <a:solidFill>
                  <a:srgbClr val="5F6670"/>
                </a:solidFill>
                <a:latin typeface="Calibri"/>
              </a:rPr>
              <a:t>Haydn Stucker  ·  AIPI 590: Explainable AI  ·  Duke University</a:t>
            </a:r>
          </a:p>
        </p:txBody>
      </p:sp>
      <p:sp>
        <p:nvSpPr>
          <p:cNvPr id="5" name="Rectangle 4"/>
          <p:cNvSpPr/>
          <p:nvPr/>
        </p:nvSpPr>
        <p:spPr>
          <a:xfrm>
            <a:off x="1005840" y="4546600"/>
            <a:ext cx="19933920" cy="18288"/>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05840" y="4930648"/>
            <a:ext cx="4805172" cy="1572768"/>
          </a:xfrm>
          <a:prstGeom prst="roundRect">
            <a:avLst>
              <a:gd name="adj" fmla="val 4000"/>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98448" y="5113528"/>
            <a:ext cx="4219956" cy="768096"/>
          </a:xfrm>
          <a:prstGeom prst="rect">
            <a:avLst/>
          </a:prstGeom>
          <a:noFill/>
        </p:spPr>
        <p:txBody>
          <a:bodyPr wrap="square" lIns="0" rIns="0" tIns="0" bIns="0" anchor="t">
            <a:spAutoFit/>
          </a:bodyPr>
          <a:lstStyle/>
          <a:p>
            <a:pPr algn="l">
              <a:lnSpc>
                <a:spcPct val="100000"/>
              </a:lnSpc>
              <a:spcAft>
                <a:spcPts val="0"/>
              </a:spcAft>
            </a:pPr>
            <a:r>
              <a:rPr sz="6400" b="1" i="0">
                <a:solidFill>
                  <a:srgbClr val="B07C1F"/>
                </a:solidFill>
                <a:latin typeface="Cambria"/>
              </a:rPr>
              <a:t>61,488</a:t>
            </a:r>
          </a:p>
        </p:txBody>
      </p:sp>
      <p:sp>
        <p:nvSpPr>
          <p:cNvPr id="8" name="TextBox 7"/>
          <p:cNvSpPr txBox="1"/>
          <p:nvPr/>
        </p:nvSpPr>
        <p:spPr>
          <a:xfrm>
            <a:off x="1298448" y="5918200"/>
            <a:ext cx="4219956" cy="512064"/>
          </a:xfrm>
          <a:prstGeom prst="rect">
            <a:avLst/>
          </a:prstGeom>
          <a:noFill/>
        </p:spPr>
        <p:txBody>
          <a:bodyPr wrap="square" lIns="0" rIns="0" tIns="0" bIns="0" anchor="t">
            <a:spAutoFit/>
          </a:bodyPr>
          <a:lstStyle/>
          <a:p>
            <a:pPr algn="l">
              <a:lnSpc>
                <a:spcPct val="115000"/>
              </a:lnSpc>
              <a:spcAft>
                <a:spcPts val="0"/>
              </a:spcAft>
            </a:pPr>
            <a:r>
              <a:rPr sz="2100" b="0" i="0">
                <a:solidFill>
                  <a:srgbClr val="5F6670"/>
                </a:solidFill>
                <a:latin typeface="Calibri"/>
              </a:rPr>
              <a:t>images generated</a:t>
            </a:r>
          </a:p>
        </p:txBody>
      </p:sp>
      <p:sp>
        <p:nvSpPr>
          <p:cNvPr id="9" name="Rounded Rectangle 8"/>
          <p:cNvSpPr/>
          <p:nvPr/>
        </p:nvSpPr>
        <p:spPr>
          <a:xfrm>
            <a:off x="6048756" y="4930648"/>
            <a:ext cx="4805172" cy="1572768"/>
          </a:xfrm>
          <a:prstGeom prst="roundRect">
            <a:avLst>
              <a:gd name="adj" fmla="val 4000"/>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1364" y="5113528"/>
            <a:ext cx="4219956" cy="768096"/>
          </a:xfrm>
          <a:prstGeom prst="rect">
            <a:avLst/>
          </a:prstGeom>
          <a:noFill/>
        </p:spPr>
        <p:txBody>
          <a:bodyPr wrap="square" lIns="0" rIns="0" tIns="0" bIns="0" anchor="t">
            <a:spAutoFit/>
          </a:bodyPr>
          <a:lstStyle/>
          <a:p>
            <a:pPr algn="l">
              <a:lnSpc>
                <a:spcPct val="100000"/>
              </a:lnSpc>
              <a:spcAft>
                <a:spcPts val="0"/>
              </a:spcAft>
            </a:pPr>
            <a:r>
              <a:rPr sz="6400" b="1" i="0">
                <a:solidFill>
                  <a:srgbClr val="B07C1F"/>
                </a:solidFill>
                <a:latin typeface="Cambria"/>
              </a:rPr>
              <a:t>60 × 6</a:t>
            </a:r>
          </a:p>
        </p:txBody>
      </p:sp>
      <p:sp>
        <p:nvSpPr>
          <p:cNvPr id="11" name="TextBox 10"/>
          <p:cNvSpPr txBox="1"/>
          <p:nvPr/>
        </p:nvSpPr>
        <p:spPr>
          <a:xfrm>
            <a:off x="6341364" y="5918200"/>
            <a:ext cx="4219956" cy="512064"/>
          </a:xfrm>
          <a:prstGeom prst="rect">
            <a:avLst/>
          </a:prstGeom>
          <a:noFill/>
        </p:spPr>
        <p:txBody>
          <a:bodyPr wrap="square" lIns="0" rIns="0" tIns="0" bIns="0" anchor="t">
            <a:spAutoFit/>
          </a:bodyPr>
          <a:lstStyle/>
          <a:p>
            <a:pPr algn="l">
              <a:lnSpc>
                <a:spcPct val="115000"/>
              </a:lnSpc>
              <a:spcAft>
                <a:spcPts val="0"/>
              </a:spcAft>
            </a:pPr>
            <a:r>
              <a:rPr sz="2100" b="0" i="0">
                <a:solidFill>
                  <a:srgbClr val="5F6670"/>
                </a:solidFill>
                <a:latin typeface="Calibri"/>
              </a:rPr>
              <a:t>countries × places</a:t>
            </a:r>
          </a:p>
        </p:txBody>
      </p:sp>
      <p:sp>
        <p:nvSpPr>
          <p:cNvPr id="12" name="Rounded Rectangle 11"/>
          <p:cNvSpPr/>
          <p:nvPr/>
        </p:nvSpPr>
        <p:spPr>
          <a:xfrm>
            <a:off x="11091672" y="4930648"/>
            <a:ext cx="4805172" cy="1572768"/>
          </a:xfrm>
          <a:prstGeom prst="roundRect">
            <a:avLst>
              <a:gd name="adj" fmla="val 4000"/>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384280" y="5113528"/>
            <a:ext cx="4219956" cy="768096"/>
          </a:xfrm>
          <a:prstGeom prst="rect">
            <a:avLst/>
          </a:prstGeom>
          <a:noFill/>
        </p:spPr>
        <p:txBody>
          <a:bodyPr wrap="square" lIns="0" rIns="0" tIns="0" bIns="0" anchor="t">
            <a:spAutoFit/>
          </a:bodyPr>
          <a:lstStyle/>
          <a:p>
            <a:pPr algn="l">
              <a:lnSpc>
                <a:spcPct val="100000"/>
              </a:lnSpc>
              <a:spcAft>
                <a:spcPts val="0"/>
              </a:spcAft>
            </a:pPr>
            <a:r>
              <a:rPr sz="6400" b="1" i="0">
                <a:solidFill>
                  <a:srgbClr val="B07C1F"/>
                </a:solidFill>
                <a:latin typeface="Cambria"/>
              </a:rPr>
              <a:t>53 of 60</a:t>
            </a:r>
          </a:p>
        </p:txBody>
      </p:sp>
      <p:sp>
        <p:nvSpPr>
          <p:cNvPr id="14" name="TextBox 13"/>
          <p:cNvSpPr txBox="1"/>
          <p:nvPr/>
        </p:nvSpPr>
        <p:spPr>
          <a:xfrm>
            <a:off x="11384280" y="5918200"/>
            <a:ext cx="4219956" cy="512064"/>
          </a:xfrm>
          <a:prstGeom prst="rect">
            <a:avLst/>
          </a:prstGeom>
          <a:noFill/>
        </p:spPr>
        <p:txBody>
          <a:bodyPr wrap="square" lIns="0" rIns="0" tIns="0" bIns="0" anchor="t">
            <a:spAutoFit/>
          </a:bodyPr>
          <a:lstStyle/>
          <a:p>
            <a:pPr algn="l">
              <a:lnSpc>
                <a:spcPct val="115000"/>
              </a:lnSpc>
              <a:spcAft>
                <a:spcPts val="0"/>
              </a:spcAft>
            </a:pPr>
            <a:r>
              <a:rPr sz="2100" b="0" i="0">
                <a:solidFill>
                  <a:srgbClr val="5F6670"/>
                </a:solidFill>
                <a:latin typeface="Calibri"/>
              </a:rPr>
              <a:t>warmer than the model's own default</a:t>
            </a:r>
          </a:p>
        </p:txBody>
      </p:sp>
      <p:sp>
        <p:nvSpPr>
          <p:cNvPr id="15" name="Rounded Rectangle 14"/>
          <p:cNvSpPr/>
          <p:nvPr/>
        </p:nvSpPr>
        <p:spPr>
          <a:xfrm>
            <a:off x="16134588" y="4930648"/>
            <a:ext cx="4805172" cy="1572768"/>
          </a:xfrm>
          <a:prstGeom prst="roundRect">
            <a:avLst>
              <a:gd name="adj" fmla="val 4000"/>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427196" y="5113528"/>
            <a:ext cx="4219956" cy="768096"/>
          </a:xfrm>
          <a:prstGeom prst="rect">
            <a:avLst/>
          </a:prstGeom>
          <a:noFill/>
        </p:spPr>
        <p:txBody>
          <a:bodyPr wrap="square" lIns="0" rIns="0" tIns="0" bIns="0" anchor="t">
            <a:spAutoFit/>
          </a:bodyPr>
          <a:lstStyle/>
          <a:p>
            <a:pPr algn="l">
              <a:lnSpc>
                <a:spcPct val="100000"/>
              </a:lnSpc>
              <a:spcAft>
                <a:spcPts val="0"/>
              </a:spcAft>
            </a:pPr>
            <a:r>
              <a:rPr sz="6400" b="1" i="0">
                <a:solidFill>
                  <a:srgbClr val="B07C1F"/>
                </a:solidFill>
                <a:latin typeface="Cambria"/>
              </a:rPr>
              <a:t>0</a:t>
            </a:r>
          </a:p>
        </p:txBody>
      </p:sp>
      <p:sp>
        <p:nvSpPr>
          <p:cNvPr id="17" name="TextBox 16"/>
          <p:cNvSpPr txBox="1"/>
          <p:nvPr/>
        </p:nvSpPr>
        <p:spPr>
          <a:xfrm>
            <a:off x="16427196" y="5918200"/>
            <a:ext cx="4219956" cy="512064"/>
          </a:xfrm>
          <a:prstGeom prst="rect">
            <a:avLst/>
          </a:prstGeom>
          <a:noFill/>
        </p:spPr>
        <p:txBody>
          <a:bodyPr wrap="square" lIns="0" rIns="0" tIns="0" bIns="0" anchor="t">
            <a:spAutoFit/>
          </a:bodyPr>
          <a:lstStyle/>
          <a:p>
            <a:pPr algn="l">
              <a:lnSpc>
                <a:spcPct val="115000"/>
              </a:lnSpc>
              <a:spcAft>
                <a:spcPts val="0"/>
              </a:spcAft>
            </a:pPr>
            <a:r>
              <a:rPr sz="2100" b="0" i="0">
                <a:solidFill>
                  <a:srgbClr val="5F6670"/>
                </a:solidFill>
                <a:latin typeface="Calibri"/>
              </a:rPr>
              <a:t>failures or refusals</a:t>
            </a:r>
          </a:p>
        </p:txBody>
      </p:sp>
      <p:sp>
        <p:nvSpPr>
          <p:cNvPr id="18" name="TextBox 17"/>
          <p:cNvSpPr txBox="1"/>
          <p:nvPr/>
        </p:nvSpPr>
        <p:spPr>
          <a:xfrm>
            <a:off x="1005840" y="6887464"/>
            <a:ext cx="11612880" cy="693420"/>
          </a:xfrm>
          <a:prstGeom prst="rect">
            <a:avLst/>
          </a:prstGeom>
          <a:noFill/>
        </p:spPr>
        <p:txBody>
          <a:bodyPr wrap="square" lIns="0" rIns="0" tIns="0" bIns="0" anchor="t">
            <a:spAutoFit/>
          </a:bodyPr>
          <a:lstStyle/>
          <a:p>
            <a:pPr algn="l">
              <a:lnSpc>
                <a:spcPct val="108000"/>
              </a:lnSpc>
              <a:spcAft>
                <a:spcPts val="0"/>
              </a:spcAft>
            </a:pPr>
            <a:r>
              <a:rPr sz="4200" b="1" i="0">
                <a:solidFill>
                  <a:srgbClr val="1A1A1A"/>
                </a:solidFill>
                <a:latin typeface="Cambria"/>
              </a:rPr>
              <a:t>Only the country changed</a:t>
            </a:r>
          </a:p>
        </p:txBody>
      </p:sp>
      <p:sp>
        <p:nvSpPr>
          <p:cNvPr id="19" name="TextBox 18"/>
          <p:cNvSpPr txBox="1"/>
          <p:nvPr/>
        </p:nvSpPr>
        <p:spPr>
          <a:xfrm>
            <a:off x="1005840" y="7745476"/>
            <a:ext cx="11612880" cy="329184"/>
          </a:xfrm>
          <a:prstGeom prst="rect">
            <a:avLst/>
          </a:prstGeom>
          <a:noFill/>
        </p:spPr>
        <p:txBody>
          <a:bodyPr wrap="square" lIns="0" rIns="0" tIns="0" bIns="0" anchor="t">
            <a:spAutoFit/>
          </a:bodyPr>
          <a:lstStyle/>
          <a:p>
            <a:pPr algn="l">
              <a:lnSpc>
                <a:spcPct val="108000"/>
              </a:lnSpc>
              <a:spcAft>
                <a:spcPts val="0"/>
              </a:spcAft>
            </a:pPr>
            <a:r>
              <a:rPr sz="2100" b="1" i="0">
                <a:solidFill>
                  <a:srgbClr val="B07C1F"/>
                </a:solidFill>
                <a:latin typeface="Calibri"/>
              </a:rPr>
              <a:t>THE FOUR IT DRAWS WARMEST</a:t>
            </a:r>
          </a:p>
        </p:txBody>
      </p:sp>
      <p:sp>
        <p:nvSpPr>
          <p:cNvPr id="20" name="TextBox 19"/>
          <p:cNvSpPr txBox="1"/>
          <p:nvPr/>
        </p:nvSpPr>
        <p:spPr>
          <a:xfrm>
            <a:off x="1005840" y="8129524"/>
            <a:ext cx="2855213" cy="384048"/>
          </a:xfrm>
          <a:prstGeom prst="rect">
            <a:avLst/>
          </a:prstGeom>
          <a:noFill/>
        </p:spPr>
        <p:txBody>
          <a:bodyPr wrap="square" lIns="0" rIns="0" tIns="0" bIns="0" anchor="t">
            <a:spAutoFit/>
          </a:bodyPr>
          <a:lstStyle/>
          <a:p>
            <a:pPr algn="l">
              <a:lnSpc>
                <a:spcPct val="108000"/>
              </a:lnSpc>
              <a:spcAft>
                <a:spcPts val="0"/>
              </a:spcAft>
            </a:pPr>
            <a:r>
              <a:rPr sz="2500" b="1" i="0">
                <a:solidFill>
                  <a:srgbClr val="1A1A1A"/>
                </a:solidFill>
                <a:latin typeface="Cambria"/>
              </a:rPr>
              <a:t>Niger  </a:t>
            </a:r>
          </a:p>
          <a:p>
            <a:pPr algn="l">
              <a:lnSpc>
                <a:spcPct val="108000"/>
              </a:lnSpc>
              <a:spcAft>
                <a:spcPts val="0"/>
              </a:spcAft>
            </a:pPr>
            <a:r>
              <a:rPr sz="2500" b="1" i="0">
                <a:solidFill>
                  <a:srgbClr val="B07C1F"/>
                </a:solidFill>
                <a:latin typeface="Cambria"/>
              </a:rPr>
              <a:t>+1.93</a:t>
            </a:r>
          </a:p>
        </p:txBody>
      </p:sp>
      <p:sp>
        <p:nvSpPr>
          <p:cNvPr id="21" name="TextBox 20"/>
          <p:cNvSpPr txBox="1"/>
          <p:nvPr/>
        </p:nvSpPr>
        <p:spPr>
          <a:xfrm>
            <a:off x="3925061" y="8129524"/>
            <a:ext cx="2855213" cy="384048"/>
          </a:xfrm>
          <a:prstGeom prst="rect">
            <a:avLst/>
          </a:prstGeom>
          <a:noFill/>
        </p:spPr>
        <p:txBody>
          <a:bodyPr wrap="square" lIns="0" rIns="0" tIns="0" bIns="0" anchor="t">
            <a:spAutoFit/>
          </a:bodyPr>
          <a:lstStyle/>
          <a:p>
            <a:pPr algn="l">
              <a:lnSpc>
                <a:spcPct val="108000"/>
              </a:lnSpc>
              <a:spcAft>
                <a:spcPts val="0"/>
              </a:spcAft>
            </a:pPr>
            <a:r>
              <a:rPr sz="2500" b="1" i="0">
                <a:solidFill>
                  <a:srgbClr val="1A1A1A"/>
                </a:solidFill>
                <a:latin typeface="Cambria"/>
              </a:rPr>
              <a:t>Nigeria  </a:t>
            </a:r>
          </a:p>
          <a:p>
            <a:pPr algn="l">
              <a:lnSpc>
                <a:spcPct val="108000"/>
              </a:lnSpc>
              <a:spcAft>
                <a:spcPts val="0"/>
              </a:spcAft>
            </a:pPr>
            <a:r>
              <a:rPr sz="2500" b="1" i="0">
                <a:solidFill>
                  <a:srgbClr val="B07C1F"/>
                </a:solidFill>
                <a:latin typeface="Cambria"/>
              </a:rPr>
              <a:t>+1.55</a:t>
            </a:r>
          </a:p>
        </p:txBody>
      </p:sp>
      <p:sp>
        <p:nvSpPr>
          <p:cNvPr id="22" name="TextBox 21"/>
          <p:cNvSpPr txBox="1"/>
          <p:nvPr/>
        </p:nvSpPr>
        <p:spPr>
          <a:xfrm>
            <a:off x="6844283" y="8129524"/>
            <a:ext cx="2855213" cy="384048"/>
          </a:xfrm>
          <a:prstGeom prst="rect">
            <a:avLst/>
          </a:prstGeom>
          <a:noFill/>
        </p:spPr>
        <p:txBody>
          <a:bodyPr wrap="square" lIns="0" rIns="0" tIns="0" bIns="0" anchor="t">
            <a:spAutoFit/>
          </a:bodyPr>
          <a:lstStyle/>
          <a:p>
            <a:pPr algn="l">
              <a:lnSpc>
                <a:spcPct val="108000"/>
              </a:lnSpc>
              <a:spcAft>
                <a:spcPts val="0"/>
              </a:spcAft>
            </a:pPr>
            <a:r>
              <a:rPr sz="2500" b="1" i="0">
                <a:solidFill>
                  <a:srgbClr val="1A1A1A"/>
                </a:solidFill>
                <a:latin typeface="Cambria"/>
              </a:rPr>
              <a:t>Chad  </a:t>
            </a:r>
          </a:p>
          <a:p>
            <a:pPr algn="l">
              <a:lnSpc>
                <a:spcPct val="108000"/>
              </a:lnSpc>
              <a:spcAft>
                <a:spcPts val="0"/>
              </a:spcAft>
            </a:pPr>
            <a:r>
              <a:rPr sz="2500" b="1" i="0">
                <a:solidFill>
                  <a:srgbClr val="B07C1F"/>
                </a:solidFill>
                <a:latin typeface="Cambria"/>
              </a:rPr>
              <a:t>+1.46</a:t>
            </a:r>
          </a:p>
        </p:txBody>
      </p:sp>
      <p:sp>
        <p:nvSpPr>
          <p:cNvPr id="23" name="TextBox 22"/>
          <p:cNvSpPr txBox="1"/>
          <p:nvPr/>
        </p:nvSpPr>
        <p:spPr>
          <a:xfrm>
            <a:off x="9763505" y="8129524"/>
            <a:ext cx="2855213" cy="384048"/>
          </a:xfrm>
          <a:prstGeom prst="rect">
            <a:avLst/>
          </a:prstGeom>
          <a:noFill/>
        </p:spPr>
        <p:txBody>
          <a:bodyPr wrap="square" lIns="0" rIns="0" tIns="0" bIns="0" anchor="t">
            <a:spAutoFit/>
          </a:bodyPr>
          <a:lstStyle/>
          <a:p>
            <a:pPr algn="l">
              <a:lnSpc>
                <a:spcPct val="108000"/>
              </a:lnSpc>
              <a:spcAft>
                <a:spcPts val="0"/>
              </a:spcAft>
            </a:pPr>
            <a:r>
              <a:rPr sz="2500" b="1" i="0">
                <a:solidFill>
                  <a:srgbClr val="1A1A1A"/>
                </a:solidFill>
                <a:latin typeface="Cambria"/>
              </a:rPr>
              <a:t>Mali  </a:t>
            </a:r>
          </a:p>
          <a:p>
            <a:pPr algn="l">
              <a:lnSpc>
                <a:spcPct val="108000"/>
              </a:lnSpc>
              <a:spcAft>
                <a:spcPts val="0"/>
              </a:spcAft>
            </a:pPr>
            <a:r>
              <a:rPr sz="2500" b="1" i="0">
                <a:solidFill>
                  <a:srgbClr val="B07C1F"/>
                </a:solidFill>
                <a:latin typeface="Cambria"/>
              </a:rPr>
              <a:t>+1.41</a:t>
            </a:r>
          </a:p>
        </p:txBody>
      </p:sp>
      <p:pic>
        <p:nvPicPr>
          <p:cNvPr id="24" name="Picture 23" descr="warm-row.jpg"/>
          <p:cNvPicPr>
            <a:picLocks noChangeAspect="1"/>
          </p:cNvPicPr>
          <p:nvPr/>
        </p:nvPicPr>
        <p:blipFill>
          <a:blip r:embed="rId2"/>
          <a:stretch>
            <a:fillRect/>
          </a:stretch>
        </p:blipFill>
        <p:spPr>
          <a:xfrm>
            <a:off x="1005840" y="8550148"/>
            <a:ext cx="11612880" cy="1916770"/>
          </a:xfrm>
          <a:prstGeom prst="rect">
            <a:avLst/>
          </a:prstGeom>
        </p:spPr>
      </p:pic>
      <p:sp>
        <p:nvSpPr>
          <p:cNvPr id="25" name="TextBox 24"/>
          <p:cNvSpPr txBox="1"/>
          <p:nvPr/>
        </p:nvSpPr>
        <p:spPr>
          <a:xfrm>
            <a:off x="1005840" y="10686374"/>
            <a:ext cx="11612880" cy="329184"/>
          </a:xfrm>
          <a:prstGeom prst="rect">
            <a:avLst/>
          </a:prstGeom>
          <a:noFill/>
        </p:spPr>
        <p:txBody>
          <a:bodyPr wrap="square" lIns="0" rIns="0" tIns="0" bIns="0" anchor="t">
            <a:spAutoFit/>
          </a:bodyPr>
          <a:lstStyle/>
          <a:p>
            <a:pPr algn="l">
              <a:lnSpc>
                <a:spcPct val="108000"/>
              </a:lnSpc>
              <a:spcAft>
                <a:spcPts val="0"/>
              </a:spcAft>
            </a:pPr>
            <a:r>
              <a:rPr sz="2100" b="1" i="0">
                <a:solidFill>
                  <a:srgbClr val="2F6CA8"/>
                </a:solidFill>
                <a:latin typeface="Calibri"/>
              </a:rPr>
              <a:t>THE FOUR IT DRAWS COOLEST</a:t>
            </a:r>
          </a:p>
        </p:txBody>
      </p:sp>
      <p:sp>
        <p:nvSpPr>
          <p:cNvPr id="26" name="TextBox 25"/>
          <p:cNvSpPr txBox="1"/>
          <p:nvPr/>
        </p:nvSpPr>
        <p:spPr>
          <a:xfrm>
            <a:off x="1005840" y="11070422"/>
            <a:ext cx="2855213" cy="384048"/>
          </a:xfrm>
          <a:prstGeom prst="rect">
            <a:avLst/>
          </a:prstGeom>
          <a:noFill/>
        </p:spPr>
        <p:txBody>
          <a:bodyPr wrap="square" lIns="0" rIns="0" tIns="0" bIns="0" anchor="t">
            <a:spAutoFit/>
          </a:bodyPr>
          <a:lstStyle/>
          <a:p>
            <a:pPr algn="l">
              <a:lnSpc>
                <a:spcPct val="108000"/>
              </a:lnSpc>
              <a:spcAft>
                <a:spcPts val="0"/>
              </a:spcAft>
            </a:pPr>
            <a:r>
              <a:rPr sz="2500" b="1" i="0">
                <a:solidFill>
                  <a:srgbClr val="1A1A1A"/>
                </a:solidFill>
                <a:latin typeface="Cambria"/>
              </a:rPr>
              <a:t>Norway  </a:t>
            </a:r>
          </a:p>
          <a:p>
            <a:pPr algn="l">
              <a:lnSpc>
                <a:spcPct val="108000"/>
              </a:lnSpc>
              <a:spcAft>
                <a:spcPts val="0"/>
              </a:spcAft>
            </a:pPr>
            <a:r>
              <a:rPr sz="2500" b="1" i="0">
                <a:solidFill>
                  <a:srgbClr val="2F6CA8"/>
                </a:solidFill>
                <a:latin typeface="Cambria"/>
              </a:rPr>
              <a:t>−1.83</a:t>
            </a:r>
          </a:p>
        </p:txBody>
      </p:sp>
      <p:sp>
        <p:nvSpPr>
          <p:cNvPr id="27" name="TextBox 26"/>
          <p:cNvSpPr txBox="1"/>
          <p:nvPr/>
        </p:nvSpPr>
        <p:spPr>
          <a:xfrm>
            <a:off x="3925061" y="11070422"/>
            <a:ext cx="2855213" cy="384048"/>
          </a:xfrm>
          <a:prstGeom prst="rect">
            <a:avLst/>
          </a:prstGeom>
          <a:noFill/>
        </p:spPr>
        <p:txBody>
          <a:bodyPr wrap="square" lIns="0" rIns="0" tIns="0" bIns="0" anchor="t">
            <a:spAutoFit/>
          </a:bodyPr>
          <a:lstStyle/>
          <a:p>
            <a:pPr algn="l">
              <a:lnSpc>
                <a:spcPct val="108000"/>
              </a:lnSpc>
              <a:spcAft>
                <a:spcPts val="0"/>
              </a:spcAft>
            </a:pPr>
            <a:r>
              <a:rPr sz="2500" b="1" i="0">
                <a:solidFill>
                  <a:srgbClr val="1A1A1A"/>
                </a:solidFill>
                <a:latin typeface="Cambria"/>
              </a:rPr>
              <a:t>Australia  </a:t>
            </a:r>
          </a:p>
          <a:p>
            <a:pPr algn="l">
              <a:lnSpc>
                <a:spcPct val="108000"/>
              </a:lnSpc>
              <a:spcAft>
                <a:spcPts val="0"/>
              </a:spcAft>
            </a:pPr>
            <a:r>
              <a:rPr sz="2500" b="1" i="0">
                <a:solidFill>
                  <a:srgbClr val="2F6CA8"/>
                </a:solidFill>
                <a:latin typeface="Cambria"/>
              </a:rPr>
              <a:t>−1.73</a:t>
            </a:r>
          </a:p>
        </p:txBody>
      </p:sp>
      <p:sp>
        <p:nvSpPr>
          <p:cNvPr id="28" name="TextBox 27"/>
          <p:cNvSpPr txBox="1"/>
          <p:nvPr/>
        </p:nvSpPr>
        <p:spPr>
          <a:xfrm>
            <a:off x="6844283" y="11070422"/>
            <a:ext cx="2855213" cy="384048"/>
          </a:xfrm>
          <a:prstGeom prst="rect">
            <a:avLst/>
          </a:prstGeom>
          <a:noFill/>
        </p:spPr>
        <p:txBody>
          <a:bodyPr wrap="square" lIns="0" rIns="0" tIns="0" bIns="0" anchor="t">
            <a:spAutoFit/>
          </a:bodyPr>
          <a:lstStyle/>
          <a:p>
            <a:pPr algn="l">
              <a:lnSpc>
                <a:spcPct val="108000"/>
              </a:lnSpc>
              <a:spcAft>
                <a:spcPts val="0"/>
              </a:spcAft>
            </a:pPr>
            <a:r>
              <a:rPr sz="2500" b="1" i="0">
                <a:solidFill>
                  <a:srgbClr val="1A1A1A"/>
                </a:solidFill>
                <a:latin typeface="Cambria"/>
              </a:rPr>
              <a:t>Costa Rica  </a:t>
            </a:r>
          </a:p>
          <a:p>
            <a:pPr algn="l">
              <a:lnSpc>
                <a:spcPct val="108000"/>
              </a:lnSpc>
              <a:spcAft>
                <a:spcPts val="0"/>
              </a:spcAft>
            </a:pPr>
            <a:r>
              <a:rPr sz="2500" b="1" i="0">
                <a:solidFill>
                  <a:srgbClr val="2F6CA8"/>
                </a:solidFill>
                <a:latin typeface="Cambria"/>
              </a:rPr>
              <a:t>−1.39</a:t>
            </a:r>
          </a:p>
        </p:txBody>
      </p:sp>
      <p:sp>
        <p:nvSpPr>
          <p:cNvPr id="29" name="TextBox 28"/>
          <p:cNvSpPr txBox="1"/>
          <p:nvPr/>
        </p:nvSpPr>
        <p:spPr>
          <a:xfrm>
            <a:off x="9763505" y="11070422"/>
            <a:ext cx="2855213" cy="384048"/>
          </a:xfrm>
          <a:prstGeom prst="rect">
            <a:avLst/>
          </a:prstGeom>
          <a:noFill/>
        </p:spPr>
        <p:txBody>
          <a:bodyPr wrap="square" lIns="0" rIns="0" tIns="0" bIns="0" anchor="t">
            <a:spAutoFit/>
          </a:bodyPr>
          <a:lstStyle/>
          <a:p>
            <a:pPr algn="l">
              <a:lnSpc>
                <a:spcPct val="108000"/>
              </a:lnSpc>
              <a:spcAft>
                <a:spcPts val="0"/>
              </a:spcAft>
            </a:pPr>
            <a:r>
              <a:rPr sz="2500" b="1" i="0">
                <a:solidFill>
                  <a:srgbClr val="1A1A1A"/>
                </a:solidFill>
                <a:latin typeface="Cambria"/>
              </a:rPr>
              <a:t>South Africa  </a:t>
            </a:r>
          </a:p>
          <a:p>
            <a:pPr algn="l">
              <a:lnSpc>
                <a:spcPct val="108000"/>
              </a:lnSpc>
              <a:spcAft>
                <a:spcPts val="0"/>
              </a:spcAft>
            </a:pPr>
            <a:r>
              <a:rPr sz="2500" b="1" i="0">
                <a:solidFill>
                  <a:srgbClr val="2F6CA8"/>
                </a:solidFill>
                <a:latin typeface="Cambria"/>
              </a:rPr>
              <a:t>−1.38</a:t>
            </a:r>
          </a:p>
        </p:txBody>
      </p:sp>
      <p:pic>
        <p:nvPicPr>
          <p:cNvPr id="30" name="Picture 29" descr="cool-row.jpg"/>
          <p:cNvPicPr>
            <a:picLocks noChangeAspect="1"/>
          </p:cNvPicPr>
          <p:nvPr/>
        </p:nvPicPr>
        <p:blipFill>
          <a:blip r:embed="rId3"/>
          <a:stretch>
            <a:fillRect/>
          </a:stretch>
        </p:blipFill>
        <p:spPr>
          <a:xfrm>
            <a:off x="1005840" y="11491046"/>
            <a:ext cx="11612880" cy="1916770"/>
          </a:xfrm>
          <a:prstGeom prst="rect">
            <a:avLst/>
          </a:prstGeom>
        </p:spPr>
      </p:pic>
      <p:sp>
        <p:nvSpPr>
          <p:cNvPr id="31" name="TextBox 30"/>
          <p:cNvSpPr txBox="1"/>
          <p:nvPr/>
        </p:nvSpPr>
        <p:spPr>
          <a:xfrm>
            <a:off x="13258799" y="6887464"/>
            <a:ext cx="7680960" cy="457200"/>
          </a:xfrm>
          <a:prstGeom prst="rect">
            <a:avLst/>
          </a:prstGeom>
          <a:noFill/>
        </p:spPr>
        <p:txBody>
          <a:bodyPr wrap="square" lIns="0" rIns="0" tIns="0" bIns="0" anchor="t">
            <a:spAutoFit/>
          </a:bodyPr>
          <a:lstStyle/>
          <a:p>
            <a:pPr algn="l">
              <a:lnSpc>
                <a:spcPct val="108000"/>
              </a:lnSpc>
              <a:spcAft>
                <a:spcPts val="0"/>
              </a:spcAft>
            </a:pPr>
            <a:r>
              <a:rPr sz="2800" b="1" i="0">
                <a:solidFill>
                  <a:srgbClr val="1A1A1A"/>
                </a:solidFill>
                <a:latin typeface="Cambria"/>
              </a:rPr>
              <a:t>The question</a:t>
            </a:r>
          </a:p>
        </p:txBody>
      </p:sp>
      <p:sp>
        <p:nvSpPr>
          <p:cNvPr id="32" name="TextBox 31"/>
          <p:cNvSpPr txBox="1"/>
          <p:nvPr/>
        </p:nvSpPr>
        <p:spPr>
          <a:xfrm>
            <a:off x="13258799" y="7436103"/>
            <a:ext cx="7680960" cy="1584960"/>
          </a:xfrm>
          <a:prstGeom prst="rect">
            <a:avLst/>
          </a:prstGeom>
          <a:noFill/>
        </p:spPr>
        <p:txBody>
          <a:bodyPr wrap="square" lIns="0" rIns="0" tIns="0" bIns="0" anchor="t">
            <a:spAutoFit/>
          </a:bodyPr>
          <a:lstStyle/>
          <a:p>
            <a:pPr algn="l">
              <a:lnSpc>
                <a:spcPct val="130000"/>
              </a:lnSpc>
              <a:spcAft>
                <a:spcPts val="0"/>
              </a:spcAft>
            </a:pPr>
            <a:r>
              <a:rPr sz="2400" b="0" i="0">
                <a:solidFill>
                  <a:srgbClr val="1A1A1A"/>
                </a:solidFill>
                <a:latin typeface="Calibri"/>
              </a:rPr>
              <a:t>Film colours places: a sepia wash over Mexico, dust and amber for “somewhere dangerous.” A model trained on those pictures may have learned the habit. Does it warm the countries that are poorer?</a:t>
            </a:r>
          </a:p>
        </p:txBody>
      </p:sp>
      <p:sp>
        <p:nvSpPr>
          <p:cNvPr id="33" name="TextBox 32"/>
          <p:cNvSpPr txBox="1"/>
          <p:nvPr/>
        </p:nvSpPr>
        <p:spPr>
          <a:xfrm>
            <a:off x="13258799" y="9523984"/>
            <a:ext cx="7680960" cy="420624"/>
          </a:xfrm>
          <a:prstGeom prst="rect">
            <a:avLst/>
          </a:prstGeom>
          <a:noFill/>
        </p:spPr>
        <p:txBody>
          <a:bodyPr wrap="square" lIns="0" rIns="0" tIns="0" bIns="0" anchor="t">
            <a:spAutoFit/>
          </a:bodyPr>
          <a:lstStyle/>
          <a:p>
            <a:pPr algn="l">
              <a:lnSpc>
                <a:spcPct val="108000"/>
              </a:lnSpc>
              <a:spcAft>
                <a:spcPts val="0"/>
              </a:spcAft>
            </a:pPr>
            <a:r>
              <a:rPr sz="2800" b="1" i="0">
                <a:solidFill>
                  <a:srgbClr val="1A1A1A"/>
                </a:solidFill>
                <a:latin typeface="Cambria"/>
              </a:rPr>
              <a:t>What you are looking at</a:t>
            </a:r>
          </a:p>
        </p:txBody>
      </p:sp>
      <p:sp>
        <p:nvSpPr>
          <p:cNvPr id="34" name="TextBox 33"/>
          <p:cNvSpPr txBox="1"/>
          <p:nvPr/>
        </p:nvSpPr>
        <p:spPr>
          <a:xfrm>
            <a:off x="13258799" y="10036048"/>
            <a:ext cx="7680960" cy="1386840"/>
          </a:xfrm>
          <a:prstGeom prst="rect">
            <a:avLst/>
          </a:prstGeom>
          <a:noFill/>
        </p:spPr>
        <p:txBody>
          <a:bodyPr wrap="square" lIns="0" rIns="0" tIns="0" bIns="0" anchor="t">
            <a:spAutoFit/>
          </a:bodyPr>
          <a:lstStyle/>
          <a:p>
            <a:pPr algn="l">
              <a:lnSpc>
                <a:spcPct val="130000"/>
              </a:lnSpc>
              <a:spcAft>
                <a:spcPts val="0"/>
              </a:spcAft>
            </a:pPr>
            <a:r>
              <a:rPr sz="2100" b="0" i="0">
                <a:solidFill>
                  <a:srgbClr val="5F6670"/>
                </a:solidFill>
                <a:latin typeface="Calibri"/>
              </a:rPr>
              <a:t>Image 1 of every prompt uses the same seed, so all eight start from identical noise and the street recedes the same way. Only the country in the sentence differs. Figures are standard deviations from the average country.</a:t>
            </a:r>
          </a:p>
        </p:txBody>
      </p:sp>
      <p:sp>
        <p:nvSpPr>
          <p:cNvPr id="35" name="TextBox 34"/>
          <p:cNvSpPr txBox="1"/>
          <p:nvPr/>
        </p:nvSpPr>
        <p:spPr>
          <a:xfrm>
            <a:off x="1005840" y="13865017"/>
            <a:ext cx="11612880" cy="1386840"/>
          </a:xfrm>
          <a:prstGeom prst="rect">
            <a:avLst/>
          </a:prstGeom>
          <a:noFill/>
        </p:spPr>
        <p:txBody>
          <a:bodyPr wrap="square" lIns="0" rIns="0" tIns="0" bIns="0" anchor="t">
            <a:spAutoFit/>
          </a:bodyPr>
          <a:lstStyle/>
          <a:p>
            <a:pPr algn="l">
              <a:lnSpc>
                <a:spcPct val="108000"/>
              </a:lnSpc>
              <a:spcAft>
                <a:spcPts val="0"/>
              </a:spcAft>
            </a:pPr>
            <a:r>
              <a:rPr sz="4200" b="1" i="0">
                <a:solidFill>
                  <a:srgbClr val="1A1A1A"/>
                </a:solidFill>
                <a:latin typeface="Cambria"/>
              </a:rPr>
              <a:t>How the model colours each of the 60 countries</a:t>
            </a:r>
          </a:p>
        </p:txBody>
      </p:sp>
      <p:sp>
        <p:nvSpPr>
          <p:cNvPr id="36" name="TextBox 35"/>
          <p:cNvSpPr txBox="1"/>
          <p:nvPr/>
        </p:nvSpPr>
        <p:spPr>
          <a:xfrm>
            <a:off x="13258799" y="13919881"/>
            <a:ext cx="7680960" cy="693420"/>
          </a:xfrm>
          <a:prstGeom prst="rect">
            <a:avLst/>
          </a:prstGeom>
          <a:noFill/>
        </p:spPr>
        <p:txBody>
          <a:bodyPr wrap="square" lIns="0" rIns="0" tIns="0" bIns="0" anchor="t">
            <a:spAutoFit/>
          </a:bodyPr>
          <a:lstStyle/>
          <a:p>
            <a:pPr algn="l">
              <a:lnSpc>
                <a:spcPct val="130000"/>
              </a:lnSpc>
              <a:spcAft>
                <a:spcPts val="0"/>
              </a:spcAft>
            </a:pPr>
            <a:r>
              <a:rPr sz="2100" b="0" i="0">
                <a:solidFill>
                  <a:srgbClr val="5F6670"/>
                </a:solidFill>
                <a:latin typeface="Calibri"/>
              </a:rPr>
              <a:t>Amber: warmer than the average country. Blue: cooler. Grey: the middle of the pack. Pale: not in this run.</a:t>
            </a:r>
          </a:p>
        </p:txBody>
      </p:sp>
      <p:sp>
        <p:nvSpPr>
          <p:cNvPr id="37" name="TextBox 36"/>
          <p:cNvSpPr txBox="1"/>
          <p:nvPr/>
        </p:nvSpPr>
        <p:spPr>
          <a:xfrm>
            <a:off x="13258799" y="15015637"/>
            <a:ext cx="7680960" cy="457200"/>
          </a:xfrm>
          <a:prstGeom prst="rect">
            <a:avLst/>
          </a:prstGeom>
          <a:noFill/>
        </p:spPr>
        <p:txBody>
          <a:bodyPr wrap="square" lIns="0" rIns="0" tIns="0" bIns="0" anchor="t">
            <a:spAutoFit/>
          </a:bodyPr>
          <a:lstStyle/>
          <a:p>
            <a:pPr algn="l">
              <a:lnSpc>
                <a:spcPct val="108000"/>
              </a:lnSpc>
              <a:spcAft>
                <a:spcPts val="0"/>
              </a:spcAft>
            </a:pPr>
            <a:r>
              <a:rPr sz="2800" b="1" i="0">
                <a:solidFill>
                  <a:srgbClr val="1A1A1A"/>
                </a:solidFill>
                <a:latin typeface="Cambria"/>
              </a:rPr>
              <a:t>How it was measured</a:t>
            </a:r>
          </a:p>
        </p:txBody>
      </p:sp>
      <p:sp>
        <p:nvSpPr>
          <p:cNvPr id="38" name="TextBox 37"/>
          <p:cNvSpPr txBox="1"/>
          <p:nvPr/>
        </p:nvSpPr>
        <p:spPr>
          <a:xfrm>
            <a:off x="13258799" y="15591709"/>
            <a:ext cx="182880" cy="274320"/>
          </a:xfrm>
          <a:prstGeom prst="rect">
            <a:avLst/>
          </a:prstGeom>
          <a:noFill/>
        </p:spPr>
        <p:txBody>
          <a:bodyPr wrap="square" lIns="0" rIns="0" tIns="0" bIns="0" anchor="t">
            <a:spAutoFit/>
          </a:bodyPr>
          <a:lstStyle/>
          <a:p>
            <a:pPr algn="l">
              <a:lnSpc>
                <a:spcPct val="108000"/>
              </a:lnSpc>
              <a:spcAft>
                <a:spcPts val="0"/>
              </a:spcAft>
            </a:pPr>
            <a:r>
              <a:rPr sz="2100" b="1" i="0">
                <a:solidFill>
                  <a:srgbClr val="B07C1F"/>
                </a:solidFill>
                <a:latin typeface="Calibri"/>
              </a:rPr>
              <a:t>•</a:t>
            </a:r>
          </a:p>
        </p:txBody>
      </p:sp>
      <p:sp>
        <p:nvSpPr>
          <p:cNvPr id="39" name="TextBox 38"/>
          <p:cNvSpPr txBox="1"/>
          <p:nvPr/>
        </p:nvSpPr>
        <p:spPr>
          <a:xfrm>
            <a:off x="13533119" y="15564277"/>
            <a:ext cx="7406640" cy="75945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“A photograph of {place} in {country}, {view}.” One camera per kind of place.</a:t>
            </a:r>
          </a:p>
        </p:txBody>
      </p:sp>
      <p:sp>
        <p:nvSpPr>
          <p:cNvPr id="40" name="TextBox 39"/>
          <p:cNvSpPr txBox="1"/>
          <p:nvPr/>
        </p:nvSpPr>
        <p:spPr>
          <a:xfrm>
            <a:off x="13258799" y="16497473"/>
            <a:ext cx="182880" cy="274320"/>
          </a:xfrm>
          <a:prstGeom prst="rect">
            <a:avLst/>
          </a:prstGeom>
          <a:noFill/>
        </p:spPr>
        <p:txBody>
          <a:bodyPr wrap="square" lIns="0" rIns="0" tIns="0" bIns="0" anchor="t">
            <a:spAutoFit/>
          </a:bodyPr>
          <a:lstStyle/>
          <a:p>
            <a:pPr algn="l">
              <a:lnSpc>
                <a:spcPct val="108000"/>
              </a:lnSpc>
              <a:spcAft>
                <a:spcPts val="0"/>
              </a:spcAft>
            </a:pPr>
            <a:r>
              <a:rPr sz="2100" b="1" i="0">
                <a:solidFill>
                  <a:srgbClr val="B07C1F"/>
                </a:solidFill>
                <a:latin typeface="Calibri"/>
              </a:rPr>
              <a:t>•</a:t>
            </a:r>
          </a:p>
        </p:txBody>
      </p:sp>
      <p:sp>
        <p:nvSpPr>
          <p:cNvPr id="41" name="TextBox 40"/>
          <p:cNvSpPr txBox="1"/>
          <p:nvPr/>
        </p:nvSpPr>
        <p:spPr>
          <a:xfrm>
            <a:off x="13533119" y="16470041"/>
            <a:ext cx="7406640" cy="75945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Run twice: free, and again pinned to noon under a clear sky. The pin names no colour.</a:t>
            </a:r>
          </a:p>
        </p:txBody>
      </p:sp>
      <p:sp>
        <p:nvSpPr>
          <p:cNvPr id="42" name="TextBox 41"/>
          <p:cNvSpPr txBox="1"/>
          <p:nvPr/>
        </p:nvSpPr>
        <p:spPr>
          <a:xfrm>
            <a:off x="13258799" y="17403237"/>
            <a:ext cx="182880" cy="274320"/>
          </a:xfrm>
          <a:prstGeom prst="rect">
            <a:avLst/>
          </a:prstGeom>
          <a:noFill/>
        </p:spPr>
        <p:txBody>
          <a:bodyPr wrap="square" lIns="0" rIns="0" tIns="0" bIns="0" anchor="t">
            <a:spAutoFit/>
          </a:bodyPr>
          <a:lstStyle/>
          <a:p>
            <a:pPr algn="l">
              <a:lnSpc>
                <a:spcPct val="108000"/>
              </a:lnSpc>
              <a:spcAft>
                <a:spcPts val="0"/>
              </a:spcAft>
            </a:pPr>
            <a:r>
              <a:rPr sz="2100" b="1" i="0">
                <a:solidFill>
                  <a:srgbClr val="B07C1F"/>
                </a:solidFill>
                <a:latin typeface="Calibri"/>
              </a:rPr>
              <a:t>•</a:t>
            </a:r>
          </a:p>
        </p:txBody>
      </p:sp>
      <p:sp>
        <p:nvSpPr>
          <p:cNvPr id="43" name="TextBox 42"/>
          <p:cNvSpPr txBox="1"/>
          <p:nvPr/>
        </p:nvSpPr>
        <p:spPr>
          <a:xfrm>
            <a:off x="13533119" y="17375805"/>
            <a:ext cx="7406640" cy="75945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The same places with no country named, giving the model's own default to measure from.</a:t>
            </a:r>
          </a:p>
        </p:txBody>
      </p:sp>
      <p:sp>
        <p:nvSpPr>
          <p:cNvPr id="44" name="TextBox 43"/>
          <p:cNvSpPr txBox="1"/>
          <p:nvPr/>
        </p:nvSpPr>
        <p:spPr>
          <a:xfrm>
            <a:off x="13258799" y="18309001"/>
            <a:ext cx="182880" cy="274320"/>
          </a:xfrm>
          <a:prstGeom prst="rect">
            <a:avLst/>
          </a:prstGeom>
          <a:noFill/>
        </p:spPr>
        <p:txBody>
          <a:bodyPr wrap="square" lIns="0" rIns="0" tIns="0" bIns="0" anchor="t">
            <a:spAutoFit/>
          </a:bodyPr>
          <a:lstStyle/>
          <a:p>
            <a:pPr algn="l">
              <a:lnSpc>
                <a:spcPct val="108000"/>
              </a:lnSpc>
              <a:spcAft>
                <a:spcPts val="0"/>
              </a:spcAft>
            </a:pPr>
            <a:r>
              <a:rPr sz="2100" b="1" i="0">
                <a:solidFill>
                  <a:srgbClr val="B07C1F"/>
                </a:solidFill>
                <a:latin typeface="Calibri"/>
              </a:rPr>
              <a:t>•</a:t>
            </a:r>
          </a:p>
        </p:txBody>
      </p:sp>
      <p:sp>
        <p:nvSpPr>
          <p:cNvPr id="45" name="TextBox 44"/>
          <p:cNvSpPr txBox="1"/>
          <p:nvPr/>
        </p:nvSpPr>
        <p:spPr>
          <a:xfrm>
            <a:off x="13533119" y="18281569"/>
            <a:ext cx="7406640" cy="1139190"/>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60 countries, 15 per income group, chosen so income and latitude pull apart (ρ = 0.25 here against 0.49 worldwide).</a:t>
            </a:r>
          </a:p>
        </p:txBody>
      </p:sp>
      <p:sp>
        <p:nvSpPr>
          <p:cNvPr id="46" name="TextBox 45"/>
          <p:cNvSpPr txBox="1"/>
          <p:nvPr/>
        </p:nvSpPr>
        <p:spPr>
          <a:xfrm>
            <a:off x="13258799" y="19594495"/>
            <a:ext cx="182880" cy="274320"/>
          </a:xfrm>
          <a:prstGeom prst="rect">
            <a:avLst/>
          </a:prstGeom>
          <a:noFill/>
        </p:spPr>
        <p:txBody>
          <a:bodyPr wrap="square" lIns="0" rIns="0" tIns="0" bIns="0" anchor="t">
            <a:spAutoFit/>
          </a:bodyPr>
          <a:lstStyle/>
          <a:p>
            <a:pPr algn="l">
              <a:lnSpc>
                <a:spcPct val="108000"/>
              </a:lnSpc>
              <a:spcAft>
                <a:spcPts val="0"/>
              </a:spcAft>
            </a:pPr>
            <a:r>
              <a:rPr sz="2100" b="1" i="0">
                <a:solidFill>
                  <a:srgbClr val="B07C1F"/>
                </a:solidFill>
                <a:latin typeface="Calibri"/>
              </a:rPr>
              <a:t>•</a:t>
            </a:r>
          </a:p>
        </p:txBody>
      </p:sp>
      <p:sp>
        <p:nvSpPr>
          <p:cNvPr id="47" name="TextBox 46"/>
          <p:cNvSpPr txBox="1"/>
          <p:nvPr/>
        </p:nvSpPr>
        <p:spPr>
          <a:xfrm>
            <a:off x="13533119" y="19567063"/>
            <a:ext cx="7406640" cy="75945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84 images per prompt, sized from a 3,300-image pilot's measured noise.</a:t>
            </a:r>
          </a:p>
        </p:txBody>
      </p:sp>
      <p:sp>
        <p:nvSpPr>
          <p:cNvPr id="48" name="TextBox 47"/>
          <p:cNvSpPr txBox="1"/>
          <p:nvPr/>
        </p:nvSpPr>
        <p:spPr>
          <a:xfrm>
            <a:off x="13258799" y="20500259"/>
            <a:ext cx="182880" cy="274320"/>
          </a:xfrm>
          <a:prstGeom prst="rect">
            <a:avLst/>
          </a:prstGeom>
          <a:noFill/>
        </p:spPr>
        <p:txBody>
          <a:bodyPr wrap="square" lIns="0" rIns="0" tIns="0" bIns="0" anchor="t">
            <a:spAutoFit/>
          </a:bodyPr>
          <a:lstStyle/>
          <a:p>
            <a:pPr algn="l">
              <a:lnSpc>
                <a:spcPct val="108000"/>
              </a:lnSpc>
              <a:spcAft>
                <a:spcPts val="0"/>
              </a:spcAft>
            </a:pPr>
            <a:r>
              <a:rPr sz="2100" b="1" i="0">
                <a:solidFill>
                  <a:srgbClr val="B07C1F"/>
                </a:solidFill>
                <a:latin typeface="Calibri"/>
              </a:rPr>
              <a:t>•</a:t>
            </a:r>
          </a:p>
        </p:txBody>
      </p:sp>
      <p:sp>
        <p:nvSpPr>
          <p:cNvPr id="49" name="TextBox 48"/>
          <p:cNvSpPr txBox="1"/>
          <p:nvPr/>
        </p:nvSpPr>
        <p:spPr>
          <a:xfrm>
            <a:off x="13533119" y="20472827"/>
            <a:ext cx="7406640" cy="75945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flux-schnell on Replicate, one pinned version, 1024×1024, every seed recorded.</a:t>
            </a:r>
          </a:p>
        </p:txBody>
      </p:sp>
      <p:pic>
        <p:nvPicPr>
          <p:cNvPr id="50" name="Picture 49" descr="world-map.png"/>
          <p:cNvPicPr>
            <a:picLocks noChangeAspect="1"/>
          </p:cNvPicPr>
          <p:nvPr/>
        </p:nvPicPr>
        <p:blipFill>
          <a:blip r:embed="rId4"/>
          <a:stretch>
            <a:fillRect/>
          </a:stretch>
        </p:blipFill>
        <p:spPr>
          <a:xfrm>
            <a:off x="1005840" y="15416449"/>
            <a:ext cx="11612880" cy="4914183"/>
          </a:xfrm>
          <a:prstGeom prst="rect">
            <a:avLst/>
          </a:prstGeom>
        </p:spPr>
      </p:pic>
      <p:sp>
        <p:nvSpPr>
          <p:cNvPr id="51" name="TextBox 50"/>
          <p:cNvSpPr txBox="1"/>
          <p:nvPr/>
        </p:nvSpPr>
        <p:spPr>
          <a:xfrm>
            <a:off x="1005840" y="21835791"/>
            <a:ext cx="9555480" cy="693420"/>
          </a:xfrm>
          <a:prstGeom prst="rect">
            <a:avLst/>
          </a:prstGeom>
          <a:noFill/>
        </p:spPr>
        <p:txBody>
          <a:bodyPr wrap="square" lIns="0" rIns="0" tIns="0" bIns="0" anchor="t">
            <a:spAutoFit/>
          </a:bodyPr>
          <a:lstStyle/>
          <a:p>
            <a:pPr algn="l">
              <a:lnSpc>
                <a:spcPct val="108000"/>
              </a:lnSpc>
              <a:spcAft>
                <a:spcPts val="0"/>
              </a:spcAft>
            </a:pPr>
            <a:r>
              <a:rPr sz="4200" b="1" i="0">
                <a:solidFill>
                  <a:srgbClr val="1A1A1A"/>
                </a:solidFill>
                <a:latin typeface="Cambria"/>
              </a:rPr>
              <a:t>What predicts the warmth</a:t>
            </a:r>
          </a:p>
        </p:txBody>
      </p:sp>
      <p:graphicFrame>
        <p:nvGraphicFramePr>
          <p:cNvPr id="52" name="Table 51"/>
          <p:cNvGraphicFramePr>
            <a:graphicFrameLocks noGrp="1"/>
          </p:cNvGraphicFramePr>
          <p:nvPr/>
        </p:nvGraphicFramePr>
        <p:xfrm>
          <a:off x="1005840" y="22693803"/>
          <a:ext cx="9555478" cy="3383280"/>
        </p:xfrm>
        <a:graphic>
          <a:graphicData uri="http://schemas.openxmlformats.org/drawingml/2006/table">
            <a:tbl>
              <a:tblPr firstRow="1" bandRow="1">
                <a:tableStyleId>{5C22544A-7EE6-4342-B048-85BDC9FD1C3A}</a:tableStyleId>
              </a:tblPr>
              <a:tblGrid>
                <a:gridCol w="2866644"/>
                <a:gridCol w="1051102"/>
                <a:gridCol w="2006650"/>
                <a:gridCol w="1815541"/>
                <a:gridCol w="1815541"/>
              </a:tblGrid>
              <a:tr h="530352">
                <a:tc>
                  <a:txBody>
                    <a:bodyPr/>
                    <a:lstStyle/>
                    <a:p>
                      <a:pPr algn="l"/>
                      <a:r>
                        <a:rPr sz="1500" b="1">
                          <a:solidFill>
                            <a:srgbClr val="5F6670"/>
                          </a:solidFill>
                          <a:latin typeface="Calibri"/>
                        </a:rPr>
                        <a:t>held constant</a:t>
                      </a:r>
                    </a:p>
                  </a:txBody>
                  <a:tcPr marL="91440" marR="91440" marT="27432" marB="27432" anchor="ctr">
                    <a:solidFill>
                      <a:srgbClr val="F4F6F8"/>
                    </a:solidFill>
                  </a:tcPr>
                </a:tc>
                <a:tc>
                  <a:txBody>
                    <a:bodyPr/>
                    <a:lstStyle/>
                    <a:p>
                      <a:pPr algn="r"/>
                      <a:r>
                        <a:rPr sz="1500" b="1">
                          <a:solidFill>
                            <a:srgbClr val="5F6670"/>
                          </a:solidFill>
                          <a:latin typeface="Calibri"/>
                        </a:rPr>
                        <a:t>r²</a:t>
                      </a:r>
                    </a:p>
                  </a:txBody>
                  <a:tcPr marL="91440" marR="91440" marT="27432" marB="27432" anchor="ctr">
                    <a:solidFill>
                      <a:srgbClr val="F4F6F8"/>
                    </a:solidFill>
                  </a:tcPr>
                </a:tc>
                <a:tc>
                  <a:txBody>
                    <a:bodyPr/>
                    <a:lstStyle/>
                    <a:p>
                      <a:pPr algn="r"/>
                      <a:r>
                        <a:rPr sz="1500" b="1">
                          <a:solidFill>
                            <a:srgbClr val="5F6670"/>
                          </a:solidFill>
                          <a:latin typeface="Calibri"/>
                        </a:rPr>
                        <a:t>low income</a:t>
                      </a:r>
                    </a:p>
                  </a:txBody>
                  <a:tcPr marL="91440" marR="91440" marT="27432" marB="27432" anchor="ctr">
                    <a:solidFill>
                      <a:srgbClr val="F4F6F8"/>
                    </a:solidFill>
                  </a:tcPr>
                </a:tc>
                <a:tc>
                  <a:txBody>
                    <a:bodyPr/>
                    <a:lstStyle/>
                    <a:p>
                      <a:pPr algn="r"/>
                      <a:r>
                        <a:rPr sz="1500" b="1">
                          <a:solidFill>
                            <a:srgbClr val="5F6670"/>
                          </a:solidFill>
                          <a:latin typeface="Calibri"/>
                        </a:rPr>
                        <a:t>Africa</a:t>
                      </a:r>
                    </a:p>
                  </a:txBody>
                  <a:tcPr marL="91440" marR="91440" marT="27432" marB="27432" anchor="ctr">
                    <a:solidFill>
                      <a:srgbClr val="F4F6F8"/>
                    </a:solidFill>
                  </a:tcPr>
                </a:tc>
                <a:tc>
                  <a:txBody>
                    <a:bodyPr/>
                    <a:lstStyle/>
                    <a:p>
                      <a:pPr algn="r"/>
                      <a:r>
                        <a:rPr sz="1500" b="1">
                          <a:solidFill>
                            <a:srgbClr val="5F6670"/>
                          </a:solidFill>
                          <a:latin typeface="Calibri"/>
                        </a:rPr>
                        <a:t>Asia</a:t>
                      </a:r>
                    </a:p>
                  </a:txBody>
                  <a:tcPr marL="91440" marR="91440" marT="27432" marB="27432" anchor="ctr">
                    <a:solidFill>
                      <a:srgbClr val="F4F6F8"/>
                    </a:solidFill>
                  </a:tcPr>
                </a:tc>
              </a:tr>
              <a:tr h="475488">
                <a:tc>
                  <a:txBody>
                    <a:bodyPr/>
                    <a:lstStyle/>
                    <a:p>
                      <a:pPr algn="l"/>
                      <a:r>
                        <a:rPr sz="1600" b="0">
                          <a:solidFill>
                            <a:srgbClr val="1A1A1A"/>
                          </a:solidFill>
                          <a:latin typeface="Calibri"/>
                        </a:rPr>
                        <a:t>nothing</a:t>
                      </a:r>
                    </a:p>
                  </a:txBody>
                  <a:tcPr marL="91440" marR="91440" marT="27432" marB="27432" anchor="ctr">
                    <a:solidFill>
                      <a:srgbClr val="FFFFFF"/>
                    </a:solidFill>
                  </a:tcPr>
                </a:tc>
                <a:tc>
                  <a:txBody>
                    <a:bodyPr/>
                    <a:lstStyle/>
                    <a:p>
                      <a:pPr algn="r"/>
                      <a:r>
                        <a:rPr sz="1600" b="0">
                          <a:solidFill>
                            <a:srgbClr val="1A1A1A"/>
                          </a:solidFill>
                          <a:latin typeface="Calibri"/>
                        </a:rPr>
                        <a:t>—</a:t>
                      </a:r>
                    </a:p>
                  </a:txBody>
                  <a:tcPr marL="91440" marR="91440" marT="27432" marB="27432" anchor="ctr">
                    <a:solidFill>
                      <a:srgbClr val="FFFFFF"/>
                    </a:solidFill>
                  </a:tcPr>
                </a:tc>
                <a:tc>
                  <a:txBody>
                    <a:bodyPr/>
                    <a:lstStyle/>
                    <a:p>
                      <a:pPr algn="r"/>
                      <a:r>
                        <a:rPr sz="1600" b="0">
                          <a:solidFill>
                            <a:srgbClr val="1A1A1A"/>
                          </a:solidFill>
                          <a:latin typeface="Calibri"/>
                        </a:rPr>
                        <a:t>+0.72 (.018)</a:t>
                      </a:r>
                    </a:p>
                  </a:txBody>
                  <a:tcPr marL="91440" marR="91440" marT="27432" marB="27432" anchor="ctr">
                    <a:solidFill>
                      <a:srgbClr val="FFFFFF"/>
                    </a:solidFill>
                  </a:tcPr>
                </a:tc>
                <a:tc>
                  <a:txBody>
                    <a:bodyPr/>
                    <a:lstStyle/>
                    <a:p>
                      <a:pPr algn="r"/>
                      <a:r>
                        <a:rPr sz="1600" b="0">
                          <a:solidFill>
                            <a:srgbClr val="1A1A1A"/>
                          </a:solidFill>
                          <a:latin typeface="Calibri"/>
                        </a:rPr>
                        <a:t>+0.62 (.030)</a:t>
                      </a:r>
                    </a:p>
                  </a:txBody>
                  <a:tcPr marL="91440" marR="91440" marT="27432" marB="27432" anchor="ctr">
                    <a:solidFill>
                      <a:srgbClr val="FFFFFF"/>
                    </a:solidFill>
                  </a:tcPr>
                </a:tc>
                <a:tc>
                  <a:txBody>
                    <a:bodyPr/>
                    <a:lstStyle/>
                    <a:p>
                      <a:pPr algn="r"/>
                      <a:r>
                        <a:rPr sz="1600" b="0">
                          <a:solidFill>
                            <a:srgbClr val="1A1A1A"/>
                          </a:solidFill>
                          <a:latin typeface="Calibri"/>
                        </a:rPr>
                        <a:t>+0.60 (.026)</a:t>
                      </a:r>
                    </a:p>
                  </a:txBody>
                  <a:tcPr marL="91440" marR="91440" marT="27432" marB="27432" anchor="ctr">
                    <a:solidFill>
                      <a:srgbClr val="FFFFFF"/>
                    </a:solidFill>
                  </a:tcPr>
                </a:tc>
              </a:tr>
              <a:tr h="475488">
                <a:tc>
                  <a:txBody>
                    <a:bodyPr/>
                    <a:lstStyle/>
                    <a:p>
                      <a:pPr algn="l"/>
                      <a:r>
                        <a:rPr sz="1600" b="0">
                          <a:solidFill>
                            <a:srgbClr val="1A1A1A"/>
                          </a:solidFill>
                          <a:latin typeface="Calibri"/>
                        </a:rPr>
                        <a:t>|latitude|</a:t>
                      </a:r>
                    </a:p>
                  </a:txBody>
                  <a:tcPr marL="91440" marR="91440" marT="27432" marB="27432" anchor="ctr">
                    <a:solidFill>
                      <a:srgbClr val="F4F6F8"/>
                    </a:solidFill>
                  </a:tcPr>
                </a:tc>
                <a:tc>
                  <a:txBody>
                    <a:bodyPr/>
                    <a:lstStyle/>
                    <a:p>
                      <a:pPr algn="r"/>
                      <a:r>
                        <a:rPr sz="1600" b="0">
                          <a:solidFill>
                            <a:srgbClr val="1A1A1A"/>
                          </a:solidFill>
                          <a:latin typeface="Calibri"/>
                        </a:rPr>
                        <a:t>5%</a:t>
                      </a:r>
                    </a:p>
                  </a:txBody>
                  <a:tcPr marL="91440" marR="91440" marT="27432" marB="27432" anchor="ctr">
                    <a:solidFill>
                      <a:srgbClr val="F4F6F8"/>
                    </a:solidFill>
                  </a:tcPr>
                </a:tc>
                <a:tc>
                  <a:txBody>
                    <a:bodyPr/>
                    <a:lstStyle/>
                    <a:p>
                      <a:pPr algn="r"/>
                      <a:r>
                        <a:rPr sz="1600" b="0">
                          <a:solidFill>
                            <a:srgbClr val="1A1A1A"/>
                          </a:solidFill>
                          <a:latin typeface="Calibri"/>
                        </a:rPr>
                        <a:t>+0.62 (.041)</a:t>
                      </a:r>
                    </a:p>
                  </a:txBody>
                  <a:tcPr marL="91440" marR="91440" marT="27432" marB="27432" anchor="ctr">
                    <a:solidFill>
                      <a:srgbClr val="F4F6F8"/>
                    </a:solidFill>
                  </a:tcPr>
                </a:tc>
                <a:tc>
                  <a:txBody>
                    <a:bodyPr/>
                    <a:lstStyle/>
                    <a:p>
                      <a:pPr algn="r"/>
                      <a:r>
                        <a:rPr sz="1600" b="0">
                          <a:solidFill>
                            <a:srgbClr val="1A1A1A"/>
                          </a:solidFill>
                          <a:latin typeface="Calibri"/>
                        </a:rPr>
                        <a:t>+0.47 (.097)</a:t>
                      </a:r>
                    </a:p>
                  </a:txBody>
                  <a:tcPr marL="91440" marR="91440" marT="27432" marB="27432" anchor="ctr">
                    <a:solidFill>
                      <a:srgbClr val="F4F6F8"/>
                    </a:solidFill>
                  </a:tcPr>
                </a:tc>
                <a:tc>
                  <a:txBody>
                    <a:bodyPr/>
                    <a:lstStyle/>
                    <a:p>
                      <a:pPr algn="r"/>
                      <a:r>
                        <a:rPr sz="1600" b="0">
                          <a:solidFill>
                            <a:srgbClr val="1A1A1A"/>
                          </a:solidFill>
                          <a:latin typeface="Calibri"/>
                        </a:rPr>
                        <a:t>+0.79 (.005)</a:t>
                      </a:r>
                    </a:p>
                  </a:txBody>
                  <a:tcPr marL="91440" marR="91440" marT="27432" marB="27432" anchor="ctr">
                    <a:solidFill>
                      <a:srgbClr val="F4F6F8"/>
                    </a:solidFill>
                  </a:tcPr>
                </a:tc>
              </a:tr>
              <a:tr h="475488">
                <a:tc>
                  <a:txBody>
                    <a:bodyPr/>
                    <a:lstStyle/>
                    <a:p>
                      <a:pPr algn="l"/>
                      <a:r>
                        <a:rPr sz="1600" b="0">
                          <a:solidFill>
                            <a:srgbClr val="1A1A1A"/>
                          </a:solidFill>
                          <a:latin typeface="Calibri"/>
                        </a:rPr>
                        <a:t>log rainfall</a:t>
                      </a:r>
                    </a:p>
                  </a:txBody>
                  <a:tcPr marL="91440" marR="91440" marT="27432" marB="27432" anchor="ctr">
                    <a:solidFill>
                      <a:srgbClr val="FFFFFF"/>
                    </a:solidFill>
                  </a:tcPr>
                </a:tc>
                <a:tc>
                  <a:txBody>
                    <a:bodyPr/>
                    <a:lstStyle/>
                    <a:p>
                      <a:pPr algn="r"/>
                      <a:r>
                        <a:rPr sz="1600" b="0">
                          <a:solidFill>
                            <a:srgbClr val="1A1A1A"/>
                          </a:solidFill>
                          <a:latin typeface="Calibri"/>
                        </a:rPr>
                        <a:t>18%</a:t>
                      </a:r>
                    </a:p>
                  </a:txBody>
                  <a:tcPr marL="91440" marR="91440" marT="27432" marB="27432" anchor="ctr">
                    <a:solidFill>
                      <a:srgbClr val="FFFFFF"/>
                    </a:solidFill>
                  </a:tcPr>
                </a:tc>
                <a:tc>
                  <a:txBody>
                    <a:bodyPr/>
                    <a:lstStyle/>
                    <a:p>
                      <a:pPr algn="r"/>
                      <a:r>
                        <a:rPr sz="1600" b="0">
                          <a:solidFill>
                            <a:srgbClr val="1A1A1A"/>
                          </a:solidFill>
                          <a:latin typeface="Calibri"/>
                        </a:rPr>
                        <a:t>+0.73 (.017)</a:t>
                      </a:r>
                    </a:p>
                  </a:txBody>
                  <a:tcPr marL="91440" marR="91440" marT="27432" marB="27432" anchor="ctr">
                    <a:solidFill>
                      <a:srgbClr val="FFFFFF"/>
                    </a:solidFill>
                  </a:tcPr>
                </a:tc>
                <a:tc>
                  <a:txBody>
                    <a:bodyPr/>
                    <a:lstStyle/>
                    <a:p>
                      <a:pPr algn="r"/>
                      <a:r>
                        <a:rPr sz="1600" b="0">
                          <a:solidFill>
                            <a:srgbClr val="1A1A1A"/>
                          </a:solidFill>
                          <a:latin typeface="Calibri"/>
                        </a:rPr>
                        <a:t>+0.51 (.073)</a:t>
                      </a:r>
                    </a:p>
                  </a:txBody>
                  <a:tcPr marL="91440" marR="91440" marT="27432" marB="27432" anchor="ctr">
                    <a:solidFill>
                      <a:srgbClr val="FFFFFF"/>
                    </a:solidFill>
                  </a:tcPr>
                </a:tc>
                <a:tc>
                  <a:txBody>
                    <a:bodyPr/>
                    <a:lstStyle/>
                    <a:p>
                      <a:pPr algn="r"/>
                      <a:r>
                        <a:rPr sz="1600" b="0">
                          <a:solidFill>
                            <a:srgbClr val="1A1A1A"/>
                          </a:solidFill>
                          <a:latin typeface="Calibri"/>
                        </a:rPr>
                        <a:t>+0.42 (.114)</a:t>
                      </a:r>
                    </a:p>
                  </a:txBody>
                  <a:tcPr marL="91440" marR="91440" marT="27432" marB="27432" anchor="ctr">
                    <a:solidFill>
                      <a:srgbClr val="FFFFFF"/>
                    </a:solidFill>
                  </a:tcPr>
                </a:tc>
              </a:tr>
              <a:tr h="475488">
                <a:tc>
                  <a:txBody>
                    <a:bodyPr/>
                    <a:lstStyle/>
                    <a:p>
                      <a:pPr algn="l"/>
                      <a:r>
                        <a:rPr sz="1600" b="0">
                          <a:solidFill>
                            <a:srgbClr val="1A1A1A"/>
                          </a:solidFill>
                          <a:latin typeface="Calibri"/>
                        </a:rPr>
                        <a:t>mean temperature</a:t>
                      </a:r>
                    </a:p>
                  </a:txBody>
                  <a:tcPr marL="91440" marR="91440" marT="27432" marB="27432" anchor="ctr">
                    <a:solidFill>
                      <a:srgbClr val="F4F6F8"/>
                    </a:solidFill>
                  </a:tcPr>
                </a:tc>
                <a:tc>
                  <a:txBody>
                    <a:bodyPr/>
                    <a:lstStyle/>
                    <a:p>
                      <a:pPr algn="r"/>
                      <a:r>
                        <a:rPr sz="1600" b="0">
                          <a:solidFill>
                            <a:srgbClr val="1A1A1A"/>
                          </a:solidFill>
                          <a:latin typeface="Calibri"/>
                        </a:rPr>
                        <a:t>25%</a:t>
                      </a:r>
                    </a:p>
                  </a:txBody>
                  <a:tcPr marL="91440" marR="91440" marT="27432" marB="27432" anchor="ctr">
                    <a:solidFill>
                      <a:srgbClr val="F4F6F8"/>
                    </a:solidFill>
                  </a:tcPr>
                </a:tc>
                <a:tc>
                  <a:txBody>
                    <a:bodyPr/>
                    <a:lstStyle/>
                    <a:p>
                      <a:pPr algn="r"/>
                      <a:r>
                        <a:rPr sz="1600" b="0">
                          <a:solidFill>
                            <a:srgbClr val="1A1A1A"/>
                          </a:solidFill>
                          <a:latin typeface="Calibri"/>
                        </a:rPr>
                        <a:t>+0.72 (.018)</a:t>
                      </a:r>
                    </a:p>
                  </a:txBody>
                  <a:tcPr marL="91440" marR="91440" marT="27432" marB="27432" anchor="ctr">
                    <a:solidFill>
                      <a:srgbClr val="F4F6F8"/>
                    </a:solidFill>
                  </a:tcPr>
                </a:tc>
                <a:tc>
                  <a:txBody>
                    <a:bodyPr/>
                    <a:lstStyle/>
                    <a:p>
                      <a:pPr algn="r"/>
                      <a:r>
                        <a:rPr sz="1600" b="0">
                          <a:solidFill>
                            <a:srgbClr val="1A1A1A"/>
                          </a:solidFill>
                          <a:latin typeface="Calibri"/>
                        </a:rPr>
                        <a:t>+0.33 (.228)</a:t>
                      </a:r>
                    </a:p>
                  </a:txBody>
                  <a:tcPr marL="91440" marR="91440" marT="27432" marB="27432" anchor="ctr">
                    <a:solidFill>
                      <a:srgbClr val="F4F6F8"/>
                    </a:solidFill>
                  </a:tcPr>
                </a:tc>
                <a:tc>
                  <a:txBody>
                    <a:bodyPr/>
                    <a:lstStyle/>
                    <a:p>
                      <a:pPr algn="r"/>
                      <a:r>
                        <a:rPr sz="1600" b="0">
                          <a:solidFill>
                            <a:srgbClr val="1A1A1A"/>
                          </a:solidFill>
                          <a:latin typeface="Calibri"/>
                        </a:rPr>
                        <a:t>+0.88 (.003)</a:t>
                      </a:r>
                    </a:p>
                  </a:txBody>
                  <a:tcPr marL="91440" marR="91440" marT="27432" marB="27432" anchor="ctr">
                    <a:solidFill>
                      <a:srgbClr val="F4F6F8"/>
                    </a:solidFill>
                  </a:tcPr>
                </a:tc>
              </a:tr>
              <a:tr h="475488">
                <a:tc>
                  <a:txBody>
                    <a:bodyPr/>
                    <a:lstStyle/>
                    <a:p>
                      <a:pPr algn="l"/>
                      <a:r>
                        <a:rPr sz="1600" b="0">
                          <a:solidFill>
                            <a:srgbClr val="1A1A1A"/>
                          </a:solidFill>
                          <a:latin typeface="Calibri"/>
                        </a:rPr>
                        <a:t>forest cover</a:t>
                      </a:r>
                    </a:p>
                  </a:txBody>
                  <a:tcPr marL="91440" marR="91440" marT="27432" marB="27432" anchor="ctr">
                    <a:solidFill>
                      <a:srgbClr val="FFFFFF"/>
                    </a:solidFill>
                  </a:tcPr>
                </a:tc>
                <a:tc>
                  <a:txBody>
                    <a:bodyPr/>
                    <a:lstStyle/>
                    <a:p>
                      <a:pPr algn="r"/>
                      <a:r>
                        <a:rPr sz="1600" b="0">
                          <a:solidFill>
                            <a:srgbClr val="1A1A1A"/>
                          </a:solidFill>
                          <a:latin typeface="Calibri"/>
                        </a:rPr>
                        <a:t>30%</a:t>
                      </a:r>
                    </a:p>
                  </a:txBody>
                  <a:tcPr marL="91440" marR="91440" marT="27432" marB="27432" anchor="ctr">
                    <a:solidFill>
                      <a:srgbClr val="FFFFFF"/>
                    </a:solidFill>
                  </a:tcPr>
                </a:tc>
                <a:tc>
                  <a:txBody>
                    <a:bodyPr/>
                    <a:lstStyle/>
                    <a:p>
                      <a:pPr algn="r"/>
                      <a:r>
                        <a:rPr sz="1600" b="0">
                          <a:solidFill>
                            <a:srgbClr val="1A1A1A"/>
                          </a:solidFill>
                          <a:latin typeface="Calibri"/>
                        </a:rPr>
                        <a:t>+0.48 (.116)</a:t>
                      </a:r>
                    </a:p>
                  </a:txBody>
                  <a:tcPr marL="91440" marR="91440" marT="27432" marB="27432" anchor="ctr">
                    <a:solidFill>
                      <a:srgbClr val="FFFFFF"/>
                    </a:solidFill>
                  </a:tcPr>
                </a:tc>
                <a:tc>
                  <a:txBody>
                    <a:bodyPr/>
                    <a:lstStyle/>
                    <a:p>
                      <a:pPr algn="r"/>
                      <a:r>
                        <a:rPr sz="1600" b="0">
                          <a:solidFill>
                            <a:srgbClr val="1A1A1A"/>
                          </a:solidFill>
                          <a:latin typeface="Calibri"/>
                        </a:rPr>
                        <a:t>+0.23 (.404)</a:t>
                      </a:r>
                    </a:p>
                  </a:txBody>
                  <a:tcPr marL="91440" marR="91440" marT="27432" marB="27432" anchor="ctr">
                    <a:solidFill>
                      <a:srgbClr val="FFFFFF"/>
                    </a:solidFill>
                  </a:tcPr>
                </a:tc>
                <a:tc>
                  <a:txBody>
                    <a:bodyPr/>
                    <a:lstStyle/>
                    <a:p>
                      <a:pPr algn="r"/>
                      <a:r>
                        <a:rPr sz="1600" b="0">
                          <a:solidFill>
                            <a:srgbClr val="1A1A1A"/>
                          </a:solidFill>
                          <a:latin typeface="Calibri"/>
                        </a:rPr>
                        <a:t>+0.44 (.110)</a:t>
                      </a:r>
                    </a:p>
                  </a:txBody>
                  <a:tcPr marL="91440" marR="91440" marT="27432" marB="27432" anchor="ctr">
                    <a:solidFill>
                      <a:srgbClr val="FFFFFF"/>
                    </a:solidFill>
                  </a:tcPr>
                </a:tc>
              </a:tr>
              <a:tr h="475488">
                <a:tc>
                  <a:txBody>
                    <a:bodyPr/>
                    <a:lstStyle/>
                    <a:p>
                      <a:pPr algn="l"/>
                      <a:r>
                        <a:rPr sz="1600" b="1">
                          <a:solidFill>
                            <a:srgbClr val="1A1A1A"/>
                          </a:solidFill>
                          <a:latin typeface="Calibri"/>
                        </a:rPr>
                        <a:t>all four together</a:t>
                      </a:r>
                    </a:p>
                  </a:txBody>
                  <a:tcPr marL="91440" marR="91440" marT="27432" marB="27432" anchor="ctr">
                    <a:solidFill>
                      <a:srgbClr val="F4F6F8"/>
                    </a:solidFill>
                  </a:tcPr>
                </a:tc>
                <a:tc>
                  <a:txBody>
                    <a:bodyPr/>
                    <a:lstStyle/>
                    <a:p>
                      <a:pPr algn="r"/>
                      <a:r>
                        <a:rPr sz="1600" b="1">
                          <a:solidFill>
                            <a:srgbClr val="1A1A1A"/>
                          </a:solidFill>
                          <a:latin typeface="Calibri"/>
                        </a:rPr>
                        <a:t>46%</a:t>
                      </a:r>
                    </a:p>
                  </a:txBody>
                  <a:tcPr marL="91440" marR="91440" marT="27432" marB="27432" anchor="ctr">
                    <a:solidFill>
                      <a:srgbClr val="F4F6F8"/>
                    </a:solidFill>
                  </a:tcPr>
                </a:tc>
                <a:tc>
                  <a:txBody>
                    <a:bodyPr/>
                    <a:lstStyle/>
                    <a:p>
                      <a:pPr algn="r"/>
                      <a:r>
                        <a:rPr sz="1600" b="1">
                          <a:solidFill>
                            <a:srgbClr val="1A1A1A"/>
                          </a:solidFill>
                          <a:latin typeface="Calibri"/>
                        </a:rPr>
                        <a:t>+0.52 (.091)</a:t>
                      </a:r>
                    </a:p>
                  </a:txBody>
                  <a:tcPr marL="91440" marR="91440" marT="27432" marB="27432" anchor="ctr">
                    <a:solidFill>
                      <a:srgbClr val="F4F6F8"/>
                    </a:solidFill>
                  </a:tcPr>
                </a:tc>
                <a:tc>
                  <a:txBody>
                    <a:bodyPr/>
                    <a:lstStyle/>
                    <a:p>
                      <a:pPr algn="r"/>
                      <a:r>
                        <a:rPr sz="1600" b="1">
                          <a:solidFill>
                            <a:srgbClr val="1A1A1A"/>
                          </a:solidFill>
                          <a:latin typeface="Calibri"/>
                        </a:rPr>
                        <a:t>−0.03 (.919)</a:t>
                      </a:r>
                    </a:p>
                  </a:txBody>
                  <a:tcPr marL="91440" marR="91440" marT="27432" marB="27432" anchor="ctr">
                    <a:solidFill>
                      <a:srgbClr val="F4F6F8"/>
                    </a:solidFill>
                  </a:tcPr>
                </a:tc>
                <a:tc>
                  <a:txBody>
                    <a:bodyPr/>
                    <a:lstStyle/>
                    <a:p>
                      <a:pPr algn="r"/>
                      <a:r>
                        <a:rPr sz="1600" b="1">
                          <a:solidFill>
                            <a:srgbClr val="1A1A1A"/>
                          </a:solidFill>
                          <a:latin typeface="Calibri"/>
                        </a:rPr>
                        <a:t>+0.73 (.011)</a:t>
                      </a:r>
                    </a:p>
                  </a:txBody>
                  <a:tcPr marL="91440" marR="91440" marT="27432" marB="27432" anchor="ctr">
                    <a:solidFill>
                      <a:srgbClr val="F4F6F8"/>
                    </a:solidFill>
                  </a:tcPr>
                </a:tc>
              </a:tr>
            </a:tbl>
          </a:graphicData>
        </a:graphic>
      </p:graphicFrame>
      <p:sp>
        <p:nvSpPr>
          <p:cNvPr id="53" name="TextBox 52"/>
          <p:cNvSpPr txBox="1"/>
          <p:nvPr/>
        </p:nvSpPr>
        <p:spPr>
          <a:xfrm>
            <a:off x="1005840" y="26314827"/>
            <a:ext cx="9555480" cy="693420"/>
          </a:xfrm>
          <a:prstGeom prst="rect">
            <a:avLst/>
          </a:prstGeom>
          <a:noFill/>
        </p:spPr>
        <p:txBody>
          <a:bodyPr wrap="square" lIns="0" rIns="0" tIns="0" bIns="0" anchor="t">
            <a:spAutoFit/>
          </a:bodyPr>
          <a:lstStyle/>
          <a:p>
            <a:pPr algn="l">
              <a:lnSpc>
                <a:spcPct val="128000"/>
              </a:lnSpc>
              <a:spcAft>
                <a:spcPts val="0"/>
              </a:spcAft>
            </a:pPr>
            <a:r>
              <a:rPr sz="2100" b="0" i="0">
                <a:solidFill>
                  <a:srgbClr val="5F6670"/>
                </a:solidFill>
                <a:latin typeface="Calibri"/>
              </a:rPr>
              <a:t>Each row holds a rival explanation constant and asks again. Cohen's d, permutation p in brackets.</a:t>
            </a:r>
          </a:p>
        </p:txBody>
      </p:sp>
      <p:sp>
        <p:nvSpPr>
          <p:cNvPr id="54" name="TextBox 53"/>
          <p:cNvSpPr txBox="1"/>
          <p:nvPr/>
        </p:nvSpPr>
        <p:spPr>
          <a:xfrm>
            <a:off x="11384280" y="21835791"/>
            <a:ext cx="9555480" cy="693420"/>
          </a:xfrm>
          <a:prstGeom prst="rect">
            <a:avLst/>
          </a:prstGeom>
          <a:noFill/>
        </p:spPr>
        <p:txBody>
          <a:bodyPr wrap="square" lIns="0" rIns="0" tIns="0" bIns="0" anchor="t">
            <a:spAutoFit/>
          </a:bodyPr>
          <a:lstStyle/>
          <a:p>
            <a:pPr algn="l">
              <a:lnSpc>
                <a:spcPct val="108000"/>
              </a:lnSpc>
              <a:spcAft>
                <a:spcPts val="0"/>
              </a:spcAft>
            </a:pPr>
            <a:r>
              <a:rPr sz="4200" b="1" i="0">
                <a:solidFill>
                  <a:srgbClr val="1A1A1A"/>
                </a:solidFill>
                <a:latin typeface="Cambria"/>
              </a:rPr>
              <a:t>What it found</a:t>
            </a:r>
          </a:p>
        </p:txBody>
      </p:sp>
      <p:sp>
        <p:nvSpPr>
          <p:cNvPr id="55" name="TextBox 54"/>
          <p:cNvSpPr txBox="1"/>
          <p:nvPr/>
        </p:nvSpPr>
        <p:spPr>
          <a:xfrm>
            <a:off x="11384280" y="22721235"/>
            <a:ext cx="457200" cy="402336"/>
          </a:xfrm>
          <a:prstGeom prst="rect">
            <a:avLst/>
          </a:prstGeom>
          <a:noFill/>
        </p:spPr>
        <p:txBody>
          <a:bodyPr wrap="square" lIns="0" rIns="0" tIns="0" bIns="0" anchor="t">
            <a:spAutoFit/>
          </a:bodyPr>
          <a:lstStyle/>
          <a:p>
            <a:pPr algn="l">
              <a:lnSpc>
                <a:spcPct val="108000"/>
              </a:lnSpc>
              <a:spcAft>
                <a:spcPts val="0"/>
              </a:spcAft>
            </a:pPr>
            <a:r>
              <a:rPr sz="2800" b="1" i="0">
                <a:solidFill>
                  <a:srgbClr val="B07C1F"/>
                </a:solidFill>
                <a:latin typeface="Cambria"/>
              </a:rPr>
              <a:t>1</a:t>
            </a:r>
          </a:p>
        </p:txBody>
      </p:sp>
      <p:sp>
        <p:nvSpPr>
          <p:cNvPr id="56" name="TextBox 55"/>
          <p:cNvSpPr txBox="1"/>
          <p:nvPr/>
        </p:nvSpPr>
        <p:spPr>
          <a:xfrm>
            <a:off x="11932920" y="22693803"/>
            <a:ext cx="9006840" cy="462280"/>
          </a:xfrm>
          <a:prstGeom prst="rect">
            <a:avLst/>
          </a:prstGeom>
          <a:noFill/>
        </p:spPr>
        <p:txBody>
          <a:bodyPr wrap="square" lIns="0" rIns="0" tIns="0" bIns="0" anchor="t">
            <a:spAutoFit/>
          </a:bodyPr>
          <a:lstStyle/>
          <a:p>
            <a:pPr algn="l">
              <a:lnSpc>
                <a:spcPct val="108000"/>
              </a:lnSpc>
              <a:spcAft>
                <a:spcPts val="0"/>
              </a:spcAft>
            </a:pPr>
            <a:r>
              <a:rPr sz="2800" b="1" i="0">
                <a:solidFill>
                  <a:srgbClr val="1A1A1A"/>
                </a:solidFill>
                <a:latin typeface="Cambria"/>
              </a:rPr>
              <a:t>Naming a country warms the picture</a:t>
            </a:r>
          </a:p>
        </p:txBody>
      </p:sp>
      <p:sp>
        <p:nvSpPr>
          <p:cNvPr id="57" name="TextBox 56"/>
          <p:cNvSpPr txBox="1"/>
          <p:nvPr/>
        </p:nvSpPr>
        <p:spPr>
          <a:xfrm>
            <a:off x="11932920" y="23210947"/>
            <a:ext cx="9006840" cy="75945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53 of 60 beat the model's no-country default. Norway alone is cooler.</a:t>
            </a:r>
          </a:p>
        </p:txBody>
      </p:sp>
      <p:sp>
        <p:nvSpPr>
          <p:cNvPr id="58" name="TextBox 57"/>
          <p:cNvSpPr txBox="1"/>
          <p:nvPr/>
        </p:nvSpPr>
        <p:spPr>
          <a:xfrm>
            <a:off x="11384280" y="24253871"/>
            <a:ext cx="457200" cy="402336"/>
          </a:xfrm>
          <a:prstGeom prst="rect">
            <a:avLst/>
          </a:prstGeom>
          <a:noFill/>
        </p:spPr>
        <p:txBody>
          <a:bodyPr wrap="square" lIns="0" rIns="0" tIns="0" bIns="0" anchor="t">
            <a:spAutoFit/>
          </a:bodyPr>
          <a:lstStyle/>
          <a:p>
            <a:pPr algn="l">
              <a:lnSpc>
                <a:spcPct val="108000"/>
              </a:lnSpc>
              <a:spcAft>
                <a:spcPts val="0"/>
              </a:spcAft>
            </a:pPr>
            <a:r>
              <a:rPr sz="2800" b="1" i="0">
                <a:solidFill>
                  <a:srgbClr val="B07C1F"/>
                </a:solidFill>
                <a:latin typeface="Cambria"/>
              </a:rPr>
              <a:t>2</a:t>
            </a:r>
          </a:p>
        </p:txBody>
      </p:sp>
      <p:sp>
        <p:nvSpPr>
          <p:cNvPr id="59" name="TextBox 58"/>
          <p:cNvSpPr txBox="1"/>
          <p:nvPr/>
        </p:nvSpPr>
        <p:spPr>
          <a:xfrm>
            <a:off x="11932920" y="24226439"/>
            <a:ext cx="9006840" cy="462280"/>
          </a:xfrm>
          <a:prstGeom prst="rect">
            <a:avLst/>
          </a:prstGeom>
          <a:noFill/>
        </p:spPr>
        <p:txBody>
          <a:bodyPr wrap="square" lIns="0" rIns="0" tIns="0" bIns="0" anchor="t">
            <a:spAutoFit/>
          </a:bodyPr>
          <a:lstStyle/>
          <a:p>
            <a:pPr algn="l">
              <a:lnSpc>
                <a:spcPct val="108000"/>
              </a:lnSpc>
              <a:spcAft>
                <a:spcPts val="0"/>
              </a:spcAft>
            </a:pPr>
            <a:r>
              <a:rPr sz="2800" b="1" i="0">
                <a:solidFill>
                  <a:srgbClr val="1A1A1A"/>
                </a:solidFill>
                <a:latin typeface="Cambria"/>
              </a:rPr>
              <a:t>Income does not survive the controls</a:t>
            </a:r>
          </a:p>
        </p:txBody>
      </p:sp>
      <p:sp>
        <p:nvSpPr>
          <p:cNvPr id="60" name="TextBox 59"/>
          <p:cNvSpPr txBox="1"/>
          <p:nvPr/>
        </p:nvSpPr>
        <p:spPr>
          <a:xfrm>
            <a:off x="11932920" y="24743583"/>
            <a:ext cx="9006840" cy="75945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d = +0.72 falls to +0.52, no better than chance. Forest cover is what moves it — not heat, not dryness, not latitude.</a:t>
            </a:r>
          </a:p>
        </p:txBody>
      </p:sp>
      <p:sp>
        <p:nvSpPr>
          <p:cNvPr id="61" name="TextBox 60"/>
          <p:cNvSpPr txBox="1"/>
          <p:nvPr/>
        </p:nvSpPr>
        <p:spPr>
          <a:xfrm>
            <a:off x="11384280" y="25786507"/>
            <a:ext cx="457200" cy="402336"/>
          </a:xfrm>
          <a:prstGeom prst="rect">
            <a:avLst/>
          </a:prstGeom>
          <a:noFill/>
        </p:spPr>
        <p:txBody>
          <a:bodyPr wrap="square" lIns="0" rIns="0" tIns="0" bIns="0" anchor="t">
            <a:spAutoFit/>
          </a:bodyPr>
          <a:lstStyle/>
          <a:p>
            <a:pPr algn="l">
              <a:lnSpc>
                <a:spcPct val="108000"/>
              </a:lnSpc>
              <a:spcAft>
                <a:spcPts val="0"/>
              </a:spcAft>
            </a:pPr>
            <a:r>
              <a:rPr sz="2800" b="1" i="0">
                <a:solidFill>
                  <a:srgbClr val="B07C1F"/>
                </a:solidFill>
                <a:latin typeface="Cambria"/>
              </a:rPr>
              <a:t>3</a:t>
            </a:r>
          </a:p>
        </p:txBody>
      </p:sp>
      <p:sp>
        <p:nvSpPr>
          <p:cNvPr id="62" name="TextBox 61"/>
          <p:cNvSpPr txBox="1"/>
          <p:nvPr/>
        </p:nvSpPr>
        <p:spPr>
          <a:xfrm>
            <a:off x="11932920" y="25759075"/>
            <a:ext cx="9006840" cy="462280"/>
          </a:xfrm>
          <a:prstGeom prst="rect">
            <a:avLst/>
          </a:prstGeom>
          <a:noFill/>
        </p:spPr>
        <p:txBody>
          <a:bodyPr wrap="square" lIns="0" rIns="0" tIns="0" bIns="0" anchor="t">
            <a:spAutoFit/>
          </a:bodyPr>
          <a:lstStyle/>
          <a:p>
            <a:pPr algn="l">
              <a:lnSpc>
                <a:spcPct val="108000"/>
              </a:lnSpc>
              <a:spcAft>
                <a:spcPts val="0"/>
              </a:spcAft>
            </a:pPr>
            <a:r>
              <a:rPr sz="2800" b="1" i="0">
                <a:solidFill>
                  <a:srgbClr val="1A1A1A"/>
                </a:solidFill>
                <a:latin typeface="Cambria"/>
              </a:rPr>
              <a:t>Latitude was the wrong confound</a:t>
            </a:r>
          </a:p>
        </p:txBody>
      </p:sp>
      <p:sp>
        <p:nvSpPr>
          <p:cNvPr id="63" name="TextBox 62"/>
          <p:cNvSpPr txBox="1"/>
          <p:nvPr/>
        </p:nvSpPr>
        <p:spPr>
          <a:xfrm>
            <a:off x="11932920" y="26276219"/>
            <a:ext cx="9006840" cy="75945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The country list was built to defeat it. It explains 5%. Forest cover explains 30%.</a:t>
            </a:r>
          </a:p>
        </p:txBody>
      </p:sp>
      <p:sp>
        <p:nvSpPr>
          <p:cNvPr id="64" name="TextBox 63"/>
          <p:cNvSpPr txBox="1"/>
          <p:nvPr/>
        </p:nvSpPr>
        <p:spPr>
          <a:xfrm>
            <a:off x="11384280" y="27319143"/>
            <a:ext cx="457200" cy="402336"/>
          </a:xfrm>
          <a:prstGeom prst="rect">
            <a:avLst/>
          </a:prstGeom>
          <a:noFill/>
        </p:spPr>
        <p:txBody>
          <a:bodyPr wrap="square" lIns="0" rIns="0" tIns="0" bIns="0" anchor="t">
            <a:spAutoFit/>
          </a:bodyPr>
          <a:lstStyle/>
          <a:p>
            <a:pPr algn="l">
              <a:lnSpc>
                <a:spcPct val="108000"/>
              </a:lnSpc>
              <a:spcAft>
                <a:spcPts val="0"/>
              </a:spcAft>
            </a:pPr>
            <a:r>
              <a:rPr sz="2800" b="1" i="0">
                <a:solidFill>
                  <a:srgbClr val="B07C1F"/>
                </a:solidFill>
                <a:latin typeface="Cambria"/>
              </a:rPr>
              <a:t>4</a:t>
            </a:r>
          </a:p>
        </p:txBody>
      </p:sp>
      <p:sp>
        <p:nvSpPr>
          <p:cNvPr id="65" name="TextBox 64"/>
          <p:cNvSpPr txBox="1"/>
          <p:nvPr/>
        </p:nvSpPr>
        <p:spPr>
          <a:xfrm>
            <a:off x="11932920" y="27291711"/>
            <a:ext cx="9006840" cy="462280"/>
          </a:xfrm>
          <a:prstGeom prst="rect">
            <a:avLst/>
          </a:prstGeom>
          <a:noFill/>
        </p:spPr>
        <p:txBody>
          <a:bodyPr wrap="square" lIns="0" rIns="0" tIns="0" bIns="0" anchor="t">
            <a:spAutoFit/>
          </a:bodyPr>
          <a:lstStyle/>
          <a:p>
            <a:pPr algn="l">
              <a:lnSpc>
                <a:spcPct val="108000"/>
              </a:lnSpc>
              <a:spcAft>
                <a:spcPts val="0"/>
              </a:spcAft>
            </a:pPr>
            <a:r>
              <a:rPr sz="2800" b="1" i="0">
                <a:solidFill>
                  <a:srgbClr val="1A1A1A"/>
                </a:solidFill>
                <a:latin typeface="Cambria"/>
              </a:rPr>
              <a:t>Africa's warmth is climate. Asia's is not</a:t>
            </a:r>
          </a:p>
        </p:txBody>
      </p:sp>
      <p:sp>
        <p:nvSpPr>
          <p:cNvPr id="66" name="TextBox 65"/>
          <p:cNvSpPr txBox="1"/>
          <p:nvPr/>
        </p:nvSpPr>
        <p:spPr>
          <a:xfrm>
            <a:off x="11932920" y="27808855"/>
            <a:ext cx="9006840" cy="75945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Africa's gap vanishes (−0.03). Asia's survives everything (+0.73, p = .011) and holds in all six kinds of place.</a:t>
            </a:r>
          </a:p>
        </p:txBody>
      </p:sp>
      <p:sp>
        <p:nvSpPr>
          <p:cNvPr id="67" name="Rectangle 66"/>
          <p:cNvSpPr/>
          <p:nvPr/>
        </p:nvSpPr>
        <p:spPr>
          <a:xfrm>
            <a:off x="1005840" y="29098667"/>
            <a:ext cx="19933920" cy="12801"/>
          </a:xfrm>
          <a:prstGeom prst="rect">
            <a:avLst/>
          </a:prstGeom>
          <a:solidFill>
            <a:srgbClr val="D8D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005840" y="29482715"/>
            <a:ext cx="19933920" cy="512064"/>
          </a:xfrm>
          <a:prstGeom prst="rect">
            <a:avLst/>
          </a:prstGeom>
          <a:noFill/>
        </p:spPr>
        <p:txBody>
          <a:bodyPr wrap="square" lIns="0" rIns="0" tIns="0" bIns="0" anchor="t">
            <a:spAutoFit/>
          </a:bodyPr>
          <a:lstStyle/>
          <a:p>
            <a:pPr algn="l">
              <a:lnSpc>
                <a:spcPct val="108000"/>
              </a:lnSpc>
              <a:spcAft>
                <a:spcPts val="0"/>
              </a:spcAft>
            </a:pPr>
            <a:r>
              <a:rPr sz="4200" b="1" i="0">
                <a:solidFill>
                  <a:srgbClr val="1A1A1A"/>
                </a:solidFill>
                <a:latin typeface="Cambria"/>
              </a:rPr>
              <a:t>What it cannot show</a:t>
            </a:r>
          </a:p>
        </p:txBody>
      </p:sp>
      <p:sp>
        <p:nvSpPr>
          <p:cNvPr id="69" name="TextBox 68"/>
          <p:cNvSpPr txBox="1"/>
          <p:nvPr/>
        </p:nvSpPr>
        <p:spPr>
          <a:xfrm>
            <a:off x="1005840" y="30131939"/>
            <a:ext cx="182880" cy="274320"/>
          </a:xfrm>
          <a:prstGeom prst="rect">
            <a:avLst/>
          </a:prstGeom>
          <a:noFill/>
        </p:spPr>
        <p:txBody>
          <a:bodyPr wrap="square" lIns="0" rIns="0" tIns="0" bIns="0" anchor="t">
            <a:spAutoFit/>
          </a:bodyPr>
          <a:lstStyle/>
          <a:p>
            <a:pPr algn="l">
              <a:lnSpc>
                <a:spcPct val="108000"/>
              </a:lnSpc>
              <a:spcAft>
                <a:spcPts val="0"/>
              </a:spcAft>
            </a:pPr>
            <a:r>
              <a:rPr sz="2100" b="1" i="0">
                <a:solidFill>
                  <a:srgbClr val="B07C1F"/>
                </a:solidFill>
                <a:latin typeface="Calibri"/>
              </a:rPr>
              <a:t>•</a:t>
            </a:r>
          </a:p>
        </p:txBody>
      </p:sp>
      <p:sp>
        <p:nvSpPr>
          <p:cNvPr id="70" name="TextBox 69"/>
          <p:cNvSpPr txBox="1"/>
          <p:nvPr/>
        </p:nvSpPr>
        <p:spPr>
          <a:xfrm>
            <a:off x="1280160" y="30104507"/>
            <a:ext cx="9281160" cy="37972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One model, one prompt template, one language.</a:t>
            </a:r>
          </a:p>
        </p:txBody>
      </p:sp>
      <p:sp>
        <p:nvSpPr>
          <p:cNvPr id="71" name="TextBox 70"/>
          <p:cNvSpPr txBox="1"/>
          <p:nvPr/>
        </p:nvSpPr>
        <p:spPr>
          <a:xfrm>
            <a:off x="1005840" y="30676261"/>
            <a:ext cx="182880" cy="274320"/>
          </a:xfrm>
          <a:prstGeom prst="rect">
            <a:avLst/>
          </a:prstGeom>
          <a:noFill/>
        </p:spPr>
        <p:txBody>
          <a:bodyPr wrap="square" lIns="0" rIns="0" tIns="0" bIns="0" anchor="t">
            <a:spAutoFit/>
          </a:bodyPr>
          <a:lstStyle/>
          <a:p>
            <a:pPr algn="l">
              <a:lnSpc>
                <a:spcPct val="108000"/>
              </a:lnSpc>
              <a:spcAft>
                <a:spcPts val="0"/>
              </a:spcAft>
            </a:pPr>
            <a:r>
              <a:rPr sz="2100" b="1" i="0">
                <a:solidFill>
                  <a:srgbClr val="B07C1F"/>
                </a:solidFill>
                <a:latin typeface="Calibri"/>
              </a:rPr>
              <a:t>•</a:t>
            </a:r>
          </a:p>
        </p:txBody>
      </p:sp>
      <p:sp>
        <p:nvSpPr>
          <p:cNvPr id="72" name="TextBox 71"/>
          <p:cNvSpPr txBox="1"/>
          <p:nvPr/>
        </p:nvSpPr>
        <p:spPr>
          <a:xfrm>
            <a:off x="1280160" y="30648829"/>
            <a:ext cx="9281160" cy="75945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Four country averages is a blunt control; 54% of the spread is unexplained.</a:t>
            </a:r>
          </a:p>
        </p:txBody>
      </p:sp>
      <p:sp>
        <p:nvSpPr>
          <p:cNvPr id="73" name="TextBox 72"/>
          <p:cNvSpPr txBox="1"/>
          <p:nvPr/>
        </p:nvSpPr>
        <p:spPr>
          <a:xfrm>
            <a:off x="11384280" y="30131939"/>
            <a:ext cx="182880" cy="274320"/>
          </a:xfrm>
          <a:prstGeom prst="rect">
            <a:avLst/>
          </a:prstGeom>
          <a:noFill/>
        </p:spPr>
        <p:txBody>
          <a:bodyPr wrap="square" lIns="0" rIns="0" tIns="0" bIns="0" anchor="t">
            <a:spAutoFit/>
          </a:bodyPr>
          <a:lstStyle/>
          <a:p>
            <a:pPr algn="l">
              <a:lnSpc>
                <a:spcPct val="108000"/>
              </a:lnSpc>
              <a:spcAft>
                <a:spcPts val="0"/>
              </a:spcAft>
            </a:pPr>
            <a:r>
              <a:rPr sz="2100" b="1" i="0">
                <a:solidFill>
                  <a:srgbClr val="B07C1F"/>
                </a:solidFill>
                <a:latin typeface="Calibri"/>
              </a:rPr>
              <a:t>•</a:t>
            </a:r>
          </a:p>
        </p:txBody>
      </p:sp>
      <p:sp>
        <p:nvSpPr>
          <p:cNvPr id="74" name="TextBox 73"/>
          <p:cNvSpPr txBox="1"/>
          <p:nvPr/>
        </p:nvSpPr>
        <p:spPr>
          <a:xfrm>
            <a:off x="11658600" y="30104507"/>
            <a:ext cx="9281160" cy="37972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Controlling for climate may control away part of the question.</a:t>
            </a:r>
          </a:p>
        </p:txBody>
      </p:sp>
      <p:sp>
        <p:nvSpPr>
          <p:cNvPr id="75" name="TextBox 74"/>
          <p:cNvSpPr txBox="1"/>
          <p:nvPr/>
        </p:nvSpPr>
        <p:spPr>
          <a:xfrm>
            <a:off x="11384280" y="30676261"/>
            <a:ext cx="182880" cy="274320"/>
          </a:xfrm>
          <a:prstGeom prst="rect">
            <a:avLst/>
          </a:prstGeom>
          <a:noFill/>
        </p:spPr>
        <p:txBody>
          <a:bodyPr wrap="square" lIns="0" rIns="0" tIns="0" bIns="0" anchor="t">
            <a:spAutoFit/>
          </a:bodyPr>
          <a:lstStyle/>
          <a:p>
            <a:pPr algn="l">
              <a:lnSpc>
                <a:spcPct val="108000"/>
              </a:lnSpc>
              <a:spcAft>
                <a:spcPts val="0"/>
              </a:spcAft>
            </a:pPr>
            <a:r>
              <a:rPr sz="2100" b="1" i="0">
                <a:solidFill>
                  <a:srgbClr val="B07C1F"/>
                </a:solidFill>
                <a:latin typeface="Calibri"/>
              </a:rPr>
              <a:t>•</a:t>
            </a:r>
          </a:p>
        </p:txBody>
      </p:sp>
      <p:sp>
        <p:nvSpPr>
          <p:cNvPr id="76" name="TextBox 75"/>
          <p:cNvSpPr txBox="1"/>
          <p:nvPr/>
        </p:nvSpPr>
        <p:spPr>
          <a:xfrm>
            <a:off x="11658600" y="30648829"/>
            <a:ext cx="9281160" cy="75945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18 comparisons per metric, and Europe is three countries here against Oceania’s two — only the strongest results carry weight.</a:t>
            </a:r>
          </a:p>
        </p:txBody>
      </p:sp>
      <p:sp>
        <p:nvSpPr>
          <p:cNvPr id="77" name="Rectangle 76"/>
          <p:cNvSpPr/>
          <p:nvPr/>
        </p:nvSpPr>
        <p:spPr>
          <a:xfrm>
            <a:off x="1005840" y="31755761"/>
            <a:ext cx="19933920" cy="12801"/>
          </a:xfrm>
          <a:prstGeom prst="rect">
            <a:avLst/>
          </a:prstGeom>
          <a:solidFill>
            <a:srgbClr val="D8D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05840" y="31975217"/>
            <a:ext cx="19933920" cy="402336"/>
          </a:xfrm>
          <a:prstGeom prst="rect">
            <a:avLst/>
          </a:prstGeom>
          <a:noFill/>
        </p:spPr>
        <p:txBody>
          <a:bodyPr wrap="square" lIns="0" rIns="0" tIns="0" bIns="0" anchor="t">
            <a:spAutoFit/>
          </a:bodyPr>
          <a:lstStyle/>
          <a:p>
            <a:pPr algn="l">
              <a:lnSpc>
                <a:spcPct val="108000"/>
              </a:lnSpc>
              <a:spcAft>
                <a:spcPts val="0"/>
              </a:spcAft>
            </a:pPr>
            <a:r>
              <a:rPr sz="2200" b="0" i="0">
                <a:solidFill>
                  <a:srgbClr val="5F6670"/>
                </a:solidFill>
                <a:latin typeface="Calibri"/>
              </a:rPr>
              <a:t>Every prompt, image and measurement — github.com/haydn-s/blurred-lens  ·  October 2026  ·  $185 of compute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