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219456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005840"/>
            <a:ext cx="19933920" cy="1097280"/>
          </a:xfrm>
          <a:prstGeom prst="rect">
            <a:avLst/>
          </a:prstGeom>
          <a:noFill/>
        </p:spPr>
        <p:txBody>
          <a:bodyPr wrap="square" lIns="0" rIns="0" tIns="0" bIns="0" anchor="t">
            <a:spAutoFit/>
          </a:bodyPr>
          <a:lstStyle/>
          <a:p>
            <a:pPr algn="l">
              <a:lnSpc>
                <a:spcPct val="92000"/>
              </a:lnSpc>
              <a:spcAft>
                <a:spcPts val="0"/>
              </a:spcAft>
            </a:pPr>
            <a:r>
              <a:rPr sz="8400" b="1" i="0">
                <a:solidFill>
                  <a:srgbClr val="1A1A1A"/>
                </a:solidFill>
                <a:latin typeface="Cambria"/>
              </a:rPr>
              <a:t>Blurred Lens</a:t>
            </a:r>
          </a:p>
        </p:txBody>
      </p:sp>
      <p:sp>
        <p:nvSpPr>
          <p:cNvPr id="3" name="TextBox 2"/>
          <p:cNvSpPr txBox="1"/>
          <p:nvPr/>
        </p:nvSpPr>
        <p:spPr>
          <a:xfrm>
            <a:off x="1005840" y="2139696"/>
            <a:ext cx="19385280" cy="1122680"/>
          </a:xfrm>
          <a:prstGeom prst="rect">
            <a:avLst/>
          </a:prstGeom>
          <a:noFill/>
        </p:spPr>
        <p:txBody>
          <a:bodyPr wrap="square" lIns="0" rIns="0" tIns="0" bIns="0" anchor="t">
            <a:spAutoFit/>
          </a:bodyPr>
          <a:lstStyle/>
          <a:p>
            <a:pPr algn="l">
              <a:lnSpc>
                <a:spcPct val="118000"/>
              </a:lnSpc>
              <a:spcAft>
                <a:spcPts val="0"/>
              </a:spcAft>
            </a:pPr>
            <a:r>
              <a:rPr sz="3400" b="0" i="1">
                <a:solidFill>
                  <a:srgbClr val="5F6670"/>
                </a:solidFill>
                <a:latin typeface="Cambria"/>
              </a:rPr>
              <a:t>Does an AI image model paint poorer countries in warmer colour? 61,488 generated photographs say the honest answer is more interesting than yes.</a:t>
            </a:r>
          </a:p>
        </p:txBody>
      </p:sp>
      <p:sp>
        <p:nvSpPr>
          <p:cNvPr id="4" name="TextBox 3"/>
          <p:cNvSpPr txBox="1"/>
          <p:nvPr/>
        </p:nvSpPr>
        <p:spPr>
          <a:xfrm>
            <a:off x="1005840" y="3372104"/>
            <a:ext cx="19933920" cy="347472"/>
          </a:xfrm>
          <a:prstGeom prst="rect">
            <a:avLst/>
          </a:prstGeom>
          <a:noFill/>
        </p:spPr>
        <p:txBody>
          <a:bodyPr wrap="square" lIns="0" rIns="0" tIns="0" bIns="0" anchor="t">
            <a:spAutoFit/>
          </a:bodyPr>
          <a:lstStyle/>
          <a:p>
            <a:pPr algn="l">
              <a:lnSpc>
                <a:spcPct val="108000"/>
              </a:lnSpc>
              <a:spcAft>
                <a:spcPts val="0"/>
              </a:spcAft>
            </a:pPr>
            <a:r>
              <a:rPr sz="2200" b="0" i="0">
                <a:solidFill>
                  <a:srgbClr val="5F6670"/>
                </a:solidFill>
                <a:latin typeface="Calibri"/>
              </a:rPr>
              <a:t>Haydn Stucker  ·  AIPI 590: Explainable AI  ·  Duke University</a:t>
            </a:r>
          </a:p>
        </p:txBody>
      </p:sp>
      <p:sp>
        <p:nvSpPr>
          <p:cNvPr id="5" name="Rectangle 4"/>
          <p:cNvSpPr/>
          <p:nvPr/>
        </p:nvSpPr>
        <p:spPr>
          <a:xfrm>
            <a:off x="1005840" y="3829304"/>
            <a:ext cx="19933920" cy="18288"/>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05840" y="4140200"/>
            <a:ext cx="4805172" cy="1115568"/>
          </a:xfrm>
          <a:prstGeom prst="roundRect">
            <a:avLst>
              <a:gd name="adj" fmla="val 4000"/>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98448" y="4259072"/>
            <a:ext cx="4219956" cy="576072"/>
          </a:xfrm>
          <a:prstGeom prst="rect">
            <a:avLst/>
          </a:prstGeom>
          <a:noFill/>
        </p:spPr>
        <p:txBody>
          <a:bodyPr wrap="square" lIns="0" rIns="0" tIns="0" bIns="0" anchor="t">
            <a:spAutoFit/>
          </a:bodyPr>
          <a:lstStyle/>
          <a:p>
            <a:pPr algn="l">
              <a:lnSpc>
                <a:spcPct val="100000"/>
              </a:lnSpc>
              <a:spcAft>
                <a:spcPts val="0"/>
              </a:spcAft>
            </a:pPr>
            <a:r>
              <a:rPr sz="5200" b="1" i="0">
                <a:solidFill>
                  <a:srgbClr val="B07C1F"/>
                </a:solidFill>
                <a:latin typeface="Cambria"/>
              </a:rPr>
              <a:t>61,488</a:t>
            </a:r>
          </a:p>
        </p:txBody>
      </p:sp>
      <p:sp>
        <p:nvSpPr>
          <p:cNvPr id="8" name="TextBox 7"/>
          <p:cNvSpPr txBox="1"/>
          <p:nvPr/>
        </p:nvSpPr>
        <p:spPr>
          <a:xfrm>
            <a:off x="1298448" y="4853432"/>
            <a:ext cx="4219956" cy="512064"/>
          </a:xfrm>
          <a:prstGeom prst="rect">
            <a:avLst/>
          </a:prstGeom>
          <a:noFill/>
        </p:spPr>
        <p:txBody>
          <a:bodyPr wrap="square" lIns="0" rIns="0" tIns="0" bIns="0" anchor="t">
            <a:spAutoFit/>
          </a:bodyPr>
          <a:lstStyle/>
          <a:p>
            <a:pPr algn="l">
              <a:lnSpc>
                <a:spcPct val="115000"/>
              </a:lnSpc>
              <a:spcAft>
                <a:spcPts val="0"/>
              </a:spcAft>
            </a:pPr>
            <a:r>
              <a:rPr sz="2100" b="0" i="0">
                <a:solidFill>
                  <a:srgbClr val="5F6670"/>
                </a:solidFill>
                <a:latin typeface="Calibri"/>
              </a:rPr>
              <a:t>images generated</a:t>
            </a:r>
          </a:p>
        </p:txBody>
      </p:sp>
      <p:sp>
        <p:nvSpPr>
          <p:cNvPr id="9" name="Rounded Rectangle 8"/>
          <p:cNvSpPr/>
          <p:nvPr/>
        </p:nvSpPr>
        <p:spPr>
          <a:xfrm>
            <a:off x="6048756" y="4140200"/>
            <a:ext cx="4805172" cy="1115568"/>
          </a:xfrm>
          <a:prstGeom prst="roundRect">
            <a:avLst>
              <a:gd name="adj" fmla="val 4000"/>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1364" y="4259072"/>
            <a:ext cx="4219956" cy="576072"/>
          </a:xfrm>
          <a:prstGeom prst="rect">
            <a:avLst/>
          </a:prstGeom>
          <a:noFill/>
        </p:spPr>
        <p:txBody>
          <a:bodyPr wrap="square" lIns="0" rIns="0" tIns="0" bIns="0" anchor="t">
            <a:spAutoFit/>
          </a:bodyPr>
          <a:lstStyle/>
          <a:p>
            <a:pPr algn="l">
              <a:lnSpc>
                <a:spcPct val="100000"/>
              </a:lnSpc>
              <a:spcAft>
                <a:spcPts val="0"/>
              </a:spcAft>
            </a:pPr>
            <a:r>
              <a:rPr sz="5200" b="1" i="0">
                <a:solidFill>
                  <a:srgbClr val="B07C1F"/>
                </a:solidFill>
                <a:latin typeface="Cambria"/>
              </a:rPr>
              <a:t>60 × 6</a:t>
            </a:r>
          </a:p>
        </p:txBody>
      </p:sp>
      <p:sp>
        <p:nvSpPr>
          <p:cNvPr id="11" name="TextBox 10"/>
          <p:cNvSpPr txBox="1"/>
          <p:nvPr/>
        </p:nvSpPr>
        <p:spPr>
          <a:xfrm>
            <a:off x="6341364" y="4853432"/>
            <a:ext cx="4219956" cy="512064"/>
          </a:xfrm>
          <a:prstGeom prst="rect">
            <a:avLst/>
          </a:prstGeom>
          <a:noFill/>
        </p:spPr>
        <p:txBody>
          <a:bodyPr wrap="square" lIns="0" rIns="0" tIns="0" bIns="0" anchor="t">
            <a:spAutoFit/>
          </a:bodyPr>
          <a:lstStyle/>
          <a:p>
            <a:pPr algn="l">
              <a:lnSpc>
                <a:spcPct val="115000"/>
              </a:lnSpc>
              <a:spcAft>
                <a:spcPts val="0"/>
              </a:spcAft>
            </a:pPr>
            <a:r>
              <a:rPr sz="2100" b="0" i="0">
                <a:solidFill>
                  <a:srgbClr val="5F6670"/>
                </a:solidFill>
                <a:latin typeface="Calibri"/>
              </a:rPr>
              <a:t>countries × kinds of place</a:t>
            </a:r>
          </a:p>
        </p:txBody>
      </p:sp>
      <p:sp>
        <p:nvSpPr>
          <p:cNvPr id="12" name="Rounded Rectangle 11"/>
          <p:cNvSpPr/>
          <p:nvPr/>
        </p:nvSpPr>
        <p:spPr>
          <a:xfrm>
            <a:off x="11091672" y="4140200"/>
            <a:ext cx="4805172" cy="1115568"/>
          </a:xfrm>
          <a:prstGeom prst="roundRect">
            <a:avLst>
              <a:gd name="adj" fmla="val 4000"/>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384280" y="4259072"/>
            <a:ext cx="4219956" cy="576072"/>
          </a:xfrm>
          <a:prstGeom prst="rect">
            <a:avLst/>
          </a:prstGeom>
          <a:noFill/>
        </p:spPr>
        <p:txBody>
          <a:bodyPr wrap="square" lIns="0" rIns="0" tIns="0" bIns="0" anchor="t">
            <a:spAutoFit/>
          </a:bodyPr>
          <a:lstStyle/>
          <a:p>
            <a:pPr algn="l">
              <a:lnSpc>
                <a:spcPct val="100000"/>
              </a:lnSpc>
              <a:spcAft>
                <a:spcPts val="0"/>
              </a:spcAft>
            </a:pPr>
            <a:r>
              <a:rPr sz="5200" b="1" i="0">
                <a:solidFill>
                  <a:srgbClr val="B07C1F"/>
                </a:solidFill>
                <a:latin typeface="Cambria"/>
              </a:rPr>
              <a:t>53 of 60</a:t>
            </a:r>
          </a:p>
        </p:txBody>
      </p:sp>
      <p:sp>
        <p:nvSpPr>
          <p:cNvPr id="14" name="TextBox 13"/>
          <p:cNvSpPr txBox="1"/>
          <p:nvPr/>
        </p:nvSpPr>
        <p:spPr>
          <a:xfrm>
            <a:off x="11384280" y="4853432"/>
            <a:ext cx="4219956" cy="512064"/>
          </a:xfrm>
          <a:prstGeom prst="rect">
            <a:avLst/>
          </a:prstGeom>
          <a:noFill/>
        </p:spPr>
        <p:txBody>
          <a:bodyPr wrap="square" lIns="0" rIns="0" tIns="0" bIns="0" anchor="t">
            <a:spAutoFit/>
          </a:bodyPr>
          <a:lstStyle/>
          <a:p>
            <a:pPr algn="l">
              <a:lnSpc>
                <a:spcPct val="115000"/>
              </a:lnSpc>
              <a:spcAft>
                <a:spcPts val="0"/>
              </a:spcAft>
            </a:pPr>
            <a:r>
              <a:rPr sz="2100" b="0" i="0">
                <a:solidFill>
                  <a:srgbClr val="5F6670"/>
                </a:solidFill>
                <a:latin typeface="Calibri"/>
              </a:rPr>
              <a:t>warmer than the model's own default</a:t>
            </a:r>
          </a:p>
        </p:txBody>
      </p:sp>
      <p:sp>
        <p:nvSpPr>
          <p:cNvPr id="15" name="Rounded Rectangle 14"/>
          <p:cNvSpPr/>
          <p:nvPr/>
        </p:nvSpPr>
        <p:spPr>
          <a:xfrm>
            <a:off x="16134588" y="4140200"/>
            <a:ext cx="4805172" cy="1115568"/>
          </a:xfrm>
          <a:prstGeom prst="roundRect">
            <a:avLst>
              <a:gd name="adj" fmla="val 4000"/>
            </a:avLst>
          </a:prstGeom>
          <a:solidFill>
            <a:srgbClr val="FBF7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6427196" y="4259072"/>
            <a:ext cx="4219956" cy="576072"/>
          </a:xfrm>
          <a:prstGeom prst="rect">
            <a:avLst/>
          </a:prstGeom>
          <a:noFill/>
        </p:spPr>
        <p:txBody>
          <a:bodyPr wrap="square" lIns="0" rIns="0" tIns="0" bIns="0" anchor="t">
            <a:spAutoFit/>
          </a:bodyPr>
          <a:lstStyle/>
          <a:p>
            <a:pPr algn="l">
              <a:lnSpc>
                <a:spcPct val="100000"/>
              </a:lnSpc>
              <a:spcAft>
                <a:spcPts val="0"/>
              </a:spcAft>
            </a:pPr>
            <a:r>
              <a:rPr sz="5200" b="1" i="0">
                <a:solidFill>
                  <a:srgbClr val="B07C1F"/>
                </a:solidFill>
                <a:latin typeface="Cambria"/>
              </a:rPr>
              <a:t>0</a:t>
            </a:r>
          </a:p>
        </p:txBody>
      </p:sp>
      <p:sp>
        <p:nvSpPr>
          <p:cNvPr id="17" name="TextBox 16"/>
          <p:cNvSpPr txBox="1"/>
          <p:nvPr/>
        </p:nvSpPr>
        <p:spPr>
          <a:xfrm>
            <a:off x="16427196" y="4853432"/>
            <a:ext cx="4219956" cy="512064"/>
          </a:xfrm>
          <a:prstGeom prst="rect">
            <a:avLst/>
          </a:prstGeom>
          <a:noFill/>
        </p:spPr>
        <p:txBody>
          <a:bodyPr wrap="square" lIns="0" rIns="0" tIns="0" bIns="0" anchor="t">
            <a:spAutoFit/>
          </a:bodyPr>
          <a:lstStyle/>
          <a:p>
            <a:pPr algn="l">
              <a:lnSpc>
                <a:spcPct val="115000"/>
              </a:lnSpc>
              <a:spcAft>
                <a:spcPts val="0"/>
              </a:spcAft>
            </a:pPr>
            <a:r>
              <a:rPr sz="2100" b="0" i="0">
                <a:solidFill>
                  <a:srgbClr val="5F6670"/>
                </a:solidFill>
                <a:latin typeface="Calibri"/>
              </a:rPr>
              <a:t>failures or refusals</a:t>
            </a:r>
          </a:p>
        </p:txBody>
      </p:sp>
      <p:sp>
        <p:nvSpPr>
          <p:cNvPr id="18" name="TextBox 17"/>
          <p:cNvSpPr txBox="1"/>
          <p:nvPr/>
        </p:nvSpPr>
        <p:spPr>
          <a:xfrm>
            <a:off x="1005840" y="5566664"/>
            <a:ext cx="19933920" cy="594360"/>
          </a:xfrm>
          <a:prstGeom prst="rect">
            <a:avLst/>
          </a:prstGeom>
          <a:noFill/>
        </p:spPr>
        <p:txBody>
          <a:bodyPr wrap="square" lIns="0" rIns="0" tIns="0" bIns="0" anchor="t">
            <a:spAutoFit/>
          </a:bodyPr>
          <a:lstStyle/>
          <a:p>
            <a:pPr algn="l">
              <a:lnSpc>
                <a:spcPct val="108000"/>
              </a:lnSpc>
              <a:spcAft>
                <a:spcPts val="0"/>
              </a:spcAft>
            </a:pPr>
            <a:r>
              <a:rPr sz="3600" b="1" i="0">
                <a:solidFill>
                  <a:srgbClr val="1A1A1A"/>
                </a:solidFill>
                <a:latin typeface="Cambria"/>
              </a:rPr>
              <a:t>The problem</a:t>
            </a:r>
          </a:p>
        </p:txBody>
      </p:sp>
      <p:sp>
        <p:nvSpPr>
          <p:cNvPr id="19" name="TextBox 18"/>
          <p:cNvSpPr txBox="1"/>
          <p:nvPr/>
        </p:nvSpPr>
        <p:spPr>
          <a:xfrm>
            <a:off x="1005840" y="6289040"/>
            <a:ext cx="9555480" cy="1188720"/>
          </a:xfrm>
          <a:prstGeom prst="rect">
            <a:avLst/>
          </a:prstGeom>
          <a:noFill/>
        </p:spPr>
        <p:txBody>
          <a:bodyPr wrap="square" lIns="0" rIns="0" tIns="0" bIns="0" anchor="t">
            <a:spAutoFit/>
          </a:bodyPr>
          <a:lstStyle/>
          <a:p>
            <a:pPr algn="l">
              <a:lnSpc>
                <a:spcPct val="130000"/>
              </a:lnSpc>
              <a:spcAft>
                <a:spcPts val="0"/>
              </a:spcAft>
            </a:pPr>
            <a:r>
              <a:rPr sz="2400" b="0" i="0">
                <a:solidFill>
                  <a:srgbClr val="1A1A1A"/>
                </a:solidFill>
                <a:latin typeface="Calibri"/>
              </a:rPr>
              <a:t>Film colours places. A sepia wash over Mexico; dust and amber for “somewhere dangerous.” A yellow filter tells an audience a place is poor, hot and unsafe before a word is spoken.</a:t>
            </a:r>
          </a:p>
        </p:txBody>
      </p:sp>
      <p:sp>
        <p:nvSpPr>
          <p:cNvPr id="20" name="TextBox 19"/>
          <p:cNvSpPr txBox="1"/>
          <p:nvPr/>
        </p:nvSpPr>
        <p:spPr>
          <a:xfrm>
            <a:off x="11384280" y="6289040"/>
            <a:ext cx="9555480" cy="1188720"/>
          </a:xfrm>
          <a:prstGeom prst="rect">
            <a:avLst/>
          </a:prstGeom>
          <a:noFill/>
        </p:spPr>
        <p:txBody>
          <a:bodyPr wrap="square" lIns="0" rIns="0" tIns="0" bIns="0" anchor="t">
            <a:spAutoFit/>
          </a:bodyPr>
          <a:lstStyle/>
          <a:p>
            <a:pPr algn="l">
              <a:lnSpc>
                <a:spcPct val="130000"/>
              </a:lnSpc>
              <a:spcAft>
                <a:spcPts val="0"/>
              </a:spcAft>
            </a:pPr>
            <a:r>
              <a:rPr sz="2400" b="0" i="0">
                <a:solidFill>
                  <a:srgbClr val="1A1A1A"/>
                </a:solidFill>
                <a:latin typeface="Calibri"/>
              </a:rPr>
              <a:t>Image models learn from pictures like those. If one inherited the habit, every picture it makes of a country carries a quiet judgement — and no single image can show you.</a:t>
            </a:r>
          </a:p>
        </p:txBody>
      </p:sp>
      <p:sp>
        <p:nvSpPr>
          <p:cNvPr id="21" name="TextBox 20"/>
          <p:cNvSpPr txBox="1"/>
          <p:nvPr/>
        </p:nvSpPr>
        <p:spPr>
          <a:xfrm>
            <a:off x="1005840" y="7806943"/>
            <a:ext cx="19933920" cy="594360"/>
          </a:xfrm>
          <a:prstGeom prst="rect">
            <a:avLst/>
          </a:prstGeom>
          <a:noFill/>
        </p:spPr>
        <p:txBody>
          <a:bodyPr wrap="square" lIns="0" rIns="0" tIns="0" bIns="0" anchor="t">
            <a:spAutoFit/>
          </a:bodyPr>
          <a:lstStyle/>
          <a:p>
            <a:pPr algn="l">
              <a:lnSpc>
                <a:spcPct val="108000"/>
              </a:lnSpc>
              <a:spcAft>
                <a:spcPts val="0"/>
              </a:spcAft>
            </a:pPr>
            <a:r>
              <a:rPr sz="3600" b="1" i="0">
                <a:solidFill>
                  <a:srgbClr val="1A1A1A"/>
                </a:solidFill>
                <a:latin typeface="Cambria"/>
              </a:rPr>
              <a:t>How we looked</a:t>
            </a:r>
          </a:p>
        </p:txBody>
      </p:sp>
      <p:sp>
        <p:nvSpPr>
          <p:cNvPr id="22" name="TextBox 21"/>
          <p:cNvSpPr txBox="1"/>
          <p:nvPr/>
        </p:nvSpPr>
        <p:spPr>
          <a:xfrm>
            <a:off x="1005840" y="8547608"/>
            <a:ext cx="457200" cy="402336"/>
          </a:xfrm>
          <a:prstGeom prst="rect">
            <a:avLst/>
          </a:prstGeom>
          <a:noFill/>
        </p:spPr>
        <p:txBody>
          <a:bodyPr wrap="square" lIns="0" rIns="0" tIns="0" bIns="0" anchor="t">
            <a:spAutoFit/>
          </a:bodyPr>
          <a:lstStyle/>
          <a:p>
            <a:pPr algn="l">
              <a:lnSpc>
                <a:spcPct val="108000"/>
              </a:lnSpc>
              <a:spcAft>
                <a:spcPts val="0"/>
              </a:spcAft>
            </a:pPr>
            <a:r>
              <a:rPr sz="2600" b="1" i="0">
                <a:solidFill>
                  <a:srgbClr val="B07C1F"/>
                </a:solidFill>
                <a:latin typeface="Cambria"/>
              </a:rPr>
              <a:t>1</a:t>
            </a:r>
          </a:p>
        </p:txBody>
      </p:sp>
      <p:sp>
        <p:nvSpPr>
          <p:cNvPr id="23" name="TextBox 22"/>
          <p:cNvSpPr txBox="1"/>
          <p:nvPr/>
        </p:nvSpPr>
        <p:spPr>
          <a:xfrm>
            <a:off x="1508760" y="8529320"/>
            <a:ext cx="3264408" cy="858520"/>
          </a:xfrm>
          <a:prstGeom prst="rect">
            <a:avLst/>
          </a:prstGeom>
          <a:noFill/>
        </p:spPr>
        <p:txBody>
          <a:bodyPr wrap="square" lIns="0" rIns="0" tIns="0" bIns="0" anchor="t">
            <a:spAutoFit/>
          </a:bodyPr>
          <a:lstStyle/>
          <a:p>
            <a:pPr algn="l">
              <a:lnSpc>
                <a:spcPct val="108000"/>
              </a:lnSpc>
              <a:spcAft>
                <a:spcPts val="0"/>
              </a:spcAft>
            </a:pPr>
            <a:r>
              <a:rPr sz="2600" b="1" i="0">
                <a:solidFill>
                  <a:srgbClr val="1A1A1A"/>
                </a:solidFill>
                <a:latin typeface="Cambria"/>
              </a:rPr>
              <a:t>Ask everyone the same thing</a:t>
            </a:r>
          </a:p>
        </p:txBody>
      </p:sp>
      <p:sp>
        <p:nvSpPr>
          <p:cNvPr id="24" name="TextBox 23"/>
          <p:cNvSpPr txBox="1"/>
          <p:nvPr/>
        </p:nvSpPr>
        <p:spPr>
          <a:xfrm>
            <a:off x="1005840" y="9497567"/>
            <a:ext cx="3767328" cy="693420"/>
          </a:xfrm>
          <a:prstGeom prst="rect">
            <a:avLst/>
          </a:prstGeom>
          <a:noFill/>
        </p:spPr>
        <p:txBody>
          <a:bodyPr wrap="square" lIns="0" rIns="0" tIns="0" bIns="0" anchor="t">
            <a:spAutoFit/>
          </a:bodyPr>
          <a:lstStyle/>
          <a:p>
            <a:pPr algn="l">
              <a:lnSpc>
                <a:spcPct val="128000"/>
              </a:lnSpc>
              <a:spcAft>
                <a:spcPts val="0"/>
              </a:spcAft>
            </a:pPr>
            <a:r>
              <a:rPr sz="2100" b="0" i="0">
                <a:solidFill>
                  <a:srgbClr val="5F6670"/>
                </a:solidFill>
                <a:latin typeface="Calibri"/>
              </a:rPr>
              <a:t>One sentence, one fixed camera, 84 times per prompt.</a:t>
            </a:r>
          </a:p>
        </p:txBody>
      </p:sp>
      <p:sp>
        <p:nvSpPr>
          <p:cNvPr id="25" name="TextBox 24"/>
          <p:cNvSpPr txBox="1"/>
          <p:nvPr/>
        </p:nvSpPr>
        <p:spPr>
          <a:xfrm>
            <a:off x="5047488" y="8547608"/>
            <a:ext cx="457200" cy="402336"/>
          </a:xfrm>
          <a:prstGeom prst="rect">
            <a:avLst/>
          </a:prstGeom>
          <a:noFill/>
        </p:spPr>
        <p:txBody>
          <a:bodyPr wrap="square" lIns="0" rIns="0" tIns="0" bIns="0" anchor="t">
            <a:spAutoFit/>
          </a:bodyPr>
          <a:lstStyle/>
          <a:p>
            <a:pPr algn="l">
              <a:lnSpc>
                <a:spcPct val="108000"/>
              </a:lnSpc>
              <a:spcAft>
                <a:spcPts val="0"/>
              </a:spcAft>
            </a:pPr>
            <a:r>
              <a:rPr sz="2600" b="1" i="0">
                <a:solidFill>
                  <a:srgbClr val="B07C1F"/>
                </a:solidFill>
                <a:latin typeface="Cambria"/>
              </a:rPr>
              <a:t>2</a:t>
            </a:r>
          </a:p>
        </p:txBody>
      </p:sp>
      <p:sp>
        <p:nvSpPr>
          <p:cNvPr id="26" name="TextBox 25"/>
          <p:cNvSpPr txBox="1"/>
          <p:nvPr/>
        </p:nvSpPr>
        <p:spPr>
          <a:xfrm>
            <a:off x="5550407" y="8529320"/>
            <a:ext cx="3264408" cy="858520"/>
          </a:xfrm>
          <a:prstGeom prst="rect">
            <a:avLst/>
          </a:prstGeom>
          <a:noFill/>
        </p:spPr>
        <p:txBody>
          <a:bodyPr wrap="square" lIns="0" rIns="0" tIns="0" bIns="0" anchor="t">
            <a:spAutoFit/>
          </a:bodyPr>
          <a:lstStyle/>
          <a:p>
            <a:pPr algn="l">
              <a:lnSpc>
                <a:spcPct val="108000"/>
              </a:lnSpc>
              <a:spcAft>
                <a:spcPts val="0"/>
              </a:spcAft>
            </a:pPr>
            <a:r>
              <a:rPr sz="2600" b="1" i="0">
                <a:solidFill>
                  <a:srgbClr val="1A1A1A"/>
                </a:solidFill>
                <a:latin typeface="Cambria"/>
              </a:rPr>
              <a:t>Take away the easy excuse</a:t>
            </a:r>
          </a:p>
        </p:txBody>
      </p:sp>
      <p:sp>
        <p:nvSpPr>
          <p:cNvPr id="27" name="TextBox 26"/>
          <p:cNvSpPr txBox="1"/>
          <p:nvPr/>
        </p:nvSpPr>
        <p:spPr>
          <a:xfrm>
            <a:off x="5047488" y="9497567"/>
            <a:ext cx="3767328" cy="1040130"/>
          </a:xfrm>
          <a:prstGeom prst="rect">
            <a:avLst/>
          </a:prstGeom>
          <a:noFill/>
        </p:spPr>
        <p:txBody>
          <a:bodyPr wrap="square" lIns="0" rIns="0" tIns="0" bIns="0" anchor="t">
            <a:spAutoFit/>
          </a:bodyPr>
          <a:lstStyle/>
          <a:p>
            <a:pPr algn="l">
              <a:lnSpc>
                <a:spcPct val="128000"/>
              </a:lnSpc>
              <a:spcAft>
                <a:spcPts val="0"/>
              </a:spcAft>
            </a:pPr>
            <a:r>
              <a:rPr sz="2100" b="0" i="0">
                <a:solidFill>
                  <a:srgbClr val="5F6670"/>
                </a:solidFill>
                <a:latin typeface="Calibri"/>
              </a:rPr>
              <a:t>Run it again pinned to noon under a clear sky. The pin names no colour.</a:t>
            </a:r>
          </a:p>
        </p:txBody>
      </p:sp>
      <p:sp>
        <p:nvSpPr>
          <p:cNvPr id="28" name="TextBox 27"/>
          <p:cNvSpPr txBox="1"/>
          <p:nvPr/>
        </p:nvSpPr>
        <p:spPr>
          <a:xfrm>
            <a:off x="9089136" y="8547608"/>
            <a:ext cx="457200" cy="402336"/>
          </a:xfrm>
          <a:prstGeom prst="rect">
            <a:avLst/>
          </a:prstGeom>
          <a:noFill/>
        </p:spPr>
        <p:txBody>
          <a:bodyPr wrap="square" lIns="0" rIns="0" tIns="0" bIns="0" anchor="t">
            <a:spAutoFit/>
          </a:bodyPr>
          <a:lstStyle/>
          <a:p>
            <a:pPr algn="l">
              <a:lnSpc>
                <a:spcPct val="108000"/>
              </a:lnSpc>
              <a:spcAft>
                <a:spcPts val="0"/>
              </a:spcAft>
            </a:pPr>
            <a:r>
              <a:rPr sz="2600" b="1" i="0">
                <a:solidFill>
                  <a:srgbClr val="B07C1F"/>
                </a:solidFill>
                <a:latin typeface="Cambria"/>
              </a:rPr>
              <a:t>3</a:t>
            </a:r>
          </a:p>
        </p:txBody>
      </p:sp>
      <p:sp>
        <p:nvSpPr>
          <p:cNvPr id="29" name="TextBox 28"/>
          <p:cNvSpPr txBox="1"/>
          <p:nvPr/>
        </p:nvSpPr>
        <p:spPr>
          <a:xfrm>
            <a:off x="9592056" y="8529320"/>
            <a:ext cx="3264408" cy="429260"/>
          </a:xfrm>
          <a:prstGeom prst="rect">
            <a:avLst/>
          </a:prstGeom>
          <a:noFill/>
        </p:spPr>
        <p:txBody>
          <a:bodyPr wrap="square" lIns="0" rIns="0" tIns="0" bIns="0" anchor="t">
            <a:spAutoFit/>
          </a:bodyPr>
          <a:lstStyle/>
          <a:p>
            <a:pPr algn="l">
              <a:lnSpc>
                <a:spcPct val="108000"/>
              </a:lnSpc>
              <a:spcAft>
                <a:spcPts val="0"/>
              </a:spcAft>
            </a:pPr>
            <a:r>
              <a:rPr sz="2600" b="1" i="0">
                <a:solidFill>
                  <a:srgbClr val="1A1A1A"/>
                </a:solidFill>
                <a:latin typeface="Cambria"/>
              </a:rPr>
              <a:t>Give it a zero</a:t>
            </a:r>
          </a:p>
        </p:txBody>
      </p:sp>
      <p:sp>
        <p:nvSpPr>
          <p:cNvPr id="30" name="TextBox 29"/>
          <p:cNvSpPr txBox="1"/>
          <p:nvPr/>
        </p:nvSpPr>
        <p:spPr>
          <a:xfrm>
            <a:off x="9089136" y="9068308"/>
            <a:ext cx="3767328" cy="1040130"/>
          </a:xfrm>
          <a:prstGeom prst="rect">
            <a:avLst/>
          </a:prstGeom>
          <a:noFill/>
        </p:spPr>
        <p:txBody>
          <a:bodyPr wrap="square" lIns="0" rIns="0" tIns="0" bIns="0" anchor="t">
            <a:spAutoFit/>
          </a:bodyPr>
          <a:lstStyle/>
          <a:p>
            <a:pPr algn="l">
              <a:lnSpc>
                <a:spcPct val="128000"/>
              </a:lnSpc>
              <a:spcAft>
                <a:spcPts val="0"/>
              </a:spcAft>
            </a:pPr>
            <a:r>
              <a:rPr sz="2100" b="0" i="0">
                <a:solidFill>
                  <a:srgbClr val="5F6670"/>
                </a:solidFill>
                <a:latin typeface="Calibri"/>
              </a:rPr>
              <a:t>The same places with no country named — the model's own default.</a:t>
            </a:r>
          </a:p>
        </p:txBody>
      </p:sp>
      <p:sp>
        <p:nvSpPr>
          <p:cNvPr id="31" name="TextBox 30"/>
          <p:cNvSpPr txBox="1"/>
          <p:nvPr/>
        </p:nvSpPr>
        <p:spPr>
          <a:xfrm>
            <a:off x="13130784" y="8547608"/>
            <a:ext cx="457200" cy="402336"/>
          </a:xfrm>
          <a:prstGeom prst="rect">
            <a:avLst/>
          </a:prstGeom>
          <a:noFill/>
        </p:spPr>
        <p:txBody>
          <a:bodyPr wrap="square" lIns="0" rIns="0" tIns="0" bIns="0" anchor="t">
            <a:spAutoFit/>
          </a:bodyPr>
          <a:lstStyle/>
          <a:p>
            <a:pPr algn="l">
              <a:lnSpc>
                <a:spcPct val="108000"/>
              </a:lnSpc>
              <a:spcAft>
                <a:spcPts val="0"/>
              </a:spcAft>
            </a:pPr>
            <a:r>
              <a:rPr sz="2600" b="1" i="0">
                <a:solidFill>
                  <a:srgbClr val="B07C1F"/>
                </a:solidFill>
                <a:latin typeface="Cambria"/>
              </a:rPr>
              <a:t>4</a:t>
            </a:r>
          </a:p>
        </p:txBody>
      </p:sp>
      <p:sp>
        <p:nvSpPr>
          <p:cNvPr id="32" name="TextBox 31"/>
          <p:cNvSpPr txBox="1"/>
          <p:nvPr/>
        </p:nvSpPr>
        <p:spPr>
          <a:xfrm>
            <a:off x="13633704" y="8529320"/>
            <a:ext cx="3264408" cy="858520"/>
          </a:xfrm>
          <a:prstGeom prst="rect">
            <a:avLst/>
          </a:prstGeom>
          <a:noFill/>
        </p:spPr>
        <p:txBody>
          <a:bodyPr wrap="square" lIns="0" rIns="0" tIns="0" bIns="0" anchor="t">
            <a:spAutoFit/>
          </a:bodyPr>
          <a:lstStyle/>
          <a:p>
            <a:pPr algn="l">
              <a:lnSpc>
                <a:spcPct val="108000"/>
              </a:lnSpc>
              <a:spcAft>
                <a:spcPts val="0"/>
              </a:spcAft>
            </a:pPr>
            <a:r>
              <a:rPr sz="2600" b="1" i="0">
                <a:solidFill>
                  <a:srgbClr val="1A1A1A"/>
                </a:solidFill>
                <a:latin typeface="Cambria"/>
              </a:rPr>
              <a:t>Pick countries that disagree</a:t>
            </a:r>
          </a:p>
        </p:txBody>
      </p:sp>
      <p:sp>
        <p:nvSpPr>
          <p:cNvPr id="33" name="TextBox 32"/>
          <p:cNvSpPr txBox="1"/>
          <p:nvPr/>
        </p:nvSpPr>
        <p:spPr>
          <a:xfrm>
            <a:off x="13130784" y="9497567"/>
            <a:ext cx="3767328" cy="1040130"/>
          </a:xfrm>
          <a:prstGeom prst="rect">
            <a:avLst/>
          </a:prstGeom>
          <a:noFill/>
        </p:spPr>
        <p:txBody>
          <a:bodyPr wrap="square" lIns="0" rIns="0" tIns="0" bIns="0" anchor="t">
            <a:spAutoFit/>
          </a:bodyPr>
          <a:lstStyle/>
          <a:p>
            <a:pPr algn="l">
              <a:lnSpc>
                <a:spcPct val="128000"/>
              </a:lnSpc>
              <a:spcAft>
                <a:spcPts val="0"/>
              </a:spcAft>
            </a:pPr>
            <a:r>
              <a:rPr sz="2100" b="0" i="0">
                <a:solidFill>
                  <a:srgbClr val="5F6670"/>
                </a:solidFill>
                <a:latin typeface="Calibri"/>
              </a:rPr>
              <a:t>15 per income group, so income and latitude pull apart (ρ = 0.25 against 0.49).</a:t>
            </a:r>
          </a:p>
        </p:txBody>
      </p:sp>
      <p:sp>
        <p:nvSpPr>
          <p:cNvPr id="34" name="TextBox 33"/>
          <p:cNvSpPr txBox="1"/>
          <p:nvPr/>
        </p:nvSpPr>
        <p:spPr>
          <a:xfrm>
            <a:off x="17172432" y="8547608"/>
            <a:ext cx="457200" cy="402336"/>
          </a:xfrm>
          <a:prstGeom prst="rect">
            <a:avLst/>
          </a:prstGeom>
          <a:noFill/>
        </p:spPr>
        <p:txBody>
          <a:bodyPr wrap="square" lIns="0" rIns="0" tIns="0" bIns="0" anchor="t">
            <a:spAutoFit/>
          </a:bodyPr>
          <a:lstStyle/>
          <a:p>
            <a:pPr algn="l">
              <a:lnSpc>
                <a:spcPct val="108000"/>
              </a:lnSpc>
              <a:spcAft>
                <a:spcPts val="0"/>
              </a:spcAft>
            </a:pPr>
            <a:r>
              <a:rPr sz="2600" b="1" i="0">
                <a:solidFill>
                  <a:srgbClr val="B07C1F"/>
                </a:solidFill>
                <a:latin typeface="Cambria"/>
              </a:rPr>
              <a:t>5</a:t>
            </a:r>
          </a:p>
        </p:txBody>
      </p:sp>
      <p:sp>
        <p:nvSpPr>
          <p:cNvPr id="35" name="TextBox 34"/>
          <p:cNvSpPr txBox="1"/>
          <p:nvPr/>
        </p:nvSpPr>
        <p:spPr>
          <a:xfrm>
            <a:off x="17675352" y="8529320"/>
            <a:ext cx="3264408" cy="858520"/>
          </a:xfrm>
          <a:prstGeom prst="rect">
            <a:avLst/>
          </a:prstGeom>
          <a:noFill/>
        </p:spPr>
        <p:txBody>
          <a:bodyPr wrap="square" lIns="0" rIns="0" tIns="0" bIns="0" anchor="t">
            <a:spAutoFit/>
          </a:bodyPr>
          <a:lstStyle/>
          <a:p>
            <a:pPr algn="l">
              <a:lnSpc>
                <a:spcPct val="108000"/>
              </a:lnSpc>
              <a:spcAft>
                <a:spcPts val="0"/>
              </a:spcAft>
            </a:pPr>
            <a:r>
              <a:rPr sz="2600" b="1" i="0">
                <a:solidFill>
                  <a:srgbClr val="1A1A1A"/>
                </a:solidFill>
                <a:latin typeface="Cambria"/>
              </a:rPr>
              <a:t>Make the rivals compete</a:t>
            </a:r>
          </a:p>
        </p:txBody>
      </p:sp>
      <p:sp>
        <p:nvSpPr>
          <p:cNvPr id="36" name="TextBox 35"/>
          <p:cNvSpPr txBox="1"/>
          <p:nvPr/>
        </p:nvSpPr>
        <p:spPr>
          <a:xfrm>
            <a:off x="17172432" y="9497567"/>
            <a:ext cx="3767328" cy="1040130"/>
          </a:xfrm>
          <a:prstGeom prst="rect">
            <a:avLst/>
          </a:prstGeom>
          <a:noFill/>
        </p:spPr>
        <p:txBody>
          <a:bodyPr wrap="square" lIns="0" rIns="0" tIns="0" bIns="0" anchor="t">
            <a:spAutoFit/>
          </a:bodyPr>
          <a:lstStyle/>
          <a:p>
            <a:pPr algn="l">
              <a:lnSpc>
                <a:spcPct val="128000"/>
              </a:lnSpc>
              <a:spcAft>
                <a:spcPts val="0"/>
              </a:spcAft>
            </a:pPr>
            <a:r>
              <a:rPr sz="2100" b="0" i="0">
                <a:solidFill>
                  <a:srgbClr val="5F6670"/>
                </a:solidFill>
                <a:latin typeface="Calibri"/>
              </a:rPr>
              <a:t>Hold real latitude, temperature, rainfall and forest cover constant. Ask again.</a:t>
            </a:r>
          </a:p>
        </p:txBody>
      </p:sp>
      <p:sp>
        <p:nvSpPr>
          <p:cNvPr id="37" name="TextBox 36"/>
          <p:cNvSpPr txBox="1"/>
          <p:nvPr/>
        </p:nvSpPr>
        <p:spPr>
          <a:xfrm>
            <a:off x="1005840" y="10866881"/>
            <a:ext cx="19933920" cy="594360"/>
          </a:xfrm>
          <a:prstGeom prst="rect">
            <a:avLst/>
          </a:prstGeom>
          <a:noFill/>
        </p:spPr>
        <p:txBody>
          <a:bodyPr wrap="square" lIns="0" rIns="0" tIns="0" bIns="0" anchor="t">
            <a:spAutoFit/>
          </a:bodyPr>
          <a:lstStyle/>
          <a:p>
            <a:pPr algn="l">
              <a:lnSpc>
                <a:spcPct val="108000"/>
              </a:lnSpc>
              <a:spcAft>
                <a:spcPts val="0"/>
              </a:spcAft>
            </a:pPr>
            <a:r>
              <a:rPr sz="3600" b="1" i="0">
                <a:solidFill>
                  <a:srgbClr val="1A1A1A"/>
                </a:solidFill>
                <a:latin typeface="Cambria"/>
              </a:rPr>
              <a:t>What we found</a:t>
            </a:r>
          </a:p>
        </p:txBody>
      </p:sp>
      <p:sp>
        <p:nvSpPr>
          <p:cNvPr id="38" name="TextBox 37"/>
          <p:cNvSpPr txBox="1"/>
          <p:nvPr/>
        </p:nvSpPr>
        <p:spPr>
          <a:xfrm>
            <a:off x="1005840" y="11589258"/>
            <a:ext cx="19933920" cy="429260"/>
          </a:xfrm>
          <a:prstGeom prst="rect">
            <a:avLst/>
          </a:prstGeom>
          <a:noFill/>
        </p:spPr>
        <p:txBody>
          <a:bodyPr wrap="square" lIns="0" rIns="0" tIns="0" bIns="0" anchor="t">
            <a:spAutoFit/>
          </a:bodyPr>
          <a:lstStyle/>
          <a:p>
            <a:pPr algn="l">
              <a:lnSpc>
                <a:spcPct val="108000"/>
              </a:lnSpc>
              <a:spcAft>
                <a:spcPts val="0"/>
              </a:spcAft>
            </a:pPr>
            <a:r>
              <a:rPr sz="2600" b="1" i="0">
                <a:solidFill>
                  <a:srgbClr val="1A1A1A"/>
                </a:solidFill>
                <a:latin typeface="Cambria"/>
              </a:rPr>
              <a:t>Only the country changed</a:t>
            </a:r>
          </a:p>
        </p:txBody>
      </p:sp>
      <p:sp>
        <p:nvSpPr>
          <p:cNvPr id="39" name="TextBox 38"/>
          <p:cNvSpPr txBox="1"/>
          <p:nvPr/>
        </p:nvSpPr>
        <p:spPr>
          <a:xfrm>
            <a:off x="1005840" y="12128246"/>
            <a:ext cx="9738360" cy="310896"/>
          </a:xfrm>
          <a:prstGeom prst="rect">
            <a:avLst/>
          </a:prstGeom>
          <a:noFill/>
        </p:spPr>
        <p:txBody>
          <a:bodyPr wrap="square" lIns="0" rIns="0" tIns="0" bIns="0" anchor="t">
            <a:spAutoFit/>
          </a:bodyPr>
          <a:lstStyle/>
          <a:p>
            <a:pPr algn="l">
              <a:lnSpc>
                <a:spcPct val="108000"/>
              </a:lnSpc>
              <a:spcAft>
                <a:spcPts val="0"/>
              </a:spcAft>
            </a:pPr>
            <a:r>
              <a:rPr sz="2100" b="1" i="0">
                <a:solidFill>
                  <a:srgbClr val="B07C1F"/>
                </a:solidFill>
                <a:latin typeface="Calibri"/>
              </a:rPr>
              <a:t>THE FOUR IT DRAWS WARMEST</a:t>
            </a:r>
          </a:p>
        </p:txBody>
      </p:sp>
      <p:sp>
        <p:nvSpPr>
          <p:cNvPr id="40" name="TextBox 39"/>
          <p:cNvSpPr txBox="1"/>
          <p:nvPr/>
        </p:nvSpPr>
        <p:spPr>
          <a:xfrm>
            <a:off x="1005840" y="12475718"/>
            <a:ext cx="2386584" cy="365760"/>
          </a:xfrm>
          <a:prstGeom prst="rect">
            <a:avLst/>
          </a:prstGeom>
          <a:noFill/>
        </p:spPr>
        <p:txBody>
          <a:bodyPr wrap="square" lIns="0" rIns="0" tIns="0" bIns="0" anchor="t">
            <a:spAutoFit/>
          </a:bodyPr>
          <a:lstStyle/>
          <a:p>
            <a:pPr algn="l">
              <a:lnSpc>
                <a:spcPct val="108000"/>
              </a:lnSpc>
              <a:spcAft>
                <a:spcPts val="0"/>
              </a:spcAft>
            </a:pPr>
            <a:r>
              <a:rPr sz="2500" b="1" i="0">
                <a:solidFill>
                  <a:srgbClr val="1A1A1A"/>
                </a:solidFill>
                <a:latin typeface="Cambria"/>
              </a:rPr>
              <a:t>Niger </a:t>
            </a:r>
          </a:p>
          <a:p>
            <a:pPr algn="l">
              <a:lnSpc>
                <a:spcPct val="108000"/>
              </a:lnSpc>
              <a:spcAft>
                <a:spcPts val="0"/>
              </a:spcAft>
            </a:pPr>
            <a:r>
              <a:rPr sz="2500" b="1" i="0">
                <a:solidFill>
                  <a:srgbClr val="B07C1F"/>
                </a:solidFill>
                <a:latin typeface="Cambria"/>
              </a:rPr>
              <a:t>+1.93</a:t>
            </a:r>
          </a:p>
        </p:txBody>
      </p:sp>
      <p:sp>
        <p:nvSpPr>
          <p:cNvPr id="41" name="TextBox 40"/>
          <p:cNvSpPr txBox="1"/>
          <p:nvPr/>
        </p:nvSpPr>
        <p:spPr>
          <a:xfrm>
            <a:off x="3456432" y="12475718"/>
            <a:ext cx="2386584" cy="365760"/>
          </a:xfrm>
          <a:prstGeom prst="rect">
            <a:avLst/>
          </a:prstGeom>
          <a:noFill/>
        </p:spPr>
        <p:txBody>
          <a:bodyPr wrap="square" lIns="0" rIns="0" tIns="0" bIns="0" anchor="t">
            <a:spAutoFit/>
          </a:bodyPr>
          <a:lstStyle/>
          <a:p>
            <a:pPr algn="l">
              <a:lnSpc>
                <a:spcPct val="108000"/>
              </a:lnSpc>
              <a:spcAft>
                <a:spcPts val="0"/>
              </a:spcAft>
            </a:pPr>
            <a:r>
              <a:rPr sz="2500" b="1" i="0">
                <a:solidFill>
                  <a:srgbClr val="1A1A1A"/>
                </a:solidFill>
                <a:latin typeface="Cambria"/>
              </a:rPr>
              <a:t>Nigeria </a:t>
            </a:r>
          </a:p>
          <a:p>
            <a:pPr algn="l">
              <a:lnSpc>
                <a:spcPct val="108000"/>
              </a:lnSpc>
              <a:spcAft>
                <a:spcPts val="0"/>
              </a:spcAft>
            </a:pPr>
            <a:r>
              <a:rPr sz="2500" b="1" i="0">
                <a:solidFill>
                  <a:srgbClr val="B07C1F"/>
                </a:solidFill>
                <a:latin typeface="Cambria"/>
              </a:rPr>
              <a:t>+1.55</a:t>
            </a:r>
          </a:p>
        </p:txBody>
      </p:sp>
      <p:sp>
        <p:nvSpPr>
          <p:cNvPr id="42" name="TextBox 41"/>
          <p:cNvSpPr txBox="1"/>
          <p:nvPr/>
        </p:nvSpPr>
        <p:spPr>
          <a:xfrm>
            <a:off x="5907023" y="12475718"/>
            <a:ext cx="2386584" cy="365760"/>
          </a:xfrm>
          <a:prstGeom prst="rect">
            <a:avLst/>
          </a:prstGeom>
          <a:noFill/>
        </p:spPr>
        <p:txBody>
          <a:bodyPr wrap="square" lIns="0" rIns="0" tIns="0" bIns="0" anchor="t">
            <a:spAutoFit/>
          </a:bodyPr>
          <a:lstStyle/>
          <a:p>
            <a:pPr algn="l">
              <a:lnSpc>
                <a:spcPct val="108000"/>
              </a:lnSpc>
              <a:spcAft>
                <a:spcPts val="0"/>
              </a:spcAft>
            </a:pPr>
            <a:r>
              <a:rPr sz="2500" b="1" i="0">
                <a:solidFill>
                  <a:srgbClr val="1A1A1A"/>
                </a:solidFill>
                <a:latin typeface="Cambria"/>
              </a:rPr>
              <a:t>Chad </a:t>
            </a:r>
          </a:p>
          <a:p>
            <a:pPr algn="l">
              <a:lnSpc>
                <a:spcPct val="108000"/>
              </a:lnSpc>
              <a:spcAft>
                <a:spcPts val="0"/>
              </a:spcAft>
            </a:pPr>
            <a:r>
              <a:rPr sz="2500" b="1" i="0">
                <a:solidFill>
                  <a:srgbClr val="B07C1F"/>
                </a:solidFill>
                <a:latin typeface="Cambria"/>
              </a:rPr>
              <a:t>+1.46</a:t>
            </a:r>
          </a:p>
        </p:txBody>
      </p:sp>
      <p:sp>
        <p:nvSpPr>
          <p:cNvPr id="43" name="TextBox 42"/>
          <p:cNvSpPr txBox="1"/>
          <p:nvPr/>
        </p:nvSpPr>
        <p:spPr>
          <a:xfrm>
            <a:off x="8357615" y="12475718"/>
            <a:ext cx="2386584" cy="365760"/>
          </a:xfrm>
          <a:prstGeom prst="rect">
            <a:avLst/>
          </a:prstGeom>
          <a:noFill/>
        </p:spPr>
        <p:txBody>
          <a:bodyPr wrap="square" lIns="0" rIns="0" tIns="0" bIns="0" anchor="t">
            <a:spAutoFit/>
          </a:bodyPr>
          <a:lstStyle/>
          <a:p>
            <a:pPr algn="l">
              <a:lnSpc>
                <a:spcPct val="108000"/>
              </a:lnSpc>
              <a:spcAft>
                <a:spcPts val="0"/>
              </a:spcAft>
            </a:pPr>
            <a:r>
              <a:rPr sz="2500" b="1" i="0">
                <a:solidFill>
                  <a:srgbClr val="1A1A1A"/>
                </a:solidFill>
                <a:latin typeface="Cambria"/>
              </a:rPr>
              <a:t>Mali </a:t>
            </a:r>
          </a:p>
          <a:p>
            <a:pPr algn="l">
              <a:lnSpc>
                <a:spcPct val="108000"/>
              </a:lnSpc>
              <a:spcAft>
                <a:spcPts val="0"/>
              </a:spcAft>
            </a:pPr>
            <a:r>
              <a:rPr sz="2500" b="1" i="0">
                <a:solidFill>
                  <a:srgbClr val="B07C1F"/>
                </a:solidFill>
                <a:latin typeface="Cambria"/>
              </a:rPr>
              <a:t>+1.41</a:t>
            </a:r>
          </a:p>
        </p:txBody>
      </p:sp>
      <p:pic>
        <p:nvPicPr>
          <p:cNvPr id="44" name="Picture 43" descr="warm-row.jpg"/>
          <p:cNvPicPr>
            <a:picLocks noChangeAspect="1"/>
          </p:cNvPicPr>
          <p:nvPr/>
        </p:nvPicPr>
        <p:blipFill>
          <a:blip r:embed="rId2"/>
          <a:stretch>
            <a:fillRect/>
          </a:stretch>
        </p:blipFill>
        <p:spPr>
          <a:xfrm>
            <a:off x="1005840" y="12841477"/>
            <a:ext cx="9738360" cy="1607370"/>
          </a:xfrm>
          <a:prstGeom prst="rect">
            <a:avLst/>
          </a:prstGeom>
        </p:spPr>
      </p:pic>
      <p:sp>
        <p:nvSpPr>
          <p:cNvPr id="45" name="TextBox 44"/>
          <p:cNvSpPr txBox="1"/>
          <p:nvPr/>
        </p:nvSpPr>
        <p:spPr>
          <a:xfrm>
            <a:off x="11201400" y="12128246"/>
            <a:ext cx="9738360" cy="310896"/>
          </a:xfrm>
          <a:prstGeom prst="rect">
            <a:avLst/>
          </a:prstGeom>
          <a:noFill/>
        </p:spPr>
        <p:txBody>
          <a:bodyPr wrap="square" lIns="0" rIns="0" tIns="0" bIns="0" anchor="t">
            <a:spAutoFit/>
          </a:bodyPr>
          <a:lstStyle/>
          <a:p>
            <a:pPr algn="l">
              <a:lnSpc>
                <a:spcPct val="108000"/>
              </a:lnSpc>
              <a:spcAft>
                <a:spcPts val="0"/>
              </a:spcAft>
            </a:pPr>
            <a:r>
              <a:rPr sz="2100" b="1" i="0">
                <a:solidFill>
                  <a:srgbClr val="2F6CA8"/>
                </a:solidFill>
                <a:latin typeface="Calibri"/>
              </a:rPr>
              <a:t>THE FOUR IT DRAWS COOLEST</a:t>
            </a:r>
          </a:p>
        </p:txBody>
      </p:sp>
      <p:sp>
        <p:nvSpPr>
          <p:cNvPr id="46" name="TextBox 45"/>
          <p:cNvSpPr txBox="1"/>
          <p:nvPr/>
        </p:nvSpPr>
        <p:spPr>
          <a:xfrm>
            <a:off x="11201400" y="12475718"/>
            <a:ext cx="2386584" cy="365760"/>
          </a:xfrm>
          <a:prstGeom prst="rect">
            <a:avLst/>
          </a:prstGeom>
          <a:noFill/>
        </p:spPr>
        <p:txBody>
          <a:bodyPr wrap="square" lIns="0" rIns="0" tIns="0" bIns="0" anchor="t">
            <a:spAutoFit/>
          </a:bodyPr>
          <a:lstStyle/>
          <a:p>
            <a:pPr algn="l">
              <a:lnSpc>
                <a:spcPct val="108000"/>
              </a:lnSpc>
              <a:spcAft>
                <a:spcPts val="0"/>
              </a:spcAft>
            </a:pPr>
            <a:r>
              <a:rPr sz="2500" b="1" i="0">
                <a:solidFill>
                  <a:srgbClr val="1A1A1A"/>
                </a:solidFill>
                <a:latin typeface="Cambria"/>
              </a:rPr>
              <a:t>Norway </a:t>
            </a:r>
          </a:p>
          <a:p>
            <a:pPr algn="l">
              <a:lnSpc>
                <a:spcPct val="108000"/>
              </a:lnSpc>
              <a:spcAft>
                <a:spcPts val="0"/>
              </a:spcAft>
            </a:pPr>
            <a:r>
              <a:rPr sz="2500" b="1" i="0">
                <a:solidFill>
                  <a:srgbClr val="2F6CA8"/>
                </a:solidFill>
                <a:latin typeface="Cambria"/>
              </a:rPr>
              <a:t>−1.83</a:t>
            </a:r>
          </a:p>
        </p:txBody>
      </p:sp>
      <p:sp>
        <p:nvSpPr>
          <p:cNvPr id="47" name="TextBox 46"/>
          <p:cNvSpPr txBox="1"/>
          <p:nvPr/>
        </p:nvSpPr>
        <p:spPr>
          <a:xfrm>
            <a:off x="13651992" y="12475718"/>
            <a:ext cx="2386584" cy="365760"/>
          </a:xfrm>
          <a:prstGeom prst="rect">
            <a:avLst/>
          </a:prstGeom>
          <a:noFill/>
        </p:spPr>
        <p:txBody>
          <a:bodyPr wrap="square" lIns="0" rIns="0" tIns="0" bIns="0" anchor="t">
            <a:spAutoFit/>
          </a:bodyPr>
          <a:lstStyle/>
          <a:p>
            <a:pPr algn="l">
              <a:lnSpc>
                <a:spcPct val="108000"/>
              </a:lnSpc>
              <a:spcAft>
                <a:spcPts val="0"/>
              </a:spcAft>
            </a:pPr>
            <a:r>
              <a:rPr sz="2500" b="1" i="0">
                <a:solidFill>
                  <a:srgbClr val="1A1A1A"/>
                </a:solidFill>
                <a:latin typeface="Cambria"/>
              </a:rPr>
              <a:t>Australia </a:t>
            </a:r>
          </a:p>
          <a:p>
            <a:pPr algn="l">
              <a:lnSpc>
                <a:spcPct val="108000"/>
              </a:lnSpc>
              <a:spcAft>
                <a:spcPts val="0"/>
              </a:spcAft>
            </a:pPr>
            <a:r>
              <a:rPr sz="2500" b="1" i="0">
                <a:solidFill>
                  <a:srgbClr val="2F6CA8"/>
                </a:solidFill>
                <a:latin typeface="Cambria"/>
              </a:rPr>
              <a:t>−1.73</a:t>
            </a:r>
          </a:p>
        </p:txBody>
      </p:sp>
      <p:sp>
        <p:nvSpPr>
          <p:cNvPr id="48" name="TextBox 47"/>
          <p:cNvSpPr txBox="1"/>
          <p:nvPr/>
        </p:nvSpPr>
        <p:spPr>
          <a:xfrm>
            <a:off x="16102584" y="12475718"/>
            <a:ext cx="2386584" cy="365760"/>
          </a:xfrm>
          <a:prstGeom prst="rect">
            <a:avLst/>
          </a:prstGeom>
          <a:noFill/>
        </p:spPr>
        <p:txBody>
          <a:bodyPr wrap="square" lIns="0" rIns="0" tIns="0" bIns="0" anchor="t">
            <a:spAutoFit/>
          </a:bodyPr>
          <a:lstStyle/>
          <a:p>
            <a:pPr algn="l">
              <a:lnSpc>
                <a:spcPct val="108000"/>
              </a:lnSpc>
              <a:spcAft>
                <a:spcPts val="0"/>
              </a:spcAft>
            </a:pPr>
            <a:r>
              <a:rPr sz="2500" b="1" i="0">
                <a:solidFill>
                  <a:srgbClr val="1A1A1A"/>
                </a:solidFill>
                <a:latin typeface="Cambria"/>
              </a:rPr>
              <a:t>Costa Rica </a:t>
            </a:r>
          </a:p>
          <a:p>
            <a:pPr algn="l">
              <a:lnSpc>
                <a:spcPct val="108000"/>
              </a:lnSpc>
              <a:spcAft>
                <a:spcPts val="0"/>
              </a:spcAft>
            </a:pPr>
            <a:r>
              <a:rPr sz="2500" b="1" i="0">
                <a:solidFill>
                  <a:srgbClr val="2F6CA8"/>
                </a:solidFill>
                <a:latin typeface="Cambria"/>
              </a:rPr>
              <a:t>−1.39</a:t>
            </a:r>
          </a:p>
        </p:txBody>
      </p:sp>
      <p:sp>
        <p:nvSpPr>
          <p:cNvPr id="49" name="TextBox 48"/>
          <p:cNvSpPr txBox="1"/>
          <p:nvPr/>
        </p:nvSpPr>
        <p:spPr>
          <a:xfrm>
            <a:off x="18553176" y="12475718"/>
            <a:ext cx="2386584" cy="365760"/>
          </a:xfrm>
          <a:prstGeom prst="rect">
            <a:avLst/>
          </a:prstGeom>
          <a:noFill/>
        </p:spPr>
        <p:txBody>
          <a:bodyPr wrap="square" lIns="0" rIns="0" tIns="0" bIns="0" anchor="t">
            <a:spAutoFit/>
          </a:bodyPr>
          <a:lstStyle/>
          <a:p>
            <a:pPr algn="l">
              <a:lnSpc>
                <a:spcPct val="108000"/>
              </a:lnSpc>
              <a:spcAft>
                <a:spcPts val="0"/>
              </a:spcAft>
            </a:pPr>
            <a:r>
              <a:rPr sz="2500" b="1" i="0">
                <a:solidFill>
                  <a:srgbClr val="1A1A1A"/>
                </a:solidFill>
                <a:latin typeface="Cambria"/>
              </a:rPr>
              <a:t>South Africa </a:t>
            </a:r>
          </a:p>
          <a:p>
            <a:pPr algn="l">
              <a:lnSpc>
                <a:spcPct val="108000"/>
              </a:lnSpc>
              <a:spcAft>
                <a:spcPts val="0"/>
              </a:spcAft>
            </a:pPr>
            <a:r>
              <a:rPr sz="2500" b="1" i="0">
                <a:solidFill>
                  <a:srgbClr val="2F6CA8"/>
                </a:solidFill>
                <a:latin typeface="Cambria"/>
              </a:rPr>
              <a:t>−1.38</a:t>
            </a:r>
          </a:p>
        </p:txBody>
      </p:sp>
      <p:pic>
        <p:nvPicPr>
          <p:cNvPr id="50" name="Picture 49" descr="cool-row.jpg"/>
          <p:cNvPicPr>
            <a:picLocks noChangeAspect="1"/>
          </p:cNvPicPr>
          <p:nvPr/>
        </p:nvPicPr>
        <p:blipFill>
          <a:blip r:embed="rId3"/>
          <a:stretch>
            <a:fillRect/>
          </a:stretch>
        </p:blipFill>
        <p:spPr>
          <a:xfrm>
            <a:off x="11201400" y="12841477"/>
            <a:ext cx="9738360" cy="1607370"/>
          </a:xfrm>
          <a:prstGeom prst="rect">
            <a:avLst/>
          </a:prstGeom>
        </p:spPr>
      </p:pic>
      <p:sp>
        <p:nvSpPr>
          <p:cNvPr id="51" name="TextBox 50"/>
          <p:cNvSpPr txBox="1"/>
          <p:nvPr/>
        </p:nvSpPr>
        <p:spPr>
          <a:xfrm>
            <a:off x="1005840" y="14613440"/>
            <a:ext cx="19933920" cy="693420"/>
          </a:xfrm>
          <a:prstGeom prst="rect">
            <a:avLst/>
          </a:prstGeom>
          <a:noFill/>
        </p:spPr>
        <p:txBody>
          <a:bodyPr wrap="square" lIns="0" rIns="0" tIns="0" bIns="0" anchor="t">
            <a:spAutoFit/>
          </a:bodyPr>
          <a:lstStyle/>
          <a:p>
            <a:pPr algn="l">
              <a:lnSpc>
                <a:spcPct val="128000"/>
              </a:lnSpc>
              <a:spcAft>
                <a:spcPts val="0"/>
              </a:spcAft>
            </a:pPr>
            <a:r>
              <a:rPr sz="2100" b="1" i="0">
                <a:solidFill>
                  <a:srgbClr val="1A1A1A"/>
                </a:solidFill>
                <a:latin typeface="Calibri"/>
              </a:rPr>
              <a:t>What you are looking at  </a:t>
            </a:r>
          </a:p>
          <a:p>
            <a:pPr algn="l">
              <a:lnSpc>
                <a:spcPct val="128000"/>
              </a:lnSpc>
              <a:spcAft>
                <a:spcPts val="0"/>
              </a:spcAft>
            </a:pPr>
            <a:r>
              <a:rPr sz="2100" b="0" i="0">
                <a:solidFill>
                  <a:srgbClr val="5F6670"/>
                </a:solidFill>
                <a:latin typeface="Calibri"/>
              </a:rPr>
              <a:t>Image 1 of every prompt uses the same seed, so all eight start from identical noise and the street recedes the same way. The only difference is the country named. Figures are standard deviations from the average country.</a:t>
            </a:r>
          </a:p>
        </p:txBody>
      </p:sp>
      <p:sp>
        <p:nvSpPr>
          <p:cNvPr id="52" name="TextBox 51"/>
          <p:cNvSpPr txBox="1"/>
          <p:nvPr/>
        </p:nvSpPr>
        <p:spPr>
          <a:xfrm>
            <a:off x="1005840" y="15645188"/>
            <a:ext cx="384048" cy="384048"/>
          </a:xfrm>
          <a:prstGeom prst="rect">
            <a:avLst/>
          </a:prstGeom>
          <a:noFill/>
        </p:spPr>
        <p:txBody>
          <a:bodyPr wrap="square" lIns="0" rIns="0" tIns="0" bIns="0" anchor="t">
            <a:spAutoFit/>
          </a:bodyPr>
          <a:lstStyle/>
          <a:p>
            <a:pPr algn="l">
              <a:lnSpc>
                <a:spcPct val="108000"/>
              </a:lnSpc>
              <a:spcAft>
                <a:spcPts val="0"/>
              </a:spcAft>
            </a:pPr>
            <a:r>
              <a:rPr sz="2100" b="0" i="0">
                <a:solidFill>
                  <a:srgbClr val="B07C1F"/>
                </a:solidFill>
                <a:latin typeface="Calibri"/>
              </a:rPr>
              <a:t>●</a:t>
            </a:r>
          </a:p>
        </p:txBody>
      </p:sp>
      <p:sp>
        <p:nvSpPr>
          <p:cNvPr id="53" name="TextBox 52"/>
          <p:cNvSpPr txBox="1"/>
          <p:nvPr/>
        </p:nvSpPr>
        <p:spPr>
          <a:xfrm>
            <a:off x="1463040" y="15617756"/>
            <a:ext cx="9098280" cy="429260"/>
          </a:xfrm>
          <a:prstGeom prst="rect">
            <a:avLst/>
          </a:prstGeom>
          <a:noFill/>
        </p:spPr>
        <p:txBody>
          <a:bodyPr wrap="square" lIns="0" rIns="0" tIns="0" bIns="0" anchor="t">
            <a:spAutoFit/>
          </a:bodyPr>
          <a:lstStyle/>
          <a:p>
            <a:pPr algn="l">
              <a:lnSpc>
                <a:spcPct val="108000"/>
              </a:lnSpc>
              <a:spcAft>
                <a:spcPts val="0"/>
              </a:spcAft>
            </a:pPr>
            <a:r>
              <a:rPr sz="2600" b="1" i="0">
                <a:solidFill>
                  <a:srgbClr val="1A1A1A"/>
                </a:solidFill>
                <a:latin typeface="Cambria"/>
              </a:rPr>
              <a:t>It really does grade countries</a:t>
            </a:r>
          </a:p>
        </p:txBody>
      </p:sp>
      <p:sp>
        <p:nvSpPr>
          <p:cNvPr id="54" name="TextBox 53"/>
          <p:cNvSpPr txBox="1"/>
          <p:nvPr/>
        </p:nvSpPr>
        <p:spPr>
          <a:xfrm>
            <a:off x="1463040" y="16101880"/>
            <a:ext cx="9098280" cy="379729"/>
          </a:xfrm>
          <a:prstGeom prst="rect">
            <a:avLst/>
          </a:prstGeom>
          <a:noFill/>
        </p:spPr>
        <p:txBody>
          <a:bodyPr wrap="square" lIns="0" rIns="0" tIns="0" bIns="0" anchor="t">
            <a:spAutoFit/>
          </a:bodyPr>
          <a:lstStyle/>
          <a:p>
            <a:pPr algn="l">
              <a:lnSpc>
                <a:spcPct val="128000"/>
              </a:lnSpc>
              <a:spcAft>
                <a:spcPts val="0"/>
              </a:spcAft>
            </a:pPr>
            <a:r>
              <a:rPr sz="2300" b="0" i="0">
                <a:solidFill>
                  <a:srgbClr val="5F6670"/>
                </a:solidFill>
                <a:latin typeface="Calibri"/>
              </a:rPr>
              <a:t>53 of 60 beat its own no-country default. Norway alone is cooler.</a:t>
            </a:r>
          </a:p>
        </p:txBody>
      </p:sp>
      <p:sp>
        <p:nvSpPr>
          <p:cNvPr id="55" name="TextBox 54"/>
          <p:cNvSpPr txBox="1"/>
          <p:nvPr/>
        </p:nvSpPr>
        <p:spPr>
          <a:xfrm>
            <a:off x="11384280" y="15645188"/>
            <a:ext cx="384048" cy="384048"/>
          </a:xfrm>
          <a:prstGeom prst="rect">
            <a:avLst/>
          </a:prstGeom>
          <a:noFill/>
        </p:spPr>
        <p:txBody>
          <a:bodyPr wrap="square" lIns="0" rIns="0" tIns="0" bIns="0" anchor="t">
            <a:spAutoFit/>
          </a:bodyPr>
          <a:lstStyle/>
          <a:p>
            <a:pPr algn="l">
              <a:lnSpc>
                <a:spcPct val="108000"/>
              </a:lnSpc>
              <a:spcAft>
                <a:spcPts val="0"/>
              </a:spcAft>
            </a:pPr>
            <a:r>
              <a:rPr sz="2100" b="0" i="0">
                <a:solidFill>
                  <a:srgbClr val="B07C1F"/>
                </a:solidFill>
                <a:latin typeface="Calibri"/>
              </a:rPr>
              <a:t>●</a:t>
            </a:r>
          </a:p>
        </p:txBody>
      </p:sp>
      <p:sp>
        <p:nvSpPr>
          <p:cNvPr id="56" name="TextBox 55"/>
          <p:cNvSpPr txBox="1"/>
          <p:nvPr/>
        </p:nvSpPr>
        <p:spPr>
          <a:xfrm>
            <a:off x="11841480" y="15617756"/>
            <a:ext cx="9098280" cy="429260"/>
          </a:xfrm>
          <a:prstGeom prst="rect">
            <a:avLst/>
          </a:prstGeom>
          <a:noFill/>
        </p:spPr>
        <p:txBody>
          <a:bodyPr wrap="square" lIns="0" rIns="0" tIns="0" bIns="0" anchor="t">
            <a:spAutoFit/>
          </a:bodyPr>
          <a:lstStyle/>
          <a:p>
            <a:pPr algn="l">
              <a:lnSpc>
                <a:spcPct val="108000"/>
              </a:lnSpc>
              <a:spcAft>
                <a:spcPts val="0"/>
              </a:spcAft>
            </a:pPr>
            <a:r>
              <a:rPr sz="2600" b="1" i="0">
                <a:solidFill>
                  <a:srgbClr val="1A1A1A"/>
                </a:solidFill>
                <a:latin typeface="Cambria"/>
              </a:rPr>
              <a:t>But not the poor ones — the dry ones</a:t>
            </a:r>
          </a:p>
        </p:txBody>
      </p:sp>
      <p:sp>
        <p:nvSpPr>
          <p:cNvPr id="57" name="TextBox 56"/>
          <p:cNvSpPr txBox="1"/>
          <p:nvPr/>
        </p:nvSpPr>
        <p:spPr>
          <a:xfrm>
            <a:off x="11841480" y="16101880"/>
            <a:ext cx="9098280" cy="379729"/>
          </a:xfrm>
          <a:prstGeom prst="rect">
            <a:avLst/>
          </a:prstGeom>
          <a:noFill/>
        </p:spPr>
        <p:txBody>
          <a:bodyPr wrap="square" lIns="0" rIns="0" tIns="0" bIns="0" anchor="t">
            <a:spAutoFit/>
          </a:bodyPr>
          <a:lstStyle/>
          <a:p>
            <a:pPr algn="l">
              <a:lnSpc>
                <a:spcPct val="128000"/>
              </a:lnSpc>
              <a:spcAft>
                <a:spcPts val="0"/>
              </a:spcAft>
            </a:pPr>
            <a:r>
              <a:rPr sz="2300" b="0" i="0">
                <a:solidFill>
                  <a:srgbClr val="5F6670"/>
                </a:solidFill>
                <a:latin typeface="Calibri"/>
              </a:rPr>
              <a:t>Saudi Arabia and Kuwait are high-income and near the top.</a:t>
            </a:r>
          </a:p>
        </p:txBody>
      </p:sp>
      <p:sp>
        <p:nvSpPr>
          <p:cNvPr id="58" name="TextBox 57"/>
          <p:cNvSpPr txBox="1"/>
          <p:nvPr/>
        </p:nvSpPr>
        <p:spPr>
          <a:xfrm>
            <a:off x="1005840" y="16728498"/>
            <a:ext cx="384048" cy="384048"/>
          </a:xfrm>
          <a:prstGeom prst="rect">
            <a:avLst/>
          </a:prstGeom>
          <a:noFill/>
        </p:spPr>
        <p:txBody>
          <a:bodyPr wrap="square" lIns="0" rIns="0" tIns="0" bIns="0" anchor="t">
            <a:spAutoFit/>
          </a:bodyPr>
          <a:lstStyle/>
          <a:p>
            <a:pPr algn="l">
              <a:lnSpc>
                <a:spcPct val="108000"/>
              </a:lnSpc>
              <a:spcAft>
                <a:spcPts val="0"/>
              </a:spcAft>
            </a:pPr>
            <a:r>
              <a:rPr sz="2100" b="0" i="0">
                <a:solidFill>
                  <a:srgbClr val="B07C1F"/>
                </a:solidFill>
                <a:latin typeface="Calibri"/>
              </a:rPr>
              <a:t>●</a:t>
            </a:r>
          </a:p>
        </p:txBody>
      </p:sp>
      <p:sp>
        <p:nvSpPr>
          <p:cNvPr id="59" name="TextBox 58"/>
          <p:cNvSpPr txBox="1"/>
          <p:nvPr/>
        </p:nvSpPr>
        <p:spPr>
          <a:xfrm>
            <a:off x="1463040" y="16701066"/>
            <a:ext cx="9098280" cy="429260"/>
          </a:xfrm>
          <a:prstGeom prst="rect">
            <a:avLst/>
          </a:prstGeom>
          <a:noFill/>
        </p:spPr>
        <p:txBody>
          <a:bodyPr wrap="square" lIns="0" rIns="0" tIns="0" bIns="0" anchor="t">
            <a:spAutoFit/>
          </a:bodyPr>
          <a:lstStyle/>
          <a:p>
            <a:pPr algn="l">
              <a:lnSpc>
                <a:spcPct val="108000"/>
              </a:lnSpc>
              <a:spcAft>
                <a:spcPts val="0"/>
              </a:spcAft>
            </a:pPr>
            <a:r>
              <a:rPr sz="2600" b="1" i="0">
                <a:solidFill>
                  <a:srgbClr val="1A1A1A"/>
                </a:solidFill>
                <a:latin typeface="Cambria"/>
              </a:rPr>
              <a:t>Income looks real until climate is held constant</a:t>
            </a:r>
          </a:p>
        </p:txBody>
      </p:sp>
      <p:sp>
        <p:nvSpPr>
          <p:cNvPr id="60" name="TextBox 59"/>
          <p:cNvSpPr txBox="1"/>
          <p:nvPr/>
        </p:nvSpPr>
        <p:spPr>
          <a:xfrm>
            <a:off x="1463040" y="17185190"/>
            <a:ext cx="9098280" cy="379729"/>
          </a:xfrm>
          <a:prstGeom prst="rect">
            <a:avLst/>
          </a:prstGeom>
          <a:noFill/>
        </p:spPr>
        <p:txBody>
          <a:bodyPr wrap="square" lIns="0" rIns="0" tIns="0" bIns="0" anchor="t">
            <a:spAutoFit/>
          </a:bodyPr>
          <a:lstStyle/>
          <a:p>
            <a:pPr algn="l">
              <a:lnSpc>
                <a:spcPct val="128000"/>
              </a:lnSpc>
              <a:spcAft>
                <a:spcPts val="0"/>
              </a:spcAft>
            </a:pPr>
            <a:r>
              <a:rPr sz="2300" b="0" i="0">
                <a:solidFill>
                  <a:srgbClr val="5F6670"/>
                </a:solidFill>
                <a:latin typeface="Calibri"/>
              </a:rPr>
              <a:t>d = +0.72 (p = .018) falls to +0.52, no better than chance.</a:t>
            </a:r>
          </a:p>
        </p:txBody>
      </p:sp>
      <p:sp>
        <p:nvSpPr>
          <p:cNvPr id="61" name="TextBox 60"/>
          <p:cNvSpPr txBox="1"/>
          <p:nvPr/>
        </p:nvSpPr>
        <p:spPr>
          <a:xfrm>
            <a:off x="11384280" y="16728498"/>
            <a:ext cx="384048" cy="384048"/>
          </a:xfrm>
          <a:prstGeom prst="rect">
            <a:avLst/>
          </a:prstGeom>
          <a:noFill/>
        </p:spPr>
        <p:txBody>
          <a:bodyPr wrap="square" lIns="0" rIns="0" tIns="0" bIns="0" anchor="t">
            <a:spAutoFit/>
          </a:bodyPr>
          <a:lstStyle/>
          <a:p>
            <a:pPr algn="l">
              <a:lnSpc>
                <a:spcPct val="108000"/>
              </a:lnSpc>
              <a:spcAft>
                <a:spcPts val="0"/>
              </a:spcAft>
            </a:pPr>
            <a:r>
              <a:rPr sz="2100" b="0" i="0">
                <a:solidFill>
                  <a:srgbClr val="B07C1F"/>
                </a:solidFill>
                <a:latin typeface="Calibri"/>
              </a:rPr>
              <a:t>●</a:t>
            </a:r>
          </a:p>
        </p:txBody>
      </p:sp>
      <p:sp>
        <p:nvSpPr>
          <p:cNvPr id="62" name="TextBox 61"/>
          <p:cNvSpPr txBox="1"/>
          <p:nvPr/>
        </p:nvSpPr>
        <p:spPr>
          <a:xfrm>
            <a:off x="11841480" y="16701066"/>
            <a:ext cx="9098280" cy="429260"/>
          </a:xfrm>
          <a:prstGeom prst="rect">
            <a:avLst/>
          </a:prstGeom>
          <a:noFill/>
        </p:spPr>
        <p:txBody>
          <a:bodyPr wrap="square" lIns="0" rIns="0" tIns="0" bIns="0" anchor="t">
            <a:spAutoFit/>
          </a:bodyPr>
          <a:lstStyle/>
          <a:p>
            <a:pPr algn="l">
              <a:lnSpc>
                <a:spcPct val="108000"/>
              </a:lnSpc>
              <a:spcAft>
                <a:spcPts val="0"/>
              </a:spcAft>
            </a:pPr>
            <a:r>
              <a:rPr sz="2600" b="1" i="0">
                <a:solidFill>
                  <a:srgbClr val="1A1A1A"/>
                </a:solidFill>
                <a:latin typeface="Cambria"/>
              </a:rPr>
              <a:t>Latitude was the wrong confound</a:t>
            </a:r>
          </a:p>
        </p:txBody>
      </p:sp>
      <p:sp>
        <p:nvSpPr>
          <p:cNvPr id="63" name="TextBox 62"/>
          <p:cNvSpPr txBox="1"/>
          <p:nvPr/>
        </p:nvSpPr>
        <p:spPr>
          <a:xfrm>
            <a:off x="11841480" y="17185190"/>
            <a:ext cx="9098280" cy="379729"/>
          </a:xfrm>
          <a:prstGeom prst="rect">
            <a:avLst/>
          </a:prstGeom>
          <a:noFill/>
        </p:spPr>
        <p:txBody>
          <a:bodyPr wrap="square" lIns="0" rIns="0" tIns="0" bIns="0" anchor="t">
            <a:spAutoFit/>
          </a:bodyPr>
          <a:lstStyle/>
          <a:p>
            <a:pPr algn="l">
              <a:lnSpc>
                <a:spcPct val="128000"/>
              </a:lnSpc>
              <a:spcAft>
                <a:spcPts val="0"/>
              </a:spcAft>
            </a:pPr>
            <a:r>
              <a:rPr sz="2300" b="0" i="0">
                <a:solidFill>
                  <a:srgbClr val="5F6670"/>
                </a:solidFill>
                <a:latin typeface="Calibri"/>
              </a:rPr>
              <a:t>It accounts for 5%. Forest cover accounts for 30%.</a:t>
            </a:r>
          </a:p>
        </p:txBody>
      </p:sp>
      <p:sp>
        <p:nvSpPr>
          <p:cNvPr id="64" name="TextBox 63"/>
          <p:cNvSpPr txBox="1"/>
          <p:nvPr/>
        </p:nvSpPr>
        <p:spPr>
          <a:xfrm>
            <a:off x="1005840" y="17811808"/>
            <a:ext cx="384048" cy="384048"/>
          </a:xfrm>
          <a:prstGeom prst="rect">
            <a:avLst/>
          </a:prstGeom>
          <a:noFill/>
        </p:spPr>
        <p:txBody>
          <a:bodyPr wrap="square" lIns="0" rIns="0" tIns="0" bIns="0" anchor="t">
            <a:spAutoFit/>
          </a:bodyPr>
          <a:lstStyle/>
          <a:p>
            <a:pPr algn="l">
              <a:lnSpc>
                <a:spcPct val="108000"/>
              </a:lnSpc>
              <a:spcAft>
                <a:spcPts val="0"/>
              </a:spcAft>
            </a:pPr>
            <a:r>
              <a:rPr sz="2100" b="0" i="0">
                <a:solidFill>
                  <a:srgbClr val="B07C1F"/>
                </a:solidFill>
                <a:latin typeface="Calibri"/>
              </a:rPr>
              <a:t>●</a:t>
            </a:r>
          </a:p>
        </p:txBody>
      </p:sp>
      <p:sp>
        <p:nvSpPr>
          <p:cNvPr id="65" name="TextBox 64"/>
          <p:cNvSpPr txBox="1"/>
          <p:nvPr/>
        </p:nvSpPr>
        <p:spPr>
          <a:xfrm>
            <a:off x="1463040" y="17784376"/>
            <a:ext cx="9098280" cy="429260"/>
          </a:xfrm>
          <a:prstGeom prst="rect">
            <a:avLst/>
          </a:prstGeom>
          <a:noFill/>
        </p:spPr>
        <p:txBody>
          <a:bodyPr wrap="square" lIns="0" rIns="0" tIns="0" bIns="0" anchor="t">
            <a:spAutoFit/>
          </a:bodyPr>
          <a:lstStyle/>
          <a:p>
            <a:pPr algn="l">
              <a:lnSpc>
                <a:spcPct val="108000"/>
              </a:lnSpc>
              <a:spcAft>
                <a:spcPts val="0"/>
              </a:spcAft>
            </a:pPr>
            <a:r>
              <a:rPr sz="2600" b="1" i="0">
                <a:solidFill>
                  <a:srgbClr val="1A1A1A"/>
                </a:solidFill>
                <a:latin typeface="Cambria"/>
              </a:rPr>
              <a:t>Asia survives everything</a:t>
            </a:r>
          </a:p>
        </p:txBody>
      </p:sp>
      <p:sp>
        <p:nvSpPr>
          <p:cNvPr id="66" name="TextBox 65"/>
          <p:cNvSpPr txBox="1"/>
          <p:nvPr/>
        </p:nvSpPr>
        <p:spPr>
          <a:xfrm>
            <a:off x="1463040" y="18268500"/>
            <a:ext cx="9098280" cy="759459"/>
          </a:xfrm>
          <a:prstGeom prst="rect">
            <a:avLst/>
          </a:prstGeom>
          <a:noFill/>
        </p:spPr>
        <p:txBody>
          <a:bodyPr wrap="square" lIns="0" rIns="0" tIns="0" bIns="0" anchor="t">
            <a:spAutoFit/>
          </a:bodyPr>
          <a:lstStyle/>
          <a:p>
            <a:pPr algn="l">
              <a:lnSpc>
                <a:spcPct val="128000"/>
              </a:lnSpc>
              <a:spcAft>
                <a:spcPts val="0"/>
              </a:spcAft>
            </a:pPr>
            <a:r>
              <a:rPr sz="2300" b="0" i="0">
                <a:solidFill>
                  <a:srgbClr val="5F6670"/>
                </a:solidFill>
                <a:latin typeface="Calibri"/>
              </a:rPr>
              <a:t>+0.73 (p = .011) after every control, in all six kinds of place. Africa's gap vanishes.</a:t>
            </a:r>
          </a:p>
        </p:txBody>
      </p:sp>
      <p:sp>
        <p:nvSpPr>
          <p:cNvPr id="67" name="TextBox 66"/>
          <p:cNvSpPr txBox="1"/>
          <p:nvPr/>
        </p:nvSpPr>
        <p:spPr>
          <a:xfrm>
            <a:off x="1005840" y="19521736"/>
            <a:ext cx="9555480" cy="429260"/>
          </a:xfrm>
          <a:prstGeom prst="rect">
            <a:avLst/>
          </a:prstGeom>
          <a:noFill/>
        </p:spPr>
        <p:txBody>
          <a:bodyPr wrap="square" lIns="0" rIns="0" tIns="0" bIns="0" anchor="t">
            <a:spAutoFit/>
          </a:bodyPr>
          <a:lstStyle/>
          <a:p>
            <a:pPr algn="l">
              <a:lnSpc>
                <a:spcPct val="108000"/>
              </a:lnSpc>
              <a:spcAft>
                <a:spcPts val="0"/>
              </a:spcAft>
            </a:pPr>
            <a:r>
              <a:rPr sz="2600" b="1" i="0">
                <a:solidFill>
                  <a:srgbClr val="1A1A1A"/>
                </a:solidFill>
                <a:latin typeface="Cambria"/>
              </a:rPr>
              <a:t>Every country, coloured by how the model paints it</a:t>
            </a:r>
          </a:p>
        </p:txBody>
      </p:sp>
      <p:pic>
        <p:nvPicPr>
          <p:cNvPr id="68" name="Picture 67" descr="world-map.png"/>
          <p:cNvPicPr>
            <a:picLocks noChangeAspect="1"/>
          </p:cNvPicPr>
          <p:nvPr/>
        </p:nvPicPr>
        <p:blipFill>
          <a:blip r:embed="rId4"/>
          <a:stretch>
            <a:fillRect/>
          </a:stretch>
        </p:blipFill>
        <p:spPr>
          <a:xfrm>
            <a:off x="1005840" y="20060724"/>
            <a:ext cx="8549640" cy="3617922"/>
          </a:xfrm>
          <a:prstGeom prst="rect">
            <a:avLst/>
          </a:prstGeom>
        </p:spPr>
      </p:pic>
      <p:sp>
        <p:nvSpPr>
          <p:cNvPr id="69" name="TextBox 68"/>
          <p:cNvSpPr txBox="1"/>
          <p:nvPr/>
        </p:nvSpPr>
        <p:spPr>
          <a:xfrm>
            <a:off x="1005840" y="23733511"/>
            <a:ext cx="9555480" cy="346710"/>
          </a:xfrm>
          <a:prstGeom prst="rect">
            <a:avLst/>
          </a:prstGeom>
          <a:noFill/>
        </p:spPr>
        <p:txBody>
          <a:bodyPr wrap="square" lIns="0" rIns="0" tIns="0" bIns="0" anchor="t">
            <a:spAutoFit/>
          </a:bodyPr>
          <a:lstStyle/>
          <a:p>
            <a:pPr algn="l">
              <a:lnSpc>
                <a:spcPct val="128000"/>
              </a:lnSpc>
              <a:spcAft>
                <a:spcPts val="0"/>
              </a:spcAft>
            </a:pPr>
            <a:r>
              <a:rPr sz="2100" b="0" i="0">
                <a:solidFill>
                  <a:srgbClr val="5F6670"/>
                </a:solidFill>
                <a:latin typeface="Calibri"/>
              </a:rPr>
              <a:t>Amber: warmer than average. Blue: cooler. Pale: not in this run.</a:t>
            </a:r>
          </a:p>
        </p:txBody>
      </p:sp>
      <p:sp>
        <p:nvSpPr>
          <p:cNvPr id="70" name="TextBox 69"/>
          <p:cNvSpPr txBox="1"/>
          <p:nvPr/>
        </p:nvSpPr>
        <p:spPr>
          <a:xfrm>
            <a:off x="11384280" y="19521736"/>
            <a:ext cx="9555480" cy="429260"/>
          </a:xfrm>
          <a:prstGeom prst="rect">
            <a:avLst/>
          </a:prstGeom>
          <a:noFill/>
        </p:spPr>
        <p:txBody>
          <a:bodyPr wrap="square" lIns="0" rIns="0" tIns="0" bIns="0" anchor="t">
            <a:spAutoFit/>
          </a:bodyPr>
          <a:lstStyle/>
          <a:p>
            <a:pPr algn="l">
              <a:lnSpc>
                <a:spcPct val="108000"/>
              </a:lnSpc>
              <a:spcAft>
                <a:spcPts val="0"/>
              </a:spcAft>
            </a:pPr>
            <a:r>
              <a:rPr sz="2600" b="1" i="0">
                <a:solidFill>
                  <a:srgbClr val="1A1A1A"/>
                </a:solidFill>
                <a:latin typeface="Cambria"/>
              </a:rPr>
              <a:t>What accounts for the warmth</a:t>
            </a:r>
          </a:p>
        </p:txBody>
      </p:sp>
      <p:sp>
        <p:nvSpPr>
          <p:cNvPr id="71" name="TextBox 70"/>
          <p:cNvSpPr txBox="1"/>
          <p:nvPr/>
        </p:nvSpPr>
        <p:spPr>
          <a:xfrm>
            <a:off x="11384280" y="20207028"/>
            <a:ext cx="3840480" cy="365760"/>
          </a:xfrm>
          <a:prstGeom prst="rect">
            <a:avLst/>
          </a:prstGeom>
          <a:noFill/>
        </p:spPr>
        <p:txBody>
          <a:bodyPr wrap="square" lIns="0" rIns="0" tIns="0" bIns="0" anchor="t">
            <a:spAutoFit/>
          </a:bodyPr>
          <a:lstStyle/>
          <a:p>
            <a:pPr algn="l">
              <a:lnSpc>
                <a:spcPct val="108000"/>
              </a:lnSpc>
              <a:spcAft>
                <a:spcPts val="0"/>
              </a:spcAft>
            </a:pPr>
            <a:r>
              <a:rPr sz="2300" b="0" i="0">
                <a:solidFill>
                  <a:srgbClr val="1A1A1A"/>
                </a:solidFill>
                <a:latin typeface="Calibri"/>
              </a:rPr>
              <a:t>forest cover</a:t>
            </a:r>
          </a:p>
        </p:txBody>
      </p:sp>
      <p:sp>
        <p:nvSpPr>
          <p:cNvPr id="72" name="Rounded Rectangle 71"/>
          <p:cNvSpPr/>
          <p:nvPr/>
        </p:nvSpPr>
        <p:spPr>
          <a:xfrm>
            <a:off x="15224760" y="20188740"/>
            <a:ext cx="4434840" cy="329184"/>
          </a:xfrm>
          <a:prstGeom prst="roundRect">
            <a:avLst>
              <a:gd name="adj" fmla="val 30000"/>
            </a:avLst>
          </a:prstGeom>
          <a:solidFill>
            <a:srgbClr val="B07C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9805904" y="20170452"/>
            <a:ext cx="1097280" cy="420624"/>
          </a:xfrm>
          <a:prstGeom prst="rect">
            <a:avLst/>
          </a:prstGeom>
          <a:noFill/>
        </p:spPr>
        <p:txBody>
          <a:bodyPr wrap="square" lIns="0" rIns="0" tIns="0" bIns="0" anchor="t">
            <a:spAutoFit/>
          </a:bodyPr>
          <a:lstStyle/>
          <a:p>
            <a:pPr algn="l">
              <a:lnSpc>
                <a:spcPct val="108000"/>
              </a:lnSpc>
              <a:spcAft>
                <a:spcPts val="0"/>
              </a:spcAft>
            </a:pPr>
            <a:r>
              <a:rPr sz="2600" b="1" i="0">
                <a:solidFill>
                  <a:srgbClr val="B07C1F"/>
                </a:solidFill>
                <a:latin typeface="Cambria"/>
              </a:rPr>
              <a:t>30%</a:t>
            </a:r>
          </a:p>
        </p:txBody>
      </p:sp>
      <p:sp>
        <p:nvSpPr>
          <p:cNvPr id="74" name="TextBox 73"/>
          <p:cNvSpPr txBox="1"/>
          <p:nvPr/>
        </p:nvSpPr>
        <p:spPr>
          <a:xfrm>
            <a:off x="11384280" y="20847108"/>
            <a:ext cx="3840480" cy="365760"/>
          </a:xfrm>
          <a:prstGeom prst="rect">
            <a:avLst/>
          </a:prstGeom>
          <a:noFill/>
        </p:spPr>
        <p:txBody>
          <a:bodyPr wrap="square" lIns="0" rIns="0" tIns="0" bIns="0" anchor="t">
            <a:spAutoFit/>
          </a:bodyPr>
          <a:lstStyle/>
          <a:p>
            <a:pPr algn="l">
              <a:lnSpc>
                <a:spcPct val="108000"/>
              </a:lnSpc>
              <a:spcAft>
                <a:spcPts val="0"/>
              </a:spcAft>
            </a:pPr>
            <a:r>
              <a:rPr sz="2300" b="0" i="0">
                <a:solidFill>
                  <a:srgbClr val="1A1A1A"/>
                </a:solidFill>
                <a:latin typeface="Calibri"/>
              </a:rPr>
              <a:t>mean temperature</a:t>
            </a:r>
          </a:p>
        </p:txBody>
      </p:sp>
      <p:sp>
        <p:nvSpPr>
          <p:cNvPr id="75" name="Rounded Rectangle 74"/>
          <p:cNvSpPr/>
          <p:nvPr/>
        </p:nvSpPr>
        <p:spPr>
          <a:xfrm>
            <a:off x="15224760" y="20828820"/>
            <a:ext cx="3695700" cy="329184"/>
          </a:xfrm>
          <a:prstGeom prst="roundRect">
            <a:avLst>
              <a:gd name="adj" fmla="val 30000"/>
            </a:avLst>
          </a:prstGeom>
          <a:solidFill>
            <a:srgbClr val="C9B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9066764" y="20810532"/>
            <a:ext cx="1097280" cy="420624"/>
          </a:xfrm>
          <a:prstGeom prst="rect">
            <a:avLst/>
          </a:prstGeom>
          <a:noFill/>
        </p:spPr>
        <p:txBody>
          <a:bodyPr wrap="square" lIns="0" rIns="0" tIns="0" bIns="0" anchor="t">
            <a:spAutoFit/>
          </a:bodyPr>
          <a:lstStyle/>
          <a:p>
            <a:pPr algn="l">
              <a:lnSpc>
                <a:spcPct val="108000"/>
              </a:lnSpc>
              <a:spcAft>
                <a:spcPts val="0"/>
              </a:spcAft>
            </a:pPr>
            <a:r>
              <a:rPr sz="2600" b="1" i="0">
                <a:solidFill>
                  <a:srgbClr val="5F6670"/>
                </a:solidFill>
                <a:latin typeface="Cambria"/>
              </a:rPr>
              <a:t>25%</a:t>
            </a:r>
          </a:p>
        </p:txBody>
      </p:sp>
      <p:sp>
        <p:nvSpPr>
          <p:cNvPr id="77" name="TextBox 76"/>
          <p:cNvSpPr txBox="1"/>
          <p:nvPr/>
        </p:nvSpPr>
        <p:spPr>
          <a:xfrm>
            <a:off x="11384280" y="21487188"/>
            <a:ext cx="3840480" cy="365760"/>
          </a:xfrm>
          <a:prstGeom prst="rect">
            <a:avLst/>
          </a:prstGeom>
          <a:noFill/>
        </p:spPr>
        <p:txBody>
          <a:bodyPr wrap="square" lIns="0" rIns="0" tIns="0" bIns="0" anchor="t">
            <a:spAutoFit/>
          </a:bodyPr>
          <a:lstStyle/>
          <a:p>
            <a:pPr algn="l">
              <a:lnSpc>
                <a:spcPct val="108000"/>
              </a:lnSpc>
              <a:spcAft>
                <a:spcPts val="0"/>
              </a:spcAft>
            </a:pPr>
            <a:r>
              <a:rPr sz="2300" b="0" i="0">
                <a:solidFill>
                  <a:srgbClr val="1A1A1A"/>
                </a:solidFill>
                <a:latin typeface="Calibri"/>
              </a:rPr>
              <a:t>rainfall</a:t>
            </a:r>
          </a:p>
        </p:txBody>
      </p:sp>
      <p:sp>
        <p:nvSpPr>
          <p:cNvPr id="78" name="Rounded Rectangle 77"/>
          <p:cNvSpPr/>
          <p:nvPr/>
        </p:nvSpPr>
        <p:spPr>
          <a:xfrm>
            <a:off x="15224760" y="21468900"/>
            <a:ext cx="2660904" cy="329184"/>
          </a:xfrm>
          <a:prstGeom prst="roundRect">
            <a:avLst>
              <a:gd name="adj" fmla="val 30000"/>
            </a:avLst>
          </a:prstGeom>
          <a:solidFill>
            <a:srgbClr val="C9B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8031968" y="21450612"/>
            <a:ext cx="1097280" cy="420624"/>
          </a:xfrm>
          <a:prstGeom prst="rect">
            <a:avLst/>
          </a:prstGeom>
          <a:noFill/>
        </p:spPr>
        <p:txBody>
          <a:bodyPr wrap="square" lIns="0" rIns="0" tIns="0" bIns="0" anchor="t">
            <a:spAutoFit/>
          </a:bodyPr>
          <a:lstStyle/>
          <a:p>
            <a:pPr algn="l">
              <a:lnSpc>
                <a:spcPct val="108000"/>
              </a:lnSpc>
              <a:spcAft>
                <a:spcPts val="0"/>
              </a:spcAft>
            </a:pPr>
            <a:r>
              <a:rPr sz="2600" b="1" i="0">
                <a:solidFill>
                  <a:srgbClr val="5F6670"/>
                </a:solidFill>
                <a:latin typeface="Cambria"/>
              </a:rPr>
              <a:t>18%</a:t>
            </a:r>
          </a:p>
        </p:txBody>
      </p:sp>
      <p:sp>
        <p:nvSpPr>
          <p:cNvPr id="80" name="TextBox 79"/>
          <p:cNvSpPr txBox="1"/>
          <p:nvPr/>
        </p:nvSpPr>
        <p:spPr>
          <a:xfrm>
            <a:off x="11384280" y="22127268"/>
            <a:ext cx="3840480" cy="365760"/>
          </a:xfrm>
          <a:prstGeom prst="rect">
            <a:avLst/>
          </a:prstGeom>
          <a:noFill/>
        </p:spPr>
        <p:txBody>
          <a:bodyPr wrap="square" lIns="0" rIns="0" tIns="0" bIns="0" anchor="t">
            <a:spAutoFit/>
          </a:bodyPr>
          <a:lstStyle/>
          <a:p>
            <a:pPr algn="l">
              <a:lnSpc>
                <a:spcPct val="108000"/>
              </a:lnSpc>
              <a:spcAft>
                <a:spcPts val="0"/>
              </a:spcAft>
            </a:pPr>
            <a:r>
              <a:rPr sz="2300" b="0" i="0">
                <a:solidFill>
                  <a:srgbClr val="1A1A1A"/>
                </a:solidFill>
                <a:latin typeface="Calibri"/>
              </a:rPr>
              <a:t>latitude</a:t>
            </a:r>
          </a:p>
        </p:txBody>
      </p:sp>
      <p:sp>
        <p:nvSpPr>
          <p:cNvPr id="81" name="Rounded Rectangle 80"/>
          <p:cNvSpPr/>
          <p:nvPr/>
        </p:nvSpPr>
        <p:spPr>
          <a:xfrm>
            <a:off x="15224760" y="22108980"/>
            <a:ext cx="739140" cy="329184"/>
          </a:xfrm>
          <a:prstGeom prst="roundRect">
            <a:avLst>
              <a:gd name="adj" fmla="val 30000"/>
            </a:avLst>
          </a:prstGeom>
          <a:solidFill>
            <a:srgbClr val="C9B6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16110204" y="22090692"/>
            <a:ext cx="1097280" cy="420624"/>
          </a:xfrm>
          <a:prstGeom prst="rect">
            <a:avLst/>
          </a:prstGeom>
          <a:noFill/>
        </p:spPr>
        <p:txBody>
          <a:bodyPr wrap="square" lIns="0" rIns="0" tIns="0" bIns="0" anchor="t">
            <a:spAutoFit/>
          </a:bodyPr>
          <a:lstStyle/>
          <a:p>
            <a:pPr algn="l">
              <a:lnSpc>
                <a:spcPct val="108000"/>
              </a:lnSpc>
              <a:spcAft>
                <a:spcPts val="0"/>
              </a:spcAft>
            </a:pPr>
            <a:r>
              <a:rPr sz="2600" b="1" i="0">
                <a:solidFill>
                  <a:srgbClr val="5F6670"/>
                </a:solidFill>
                <a:latin typeface="Cambria"/>
              </a:rPr>
              <a:t>5%</a:t>
            </a:r>
          </a:p>
        </p:txBody>
      </p:sp>
      <p:sp>
        <p:nvSpPr>
          <p:cNvPr id="83" name="TextBox 82"/>
          <p:cNvSpPr txBox="1"/>
          <p:nvPr/>
        </p:nvSpPr>
        <p:spPr>
          <a:xfrm>
            <a:off x="11384280" y="22785636"/>
            <a:ext cx="9555480" cy="693420"/>
          </a:xfrm>
          <a:prstGeom prst="rect">
            <a:avLst/>
          </a:prstGeom>
          <a:noFill/>
        </p:spPr>
        <p:txBody>
          <a:bodyPr wrap="square" lIns="0" rIns="0" tIns="0" bIns="0" anchor="t">
            <a:spAutoFit/>
          </a:bodyPr>
          <a:lstStyle/>
          <a:p>
            <a:pPr algn="l">
              <a:lnSpc>
                <a:spcPct val="128000"/>
              </a:lnSpc>
              <a:spcAft>
                <a:spcPts val="0"/>
              </a:spcAft>
            </a:pPr>
            <a:r>
              <a:rPr sz="2100" b="0" i="0">
                <a:solidFill>
                  <a:srgbClr val="5F6670"/>
                </a:solidFill>
                <a:latin typeface="Calibri"/>
              </a:rPr>
              <a:t>What each rival explanation accounts for alone. Latitude — the confound the country list was built to defeat — was the wrong one.</a:t>
            </a:r>
          </a:p>
        </p:txBody>
      </p:sp>
      <p:sp>
        <p:nvSpPr>
          <p:cNvPr id="84" name="Rectangle 83"/>
          <p:cNvSpPr/>
          <p:nvPr/>
        </p:nvSpPr>
        <p:spPr>
          <a:xfrm>
            <a:off x="1005840" y="24135085"/>
            <a:ext cx="19933920" cy="12801"/>
          </a:xfrm>
          <a:prstGeom prst="rect">
            <a:avLst/>
          </a:prstGeom>
          <a:solidFill>
            <a:srgbClr val="D8D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1005840" y="24372829"/>
            <a:ext cx="19933920" cy="594360"/>
          </a:xfrm>
          <a:prstGeom prst="rect">
            <a:avLst/>
          </a:prstGeom>
          <a:noFill/>
        </p:spPr>
        <p:txBody>
          <a:bodyPr wrap="square" lIns="0" rIns="0" tIns="0" bIns="0" anchor="t">
            <a:spAutoFit/>
          </a:bodyPr>
          <a:lstStyle/>
          <a:p>
            <a:pPr algn="l">
              <a:lnSpc>
                <a:spcPct val="108000"/>
              </a:lnSpc>
              <a:spcAft>
                <a:spcPts val="0"/>
              </a:spcAft>
            </a:pPr>
            <a:r>
              <a:rPr sz="3600" b="1" i="0">
                <a:solidFill>
                  <a:srgbClr val="1A1A1A"/>
                </a:solidFill>
                <a:latin typeface="Cambria"/>
              </a:rPr>
              <a:t>What it means</a:t>
            </a:r>
          </a:p>
        </p:txBody>
      </p:sp>
      <p:sp>
        <p:nvSpPr>
          <p:cNvPr id="86" name="TextBox 85"/>
          <p:cNvSpPr txBox="1"/>
          <p:nvPr/>
        </p:nvSpPr>
        <p:spPr>
          <a:xfrm>
            <a:off x="1005840" y="25122637"/>
            <a:ext cx="384048" cy="384048"/>
          </a:xfrm>
          <a:prstGeom prst="rect">
            <a:avLst/>
          </a:prstGeom>
          <a:noFill/>
        </p:spPr>
        <p:txBody>
          <a:bodyPr wrap="square" lIns="0" rIns="0" tIns="0" bIns="0" anchor="t">
            <a:spAutoFit/>
          </a:bodyPr>
          <a:lstStyle/>
          <a:p>
            <a:pPr algn="l">
              <a:lnSpc>
                <a:spcPct val="108000"/>
              </a:lnSpc>
              <a:spcAft>
                <a:spcPts val="0"/>
              </a:spcAft>
            </a:pPr>
            <a:r>
              <a:rPr sz="2100" b="0" i="0">
                <a:solidFill>
                  <a:srgbClr val="B07C1F"/>
                </a:solidFill>
                <a:latin typeface="Calibri"/>
              </a:rPr>
              <a:t>●</a:t>
            </a:r>
          </a:p>
        </p:txBody>
      </p:sp>
      <p:sp>
        <p:nvSpPr>
          <p:cNvPr id="87" name="TextBox 86"/>
          <p:cNvSpPr txBox="1"/>
          <p:nvPr/>
        </p:nvSpPr>
        <p:spPr>
          <a:xfrm>
            <a:off x="1463040" y="25095205"/>
            <a:ext cx="9098280" cy="429260"/>
          </a:xfrm>
          <a:prstGeom prst="rect">
            <a:avLst/>
          </a:prstGeom>
          <a:noFill/>
        </p:spPr>
        <p:txBody>
          <a:bodyPr wrap="square" lIns="0" rIns="0" tIns="0" bIns="0" anchor="t">
            <a:spAutoFit/>
          </a:bodyPr>
          <a:lstStyle/>
          <a:p>
            <a:pPr algn="l">
              <a:lnSpc>
                <a:spcPct val="108000"/>
              </a:lnSpc>
              <a:spcAft>
                <a:spcPts val="0"/>
              </a:spcAft>
            </a:pPr>
            <a:r>
              <a:rPr sz="2600" b="1" i="0">
                <a:solidFill>
                  <a:srgbClr val="1A1A1A"/>
                </a:solidFill>
                <a:latin typeface="Cambria"/>
              </a:rPr>
              <a:t>The intuitive claim is wrong</a:t>
            </a:r>
          </a:p>
        </p:txBody>
      </p:sp>
      <p:sp>
        <p:nvSpPr>
          <p:cNvPr id="88" name="TextBox 87"/>
          <p:cNvSpPr txBox="1"/>
          <p:nvPr/>
        </p:nvSpPr>
        <p:spPr>
          <a:xfrm>
            <a:off x="1463040" y="25579329"/>
            <a:ext cx="9098280" cy="759459"/>
          </a:xfrm>
          <a:prstGeom prst="rect">
            <a:avLst/>
          </a:prstGeom>
          <a:noFill/>
        </p:spPr>
        <p:txBody>
          <a:bodyPr wrap="square" lIns="0" rIns="0" tIns="0" bIns="0" anchor="t">
            <a:spAutoFit/>
          </a:bodyPr>
          <a:lstStyle/>
          <a:p>
            <a:pPr algn="l">
              <a:lnSpc>
                <a:spcPct val="128000"/>
              </a:lnSpc>
              <a:spcAft>
                <a:spcPts val="0"/>
              </a:spcAft>
            </a:pPr>
            <a:r>
              <a:rPr sz="2300" b="0" i="0">
                <a:solidFill>
                  <a:srgbClr val="5F6670"/>
                </a:solidFill>
                <a:latin typeface="Calibri"/>
              </a:rPr>
              <a:t>It is not warming poor countries but dry, bare ones — substantially what they look like.</a:t>
            </a:r>
          </a:p>
        </p:txBody>
      </p:sp>
      <p:sp>
        <p:nvSpPr>
          <p:cNvPr id="89" name="TextBox 88"/>
          <p:cNvSpPr txBox="1"/>
          <p:nvPr/>
        </p:nvSpPr>
        <p:spPr>
          <a:xfrm>
            <a:off x="11384280" y="25122637"/>
            <a:ext cx="384048" cy="384048"/>
          </a:xfrm>
          <a:prstGeom prst="rect">
            <a:avLst/>
          </a:prstGeom>
          <a:noFill/>
        </p:spPr>
        <p:txBody>
          <a:bodyPr wrap="square" lIns="0" rIns="0" tIns="0" bIns="0" anchor="t">
            <a:spAutoFit/>
          </a:bodyPr>
          <a:lstStyle/>
          <a:p>
            <a:pPr algn="l">
              <a:lnSpc>
                <a:spcPct val="108000"/>
              </a:lnSpc>
              <a:spcAft>
                <a:spcPts val="0"/>
              </a:spcAft>
            </a:pPr>
            <a:r>
              <a:rPr sz="2100" b="0" i="0">
                <a:solidFill>
                  <a:srgbClr val="B07C1F"/>
                </a:solidFill>
                <a:latin typeface="Calibri"/>
              </a:rPr>
              <a:t>●</a:t>
            </a:r>
          </a:p>
        </p:txBody>
      </p:sp>
      <p:sp>
        <p:nvSpPr>
          <p:cNvPr id="90" name="TextBox 89"/>
          <p:cNvSpPr txBox="1"/>
          <p:nvPr/>
        </p:nvSpPr>
        <p:spPr>
          <a:xfrm>
            <a:off x="11841480" y="25095205"/>
            <a:ext cx="9098280" cy="429260"/>
          </a:xfrm>
          <a:prstGeom prst="rect">
            <a:avLst/>
          </a:prstGeom>
          <a:noFill/>
        </p:spPr>
        <p:txBody>
          <a:bodyPr wrap="square" lIns="0" rIns="0" tIns="0" bIns="0" anchor="t">
            <a:spAutoFit/>
          </a:bodyPr>
          <a:lstStyle/>
          <a:p>
            <a:pPr algn="l">
              <a:lnSpc>
                <a:spcPct val="108000"/>
              </a:lnSpc>
              <a:spcAft>
                <a:spcPts val="0"/>
              </a:spcAft>
            </a:pPr>
            <a:r>
              <a:rPr sz="2600" b="1" i="0">
                <a:solidFill>
                  <a:srgbClr val="1A1A1A"/>
                </a:solidFill>
                <a:latin typeface="Cambria"/>
              </a:rPr>
              <a:t>“Substantially” is not “entirely”</a:t>
            </a:r>
          </a:p>
        </p:txBody>
      </p:sp>
      <p:sp>
        <p:nvSpPr>
          <p:cNvPr id="91" name="TextBox 90"/>
          <p:cNvSpPr txBox="1"/>
          <p:nvPr/>
        </p:nvSpPr>
        <p:spPr>
          <a:xfrm>
            <a:off x="11841480" y="25579329"/>
            <a:ext cx="9098280" cy="759459"/>
          </a:xfrm>
          <a:prstGeom prst="rect">
            <a:avLst/>
          </a:prstGeom>
          <a:noFill/>
        </p:spPr>
        <p:txBody>
          <a:bodyPr wrap="square" lIns="0" rIns="0" tIns="0" bIns="0" anchor="t">
            <a:spAutoFit/>
          </a:bodyPr>
          <a:lstStyle/>
          <a:p>
            <a:pPr algn="l">
              <a:lnSpc>
                <a:spcPct val="128000"/>
              </a:lnSpc>
              <a:spcAft>
                <a:spcPts val="0"/>
              </a:spcAft>
            </a:pPr>
            <a:r>
              <a:rPr sz="2300" b="0" i="0">
                <a:solidFill>
                  <a:srgbClr val="5F6670"/>
                </a:solidFill>
                <a:latin typeface="Calibri"/>
              </a:rPr>
              <a:t>A regional residual outlives every control. North Korea is humid and half forested, and the warmest thing on the map.</a:t>
            </a:r>
          </a:p>
        </p:txBody>
      </p:sp>
      <p:sp>
        <p:nvSpPr>
          <p:cNvPr id="92" name="TextBox 91"/>
          <p:cNvSpPr txBox="1"/>
          <p:nvPr/>
        </p:nvSpPr>
        <p:spPr>
          <a:xfrm>
            <a:off x="1005840" y="26549101"/>
            <a:ext cx="384048" cy="384048"/>
          </a:xfrm>
          <a:prstGeom prst="rect">
            <a:avLst/>
          </a:prstGeom>
          <a:noFill/>
        </p:spPr>
        <p:txBody>
          <a:bodyPr wrap="square" lIns="0" rIns="0" tIns="0" bIns="0" anchor="t">
            <a:spAutoFit/>
          </a:bodyPr>
          <a:lstStyle/>
          <a:p>
            <a:pPr algn="l">
              <a:lnSpc>
                <a:spcPct val="108000"/>
              </a:lnSpc>
              <a:spcAft>
                <a:spcPts val="0"/>
              </a:spcAft>
            </a:pPr>
            <a:r>
              <a:rPr sz="2100" b="0" i="0">
                <a:solidFill>
                  <a:srgbClr val="B07C1F"/>
                </a:solidFill>
                <a:latin typeface="Calibri"/>
              </a:rPr>
              <a:t>●</a:t>
            </a:r>
          </a:p>
        </p:txBody>
      </p:sp>
      <p:sp>
        <p:nvSpPr>
          <p:cNvPr id="93" name="TextBox 92"/>
          <p:cNvSpPr txBox="1"/>
          <p:nvPr/>
        </p:nvSpPr>
        <p:spPr>
          <a:xfrm>
            <a:off x="1463040" y="26521669"/>
            <a:ext cx="9098280" cy="429260"/>
          </a:xfrm>
          <a:prstGeom prst="rect">
            <a:avLst/>
          </a:prstGeom>
          <a:noFill/>
        </p:spPr>
        <p:txBody>
          <a:bodyPr wrap="square" lIns="0" rIns="0" tIns="0" bIns="0" anchor="t">
            <a:spAutoFit/>
          </a:bodyPr>
          <a:lstStyle/>
          <a:p>
            <a:pPr algn="l">
              <a:lnSpc>
                <a:spcPct val="108000"/>
              </a:lnSpc>
              <a:spcAft>
                <a:spcPts val="0"/>
              </a:spcAft>
            </a:pPr>
            <a:r>
              <a:rPr sz="2600" b="1" i="0">
                <a:solidFill>
                  <a:srgbClr val="1A1A1A"/>
                </a:solidFill>
                <a:latin typeface="Cambria"/>
              </a:rPr>
              <a:t>The method mattered more than the result</a:t>
            </a:r>
          </a:p>
        </p:txBody>
      </p:sp>
      <p:sp>
        <p:nvSpPr>
          <p:cNvPr id="94" name="TextBox 93"/>
          <p:cNvSpPr txBox="1"/>
          <p:nvPr/>
        </p:nvSpPr>
        <p:spPr>
          <a:xfrm>
            <a:off x="1463040" y="27005793"/>
            <a:ext cx="9098280" cy="759459"/>
          </a:xfrm>
          <a:prstGeom prst="rect">
            <a:avLst/>
          </a:prstGeom>
          <a:noFill/>
        </p:spPr>
        <p:txBody>
          <a:bodyPr wrap="square" lIns="0" rIns="0" tIns="0" bIns="0" anchor="t">
            <a:spAutoFit/>
          </a:bodyPr>
          <a:lstStyle/>
          <a:p>
            <a:pPr algn="l">
              <a:lnSpc>
                <a:spcPct val="128000"/>
              </a:lnSpc>
              <a:spcAft>
                <a:spcPts val="0"/>
              </a:spcAft>
            </a:pPr>
            <a:r>
              <a:rPr sz="2300" b="0" i="0">
                <a:solidFill>
                  <a:srgbClr val="5F6670"/>
                </a:solidFill>
                <a:latin typeface="Calibri"/>
              </a:rPr>
              <a:t>Naively measured, income was there at p = .018. It did not survive. An audit without that control would have published it.</a:t>
            </a:r>
          </a:p>
        </p:txBody>
      </p:sp>
      <p:sp>
        <p:nvSpPr>
          <p:cNvPr id="95" name="TextBox 94"/>
          <p:cNvSpPr txBox="1"/>
          <p:nvPr/>
        </p:nvSpPr>
        <p:spPr>
          <a:xfrm>
            <a:off x="11384280" y="26549101"/>
            <a:ext cx="384048" cy="384048"/>
          </a:xfrm>
          <a:prstGeom prst="rect">
            <a:avLst/>
          </a:prstGeom>
          <a:noFill/>
        </p:spPr>
        <p:txBody>
          <a:bodyPr wrap="square" lIns="0" rIns="0" tIns="0" bIns="0" anchor="t">
            <a:spAutoFit/>
          </a:bodyPr>
          <a:lstStyle/>
          <a:p>
            <a:pPr algn="l">
              <a:lnSpc>
                <a:spcPct val="108000"/>
              </a:lnSpc>
              <a:spcAft>
                <a:spcPts val="0"/>
              </a:spcAft>
            </a:pPr>
            <a:r>
              <a:rPr sz="2100" b="0" i="0">
                <a:solidFill>
                  <a:srgbClr val="B07C1F"/>
                </a:solidFill>
                <a:latin typeface="Calibri"/>
              </a:rPr>
              <a:t>●</a:t>
            </a:r>
          </a:p>
        </p:txBody>
      </p:sp>
      <p:sp>
        <p:nvSpPr>
          <p:cNvPr id="96" name="TextBox 95"/>
          <p:cNvSpPr txBox="1"/>
          <p:nvPr/>
        </p:nvSpPr>
        <p:spPr>
          <a:xfrm>
            <a:off x="11841480" y="26521669"/>
            <a:ext cx="9098280" cy="429260"/>
          </a:xfrm>
          <a:prstGeom prst="rect">
            <a:avLst/>
          </a:prstGeom>
          <a:noFill/>
        </p:spPr>
        <p:txBody>
          <a:bodyPr wrap="square" lIns="0" rIns="0" tIns="0" bIns="0" anchor="t">
            <a:spAutoFit/>
          </a:bodyPr>
          <a:lstStyle/>
          <a:p>
            <a:pPr algn="l">
              <a:lnSpc>
                <a:spcPct val="108000"/>
              </a:lnSpc>
              <a:spcAft>
                <a:spcPts val="0"/>
              </a:spcAft>
            </a:pPr>
            <a:r>
              <a:rPr sz="2600" b="1" i="0">
                <a:solidFill>
                  <a:srgbClr val="1A1A1A"/>
                </a:solidFill>
                <a:latin typeface="Cambria"/>
              </a:rPr>
              <a:t>A measurement needs a zero</a:t>
            </a:r>
          </a:p>
        </p:txBody>
      </p:sp>
      <p:sp>
        <p:nvSpPr>
          <p:cNvPr id="97" name="TextBox 96"/>
          <p:cNvSpPr txBox="1"/>
          <p:nvPr/>
        </p:nvSpPr>
        <p:spPr>
          <a:xfrm>
            <a:off x="11841480" y="27005793"/>
            <a:ext cx="9098280" cy="759459"/>
          </a:xfrm>
          <a:prstGeom prst="rect">
            <a:avLst/>
          </a:prstGeom>
          <a:noFill/>
        </p:spPr>
        <p:txBody>
          <a:bodyPr wrap="square" lIns="0" rIns="0" tIns="0" bIns="0" anchor="t">
            <a:spAutoFit/>
          </a:bodyPr>
          <a:lstStyle/>
          <a:p>
            <a:pPr algn="l">
              <a:lnSpc>
                <a:spcPct val="128000"/>
              </a:lnSpc>
              <a:spcAft>
                <a:spcPts val="0"/>
              </a:spcAft>
            </a:pPr>
            <a:r>
              <a:rPr sz="2300" b="0" i="0">
                <a:solidFill>
                  <a:srgbClr val="5F6670"/>
                </a:solidFill>
                <a:latin typeface="Calibri"/>
              </a:rPr>
              <a:t>Ranking countries says who is warmest. Only a no-country baseline says whether anyone is warmed at all.</a:t>
            </a:r>
          </a:p>
        </p:txBody>
      </p:sp>
      <p:sp>
        <p:nvSpPr>
          <p:cNvPr id="98" name="Rectangle 97"/>
          <p:cNvSpPr/>
          <p:nvPr/>
        </p:nvSpPr>
        <p:spPr>
          <a:xfrm>
            <a:off x="1005840" y="28021285"/>
            <a:ext cx="19933920" cy="12801"/>
          </a:xfrm>
          <a:prstGeom prst="rect">
            <a:avLst/>
          </a:prstGeom>
          <a:solidFill>
            <a:srgbClr val="D8D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005840" y="28149301"/>
            <a:ext cx="9555480" cy="594360"/>
          </a:xfrm>
          <a:prstGeom prst="rect">
            <a:avLst/>
          </a:prstGeom>
          <a:noFill/>
        </p:spPr>
        <p:txBody>
          <a:bodyPr wrap="square" lIns="0" rIns="0" tIns="0" bIns="0" anchor="t">
            <a:spAutoFit/>
          </a:bodyPr>
          <a:lstStyle/>
          <a:p>
            <a:pPr algn="l">
              <a:lnSpc>
                <a:spcPct val="108000"/>
              </a:lnSpc>
              <a:spcAft>
                <a:spcPts val="0"/>
              </a:spcAft>
            </a:pPr>
            <a:r>
              <a:rPr sz="3600" b="1" i="0">
                <a:solidFill>
                  <a:srgbClr val="1A1A1A"/>
                </a:solidFill>
                <a:latin typeface="Cambria"/>
              </a:rPr>
              <a:t>What is next</a:t>
            </a:r>
          </a:p>
        </p:txBody>
      </p:sp>
      <p:sp>
        <p:nvSpPr>
          <p:cNvPr id="100" name="TextBox 99"/>
          <p:cNvSpPr txBox="1"/>
          <p:nvPr/>
        </p:nvSpPr>
        <p:spPr>
          <a:xfrm>
            <a:off x="11384280" y="28076149"/>
            <a:ext cx="9555480" cy="594360"/>
          </a:xfrm>
          <a:prstGeom prst="rect">
            <a:avLst/>
          </a:prstGeom>
          <a:noFill/>
        </p:spPr>
        <p:txBody>
          <a:bodyPr wrap="square" lIns="0" rIns="0" tIns="0" bIns="0" anchor="t">
            <a:spAutoFit/>
          </a:bodyPr>
          <a:lstStyle/>
          <a:p>
            <a:pPr algn="l">
              <a:lnSpc>
                <a:spcPct val="108000"/>
              </a:lnSpc>
              <a:spcAft>
                <a:spcPts val="0"/>
              </a:spcAft>
            </a:pPr>
            <a:r>
              <a:rPr sz="3600" b="1" i="0">
                <a:solidFill>
                  <a:srgbClr val="1A1A1A"/>
                </a:solidFill>
                <a:latin typeface="Cambria"/>
              </a:rPr>
              <a:t>What it cannot show</a:t>
            </a:r>
          </a:p>
        </p:txBody>
      </p:sp>
      <p:sp>
        <p:nvSpPr>
          <p:cNvPr id="101" name="TextBox 100"/>
          <p:cNvSpPr txBox="1"/>
          <p:nvPr/>
        </p:nvSpPr>
        <p:spPr>
          <a:xfrm>
            <a:off x="1005840" y="28899109"/>
            <a:ext cx="384048" cy="384048"/>
          </a:xfrm>
          <a:prstGeom prst="rect">
            <a:avLst/>
          </a:prstGeom>
          <a:noFill/>
        </p:spPr>
        <p:txBody>
          <a:bodyPr wrap="square" lIns="0" rIns="0" tIns="0" bIns="0" anchor="t">
            <a:spAutoFit/>
          </a:bodyPr>
          <a:lstStyle/>
          <a:p>
            <a:pPr algn="l">
              <a:lnSpc>
                <a:spcPct val="108000"/>
              </a:lnSpc>
              <a:spcAft>
                <a:spcPts val="0"/>
              </a:spcAft>
            </a:pPr>
            <a:r>
              <a:rPr sz="2100" b="0" i="0">
                <a:solidFill>
                  <a:srgbClr val="B07C1F"/>
                </a:solidFill>
                <a:latin typeface="Calibri"/>
              </a:rPr>
              <a:t>●</a:t>
            </a:r>
          </a:p>
        </p:txBody>
      </p:sp>
      <p:sp>
        <p:nvSpPr>
          <p:cNvPr id="102" name="TextBox 101"/>
          <p:cNvSpPr txBox="1"/>
          <p:nvPr/>
        </p:nvSpPr>
        <p:spPr>
          <a:xfrm>
            <a:off x="1463040" y="28871677"/>
            <a:ext cx="9098280" cy="379729"/>
          </a:xfrm>
          <a:prstGeom prst="rect">
            <a:avLst/>
          </a:prstGeom>
          <a:noFill/>
        </p:spPr>
        <p:txBody>
          <a:bodyPr wrap="square" lIns="0" rIns="0" tIns="0" bIns="0" anchor="t">
            <a:spAutoFit/>
          </a:bodyPr>
          <a:lstStyle/>
          <a:p>
            <a:pPr algn="l">
              <a:lnSpc>
                <a:spcPct val="128000"/>
              </a:lnSpc>
              <a:spcAft>
                <a:spcPts val="0"/>
              </a:spcAft>
            </a:pPr>
            <a:r>
              <a:rPr sz="2300" b="0" i="0">
                <a:solidFill>
                  <a:srgbClr val="1A1A1A"/>
                </a:solidFill>
                <a:latin typeface="Calibri"/>
              </a:rPr>
              <a:t>Why Asia? The residual now needs a mechanism.</a:t>
            </a:r>
          </a:p>
        </p:txBody>
      </p:sp>
      <p:sp>
        <p:nvSpPr>
          <p:cNvPr id="103" name="TextBox 102"/>
          <p:cNvSpPr txBox="1"/>
          <p:nvPr/>
        </p:nvSpPr>
        <p:spPr>
          <a:xfrm>
            <a:off x="1005840" y="29406855"/>
            <a:ext cx="384048" cy="384048"/>
          </a:xfrm>
          <a:prstGeom prst="rect">
            <a:avLst/>
          </a:prstGeom>
          <a:noFill/>
        </p:spPr>
        <p:txBody>
          <a:bodyPr wrap="square" lIns="0" rIns="0" tIns="0" bIns="0" anchor="t">
            <a:spAutoFit/>
          </a:bodyPr>
          <a:lstStyle/>
          <a:p>
            <a:pPr algn="l">
              <a:lnSpc>
                <a:spcPct val="108000"/>
              </a:lnSpc>
              <a:spcAft>
                <a:spcPts val="0"/>
              </a:spcAft>
            </a:pPr>
            <a:r>
              <a:rPr sz="2100" b="0" i="0">
                <a:solidFill>
                  <a:srgbClr val="B07C1F"/>
                </a:solidFill>
                <a:latin typeface="Calibri"/>
              </a:rPr>
              <a:t>●</a:t>
            </a:r>
          </a:p>
        </p:txBody>
      </p:sp>
      <p:sp>
        <p:nvSpPr>
          <p:cNvPr id="104" name="TextBox 103"/>
          <p:cNvSpPr txBox="1"/>
          <p:nvPr/>
        </p:nvSpPr>
        <p:spPr>
          <a:xfrm>
            <a:off x="1463040" y="29379423"/>
            <a:ext cx="9098280" cy="759459"/>
          </a:xfrm>
          <a:prstGeom prst="rect">
            <a:avLst/>
          </a:prstGeom>
          <a:noFill/>
        </p:spPr>
        <p:txBody>
          <a:bodyPr wrap="square" lIns="0" rIns="0" tIns="0" bIns="0" anchor="t">
            <a:spAutoFit/>
          </a:bodyPr>
          <a:lstStyle/>
          <a:p>
            <a:pPr algn="l">
              <a:lnSpc>
                <a:spcPct val="128000"/>
              </a:lnSpc>
              <a:spcAft>
                <a:spcPts val="0"/>
              </a:spcAft>
            </a:pPr>
            <a:r>
              <a:rPr sz="2300" b="0" i="0">
                <a:solidFill>
                  <a:srgbClr val="1A1A1A"/>
                </a:solidFill>
                <a:latin typeface="Calibri"/>
              </a:rPr>
              <a:t>A better climate measure — four country averages leave 54% unexplained.</a:t>
            </a:r>
          </a:p>
        </p:txBody>
      </p:sp>
      <p:sp>
        <p:nvSpPr>
          <p:cNvPr id="105" name="TextBox 104"/>
          <p:cNvSpPr txBox="1"/>
          <p:nvPr/>
        </p:nvSpPr>
        <p:spPr>
          <a:xfrm>
            <a:off x="1005840" y="30294331"/>
            <a:ext cx="384048" cy="384048"/>
          </a:xfrm>
          <a:prstGeom prst="rect">
            <a:avLst/>
          </a:prstGeom>
          <a:noFill/>
        </p:spPr>
        <p:txBody>
          <a:bodyPr wrap="square" lIns="0" rIns="0" tIns="0" bIns="0" anchor="t">
            <a:spAutoFit/>
          </a:bodyPr>
          <a:lstStyle/>
          <a:p>
            <a:pPr algn="l">
              <a:lnSpc>
                <a:spcPct val="108000"/>
              </a:lnSpc>
              <a:spcAft>
                <a:spcPts val="0"/>
              </a:spcAft>
            </a:pPr>
            <a:r>
              <a:rPr sz="2100" b="0" i="0">
                <a:solidFill>
                  <a:srgbClr val="B07C1F"/>
                </a:solidFill>
                <a:latin typeface="Calibri"/>
              </a:rPr>
              <a:t>●</a:t>
            </a:r>
          </a:p>
        </p:txBody>
      </p:sp>
      <p:sp>
        <p:nvSpPr>
          <p:cNvPr id="106" name="TextBox 105"/>
          <p:cNvSpPr txBox="1"/>
          <p:nvPr/>
        </p:nvSpPr>
        <p:spPr>
          <a:xfrm>
            <a:off x="1463040" y="30266899"/>
            <a:ext cx="9098280" cy="759459"/>
          </a:xfrm>
          <a:prstGeom prst="rect">
            <a:avLst/>
          </a:prstGeom>
          <a:noFill/>
        </p:spPr>
        <p:txBody>
          <a:bodyPr wrap="square" lIns="0" rIns="0" tIns="0" bIns="0" anchor="t">
            <a:spAutoFit/>
          </a:bodyPr>
          <a:lstStyle/>
          <a:p>
            <a:pPr algn="l">
              <a:lnSpc>
                <a:spcPct val="128000"/>
              </a:lnSpc>
              <a:spcAft>
                <a:spcPts val="0"/>
              </a:spcAft>
            </a:pPr>
            <a:r>
              <a:rPr sz="2300" b="0" i="0">
                <a:solidFill>
                  <a:srgbClr val="1A1A1A"/>
                </a:solidFill>
                <a:latin typeface="Calibri"/>
              </a:rPr>
              <a:t>Other models and languages: this is one model's habit, not the industry's.</a:t>
            </a:r>
          </a:p>
        </p:txBody>
      </p:sp>
      <p:sp>
        <p:nvSpPr>
          <p:cNvPr id="107" name="TextBox 106"/>
          <p:cNvSpPr txBox="1"/>
          <p:nvPr/>
        </p:nvSpPr>
        <p:spPr>
          <a:xfrm>
            <a:off x="1005840" y="31181807"/>
            <a:ext cx="384048" cy="384048"/>
          </a:xfrm>
          <a:prstGeom prst="rect">
            <a:avLst/>
          </a:prstGeom>
          <a:noFill/>
        </p:spPr>
        <p:txBody>
          <a:bodyPr wrap="square" lIns="0" rIns="0" tIns="0" bIns="0" anchor="t">
            <a:spAutoFit/>
          </a:bodyPr>
          <a:lstStyle/>
          <a:p>
            <a:pPr algn="l">
              <a:lnSpc>
                <a:spcPct val="108000"/>
              </a:lnSpc>
              <a:spcAft>
                <a:spcPts val="0"/>
              </a:spcAft>
            </a:pPr>
            <a:r>
              <a:rPr sz="2100" b="0" i="0">
                <a:solidFill>
                  <a:srgbClr val="B07C1F"/>
                </a:solidFill>
                <a:latin typeface="Calibri"/>
              </a:rPr>
              <a:t>●</a:t>
            </a:r>
          </a:p>
        </p:txBody>
      </p:sp>
      <p:sp>
        <p:nvSpPr>
          <p:cNvPr id="108" name="TextBox 107"/>
          <p:cNvSpPr txBox="1"/>
          <p:nvPr/>
        </p:nvSpPr>
        <p:spPr>
          <a:xfrm>
            <a:off x="1463040" y="31154375"/>
            <a:ext cx="9098280" cy="379729"/>
          </a:xfrm>
          <a:prstGeom prst="rect">
            <a:avLst/>
          </a:prstGeom>
          <a:noFill/>
        </p:spPr>
        <p:txBody>
          <a:bodyPr wrap="square" lIns="0" rIns="0" tIns="0" bIns="0" anchor="t">
            <a:spAutoFit/>
          </a:bodyPr>
          <a:lstStyle/>
          <a:p>
            <a:pPr algn="l">
              <a:lnSpc>
                <a:spcPct val="128000"/>
              </a:lnSpc>
              <a:spcAft>
                <a:spcPts val="0"/>
              </a:spcAft>
            </a:pPr>
            <a:r>
              <a:rPr sz="2300" b="0" i="0">
                <a:solidFill>
                  <a:srgbClr val="1A1A1A"/>
                </a:solidFill>
                <a:latin typeface="Calibri"/>
              </a:rPr>
              <a:t>Content, not just colour: who is in frame and what they are doing.</a:t>
            </a:r>
          </a:p>
        </p:txBody>
      </p:sp>
      <p:sp>
        <p:nvSpPr>
          <p:cNvPr id="109" name="TextBox 108"/>
          <p:cNvSpPr txBox="1"/>
          <p:nvPr/>
        </p:nvSpPr>
        <p:spPr>
          <a:xfrm>
            <a:off x="11384280" y="28871677"/>
            <a:ext cx="9555480" cy="1518919"/>
          </a:xfrm>
          <a:prstGeom prst="rect">
            <a:avLst/>
          </a:prstGeom>
          <a:noFill/>
        </p:spPr>
        <p:txBody>
          <a:bodyPr wrap="square" lIns="0" rIns="0" tIns="0" bIns="0" anchor="t">
            <a:spAutoFit/>
          </a:bodyPr>
          <a:lstStyle/>
          <a:p>
            <a:pPr algn="l">
              <a:lnSpc>
                <a:spcPct val="128000"/>
              </a:lnSpc>
              <a:spcAft>
                <a:spcPts val="0"/>
              </a:spcAft>
            </a:pPr>
            <a:r>
              <a:rPr sz="2300" b="0" i="0">
                <a:solidFill>
                  <a:srgbClr val="5F6670"/>
                </a:solidFill>
                <a:latin typeface="Calibri"/>
              </a:rPr>
              <a:t>Straight-line controls on four country averages cannot separate a stereotype from a climate, only say whether a pattern needs more than climate to describe it. 18 comparisons per metric: lean on the strongest results only.</a:t>
            </a:r>
          </a:p>
        </p:txBody>
      </p:sp>
      <p:sp>
        <p:nvSpPr>
          <p:cNvPr id="110" name="Rectangle 109"/>
          <p:cNvSpPr/>
          <p:nvPr/>
        </p:nvSpPr>
        <p:spPr>
          <a:xfrm>
            <a:off x="1005840" y="31881577"/>
            <a:ext cx="19933920" cy="12801"/>
          </a:xfrm>
          <a:prstGeom prst="rect">
            <a:avLst/>
          </a:prstGeom>
          <a:solidFill>
            <a:srgbClr val="D8D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005840" y="32046169"/>
            <a:ext cx="19933920" cy="384048"/>
          </a:xfrm>
          <a:prstGeom prst="rect">
            <a:avLst/>
          </a:prstGeom>
          <a:noFill/>
        </p:spPr>
        <p:txBody>
          <a:bodyPr wrap="square" lIns="0" rIns="0" tIns="0" bIns="0" anchor="t">
            <a:spAutoFit/>
          </a:bodyPr>
          <a:lstStyle/>
          <a:p>
            <a:pPr algn="l">
              <a:lnSpc>
                <a:spcPct val="108000"/>
              </a:lnSpc>
              <a:spcAft>
                <a:spcPts val="0"/>
              </a:spcAft>
            </a:pPr>
            <a:r>
              <a:rPr sz="2200" b="0" i="0">
                <a:solidFill>
                  <a:srgbClr val="5F6670"/>
                </a:solidFill>
                <a:latin typeface="Calibri"/>
              </a:rPr>
              <a:t>Every prompt, image and measurement — github.com/haydn-s/blurred-lens  ·  flux-schnell on Replicate, one pinned version  ·  October 2026  ·  $185 of compute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