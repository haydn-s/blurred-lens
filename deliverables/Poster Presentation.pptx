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219456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005840"/>
            <a:ext cx="19933920" cy="1463040"/>
          </a:xfrm>
          <a:prstGeom prst="rect">
            <a:avLst/>
          </a:prstGeom>
          <a:noFill/>
        </p:spPr>
        <p:txBody>
          <a:bodyPr wrap="square" lIns="0" rIns="0" tIns="0" bIns="0" anchor="t">
            <a:spAutoFit/>
          </a:bodyPr>
          <a:lstStyle/>
          <a:p>
            <a:pPr algn="l">
              <a:lnSpc>
                <a:spcPct val="92000"/>
              </a:lnSpc>
              <a:spcAft>
                <a:spcPts val="0"/>
              </a:spcAft>
            </a:pPr>
            <a:r>
              <a:rPr sz="11200" b="1" i="0">
                <a:solidFill>
                  <a:srgbClr val="1A1A1A"/>
                </a:solidFill>
                <a:latin typeface="Cambria"/>
              </a:rPr>
              <a:t>Blurred Lens</a:t>
            </a:r>
          </a:p>
        </p:txBody>
      </p:sp>
      <p:sp>
        <p:nvSpPr>
          <p:cNvPr id="3" name="TextBox 2"/>
          <p:cNvSpPr txBox="1"/>
          <p:nvPr/>
        </p:nvSpPr>
        <p:spPr>
          <a:xfrm>
            <a:off x="1005840" y="2450592"/>
            <a:ext cx="18653760" cy="1234440"/>
          </a:xfrm>
          <a:prstGeom prst="rect">
            <a:avLst/>
          </a:prstGeom>
          <a:noFill/>
        </p:spPr>
        <p:txBody>
          <a:bodyPr wrap="square" lIns="0" rIns="0" tIns="0" bIns="0" anchor="t">
            <a:spAutoFit/>
          </a:bodyPr>
          <a:lstStyle/>
          <a:p>
            <a:pPr algn="l">
              <a:lnSpc>
                <a:spcPct val="120000"/>
              </a:lnSpc>
              <a:spcAft>
                <a:spcPts val="0"/>
              </a:spcAft>
            </a:pPr>
            <a:r>
              <a:rPr sz="2800" b="0" i="1">
                <a:solidFill>
                  <a:srgbClr val="5F6670"/>
                </a:solidFill>
                <a:latin typeface="Cambria"/>
              </a:rPr>
              <a:t>Does an AI image model picture poorer countries in warmer colour? 61,488 images say it pictures  drier  ones that way — and draws Asia warmer than its climate accounts for.</a:t>
            </a:r>
          </a:p>
        </p:txBody>
      </p:sp>
      <p:sp>
        <p:nvSpPr>
          <p:cNvPr id="4" name="TextBox 3"/>
          <p:cNvSpPr txBox="1"/>
          <p:nvPr/>
        </p:nvSpPr>
        <p:spPr>
          <a:xfrm>
            <a:off x="1005840" y="3712464"/>
            <a:ext cx="19933920" cy="292608"/>
          </a:xfrm>
          <a:prstGeom prst="rect">
            <a:avLst/>
          </a:prstGeom>
          <a:noFill/>
        </p:spPr>
        <p:txBody>
          <a:bodyPr wrap="square" lIns="0" rIns="0" tIns="0" bIns="0" anchor="t">
            <a:spAutoFit/>
          </a:bodyPr>
          <a:lstStyle/>
          <a:p>
            <a:pPr algn="l">
              <a:lnSpc>
                <a:spcPct val="108000"/>
              </a:lnSpc>
              <a:spcAft>
                <a:spcPts val="0"/>
              </a:spcAft>
            </a:pPr>
            <a:r>
              <a:rPr sz="1800" b="0" i="0">
                <a:solidFill>
                  <a:srgbClr val="5F6670"/>
                </a:solidFill>
                <a:latin typeface="Calibri"/>
              </a:rPr>
              <a:t>Haydn Stucker  ·  AIPI 590: Explainable AI  ·  Duke University</a:t>
            </a:r>
          </a:p>
        </p:txBody>
      </p:sp>
      <p:sp>
        <p:nvSpPr>
          <p:cNvPr id="5" name="Rectangle 4"/>
          <p:cNvSpPr/>
          <p:nvPr/>
        </p:nvSpPr>
        <p:spPr>
          <a:xfrm>
            <a:off x="1005840" y="4187952"/>
            <a:ext cx="19933920" cy="16459"/>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05840" y="4553712"/>
            <a:ext cx="4805172" cy="1225296"/>
          </a:xfrm>
          <a:prstGeom prst="roundRect">
            <a:avLst>
              <a:gd name="adj" fmla="val 4000"/>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61872" y="4690872"/>
            <a:ext cx="4293108" cy="603504"/>
          </a:xfrm>
          <a:prstGeom prst="rect">
            <a:avLst/>
          </a:prstGeom>
          <a:noFill/>
        </p:spPr>
        <p:txBody>
          <a:bodyPr wrap="square" lIns="0" rIns="0" tIns="0" bIns="0" anchor="t">
            <a:spAutoFit/>
          </a:bodyPr>
          <a:lstStyle/>
          <a:p>
            <a:pPr algn="l">
              <a:lnSpc>
                <a:spcPct val="100000"/>
              </a:lnSpc>
              <a:spcAft>
                <a:spcPts val="0"/>
              </a:spcAft>
            </a:pPr>
            <a:r>
              <a:rPr sz="4600" b="1" i="0">
                <a:solidFill>
                  <a:srgbClr val="B07C1F"/>
                </a:solidFill>
                <a:latin typeface="Cambria"/>
              </a:rPr>
              <a:t>61,488</a:t>
            </a:r>
          </a:p>
        </p:txBody>
      </p:sp>
      <p:sp>
        <p:nvSpPr>
          <p:cNvPr id="8" name="TextBox 7"/>
          <p:cNvSpPr txBox="1"/>
          <p:nvPr/>
        </p:nvSpPr>
        <p:spPr>
          <a:xfrm>
            <a:off x="1261872" y="5321808"/>
            <a:ext cx="4293108" cy="384048"/>
          </a:xfrm>
          <a:prstGeom prst="rect">
            <a:avLst/>
          </a:prstGeom>
          <a:noFill/>
        </p:spPr>
        <p:txBody>
          <a:bodyPr wrap="square" lIns="0" rIns="0" tIns="0" bIns="0" anchor="t">
            <a:spAutoFit/>
          </a:bodyPr>
          <a:lstStyle/>
          <a:p>
            <a:pPr algn="l">
              <a:lnSpc>
                <a:spcPct val="110000"/>
              </a:lnSpc>
              <a:spcAft>
                <a:spcPts val="0"/>
              </a:spcAft>
            </a:pPr>
            <a:r>
              <a:rPr sz="1400" b="0" i="0">
                <a:solidFill>
                  <a:srgbClr val="5F6670"/>
                </a:solidFill>
                <a:latin typeface="Calibri"/>
              </a:rPr>
              <a:t>images generated</a:t>
            </a:r>
          </a:p>
        </p:txBody>
      </p:sp>
      <p:sp>
        <p:nvSpPr>
          <p:cNvPr id="9" name="Rounded Rectangle 8"/>
          <p:cNvSpPr/>
          <p:nvPr/>
        </p:nvSpPr>
        <p:spPr>
          <a:xfrm>
            <a:off x="6048756" y="4553712"/>
            <a:ext cx="4805172" cy="1225296"/>
          </a:xfrm>
          <a:prstGeom prst="roundRect">
            <a:avLst>
              <a:gd name="adj" fmla="val 4000"/>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4788" y="4690872"/>
            <a:ext cx="4293108" cy="603504"/>
          </a:xfrm>
          <a:prstGeom prst="rect">
            <a:avLst/>
          </a:prstGeom>
          <a:noFill/>
        </p:spPr>
        <p:txBody>
          <a:bodyPr wrap="square" lIns="0" rIns="0" tIns="0" bIns="0" anchor="t">
            <a:spAutoFit/>
          </a:bodyPr>
          <a:lstStyle/>
          <a:p>
            <a:pPr algn="l">
              <a:lnSpc>
                <a:spcPct val="100000"/>
              </a:lnSpc>
              <a:spcAft>
                <a:spcPts val="0"/>
              </a:spcAft>
            </a:pPr>
            <a:r>
              <a:rPr sz="4600" b="1" i="0">
                <a:solidFill>
                  <a:srgbClr val="B07C1F"/>
                </a:solidFill>
                <a:latin typeface="Cambria"/>
              </a:rPr>
              <a:t>60 × 6</a:t>
            </a:r>
          </a:p>
        </p:txBody>
      </p:sp>
      <p:sp>
        <p:nvSpPr>
          <p:cNvPr id="11" name="TextBox 10"/>
          <p:cNvSpPr txBox="1"/>
          <p:nvPr/>
        </p:nvSpPr>
        <p:spPr>
          <a:xfrm>
            <a:off x="6304788" y="5321808"/>
            <a:ext cx="4293108" cy="384048"/>
          </a:xfrm>
          <a:prstGeom prst="rect">
            <a:avLst/>
          </a:prstGeom>
          <a:noFill/>
        </p:spPr>
        <p:txBody>
          <a:bodyPr wrap="square" lIns="0" rIns="0" tIns="0" bIns="0" anchor="t">
            <a:spAutoFit/>
          </a:bodyPr>
          <a:lstStyle/>
          <a:p>
            <a:pPr algn="l">
              <a:lnSpc>
                <a:spcPct val="110000"/>
              </a:lnSpc>
              <a:spcAft>
                <a:spcPts val="0"/>
              </a:spcAft>
            </a:pPr>
            <a:r>
              <a:rPr sz="1400" b="0" i="0">
                <a:solidFill>
                  <a:srgbClr val="5F6670"/>
                </a:solidFill>
                <a:latin typeface="Calibri"/>
              </a:rPr>
              <a:t>countries × kinds of place</a:t>
            </a:r>
          </a:p>
        </p:txBody>
      </p:sp>
      <p:sp>
        <p:nvSpPr>
          <p:cNvPr id="12" name="Rounded Rectangle 11"/>
          <p:cNvSpPr/>
          <p:nvPr/>
        </p:nvSpPr>
        <p:spPr>
          <a:xfrm>
            <a:off x="11091672" y="4553712"/>
            <a:ext cx="4805172" cy="1225296"/>
          </a:xfrm>
          <a:prstGeom prst="roundRect">
            <a:avLst>
              <a:gd name="adj" fmla="val 4000"/>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347703" y="4690872"/>
            <a:ext cx="4293108" cy="603504"/>
          </a:xfrm>
          <a:prstGeom prst="rect">
            <a:avLst/>
          </a:prstGeom>
          <a:noFill/>
        </p:spPr>
        <p:txBody>
          <a:bodyPr wrap="square" lIns="0" rIns="0" tIns="0" bIns="0" anchor="t">
            <a:spAutoFit/>
          </a:bodyPr>
          <a:lstStyle/>
          <a:p>
            <a:pPr algn="l">
              <a:lnSpc>
                <a:spcPct val="100000"/>
              </a:lnSpc>
              <a:spcAft>
                <a:spcPts val="0"/>
              </a:spcAft>
            </a:pPr>
            <a:r>
              <a:rPr sz="4600" b="1" i="0">
                <a:solidFill>
                  <a:srgbClr val="B07C1F"/>
                </a:solidFill>
                <a:latin typeface="Cambria"/>
              </a:rPr>
              <a:t>53 of 60</a:t>
            </a:r>
          </a:p>
        </p:txBody>
      </p:sp>
      <p:sp>
        <p:nvSpPr>
          <p:cNvPr id="14" name="TextBox 13"/>
          <p:cNvSpPr txBox="1"/>
          <p:nvPr/>
        </p:nvSpPr>
        <p:spPr>
          <a:xfrm>
            <a:off x="11347703" y="5321808"/>
            <a:ext cx="4293108" cy="384048"/>
          </a:xfrm>
          <a:prstGeom prst="rect">
            <a:avLst/>
          </a:prstGeom>
          <a:noFill/>
        </p:spPr>
        <p:txBody>
          <a:bodyPr wrap="square" lIns="0" rIns="0" tIns="0" bIns="0" anchor="t">
            <a:spAutoFit/>
          </a:bodyPr>
          <a:lstStyle/>
          <a:p>
            <a:pPr algn="l">
              <a:lnSpc>
                <a:spcPct val="110000"/>
              </a:lnSpc>
              <a:spcAft>
                <a:spcPts val="0"/>
              </a:spcAft>
            </a:pPr>
            <a:r>
              <a:rPr sz="1400" b="0" i="0">
                <a:solidFill>
                  <a:srgbClr val="5F6670"/>
                </a:solidFill>
                <a:latin typeface="Calibri"/>
              </a:rPr>
              <a:t>warmer than the model's own default</a:t>
            </a:r>
          </a:p>
        </p:txBody>
      </p:sp>
      <p:sp>
        <p:nvSpPr>
          <p:cNvPr id="15" name="Rounded Rectangle 14"/>
          <p:cNvSpPr/>
          <p:nvPr/>
        </p:nvSpPr>
        <p:spPr>
          <a:xfrm>
            <a:off x="16134588" y="4553712"/>
            <a:ext cx="4805172" cy="1225296"/>
          </a:xfrm>
          <a:prstGeom prst="roundRect">
            <a:avLst>
              <a:gd name="adj" fmla="val 4000"/>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6390620" y="4690872"/>
            <a:ext cx="4293108" cy="603504"/>
          </a:xfrm>
          <a:prstGeom prst="rect">
            <a:avLst/>
          </a:prstGeom>
          <a:noFill/>
        </p:spPr>
        <p:txBody>
          <a:bodyPr wrap="square" lIns="0" rIns="0" tIns="0" bIns="0" anchor="t">
            <a:spAutoFit/>
          </a:bodyPr>
          <a:lstStyle/>
          <a:p>
            <a:pPr algn="l">
              <a:lnSpc>
                <a:spcPct val="100000"/>
              </a:lnSpc>
              <a:spcAft>
                <a:spcPts val="0"/>
              </a:spcAft>
            </a:pPr>
            <a:r>
              <a:rPr sz="4600" b="1" i="0">
                <a:solidFill>
                  <a:srgbClr val="B07C1F"/>
                </a:solidFill>
                <a:latin typeface="Cambria"/>
              </a:rPr>
              <a:t>0</a:t>
            </a:r>
          </a:p>
        </p:txBody>
      </p:sp>
      <p:sp>
        <p:nvSpPr>
          <p:cNvPr id="17" name="TextBox 16"/>
          <p:cNvSpPr txBox="1"/>
          <p:nvPr/>
        </p:nvSpPr>
        <p:spPr>
          <a:xfrm>
            <a:off x="16390620" y="5321808"/>
            <a:ext cx="4293108" cy="384048"/>
          </a:xfrm>
          <a:prstGeom prst="rect">
            <a:avLst/>
          </a:prstGeom>
          <a:noFill/>
        </p:spPr>
        <p:txBody>
          <a:bodyPr wrap="square" lIns="0" rIns="0" tIns="0" bIns="0" anchor="t">
            <a:spAutoFit/>
          </a:bodyPr>
          <a:lstStyle/>
          <a:p>
            <a:pPr algn="l">
              <a:lnSpc>
                <a:spcPct val="110000"/>
              </a:lnSpc>
              <a:spcAft>
                <a:spcPts val="0"/>
              </a:spcAft>
            </a:pPr>
            <a:r>
              <a:rPr sz="1400" b="0" i="0">
                <a:solidFill>
                  <a:srgbClr val="5F6670"/>
                </a:solidFill>
                <a:latin typeface="Calibri"/>
              </a:rPr>
              <a:t>failures or refusals</a:t>
            </a:r>
          </a:p>
        </p:txBody>
      </p:sp>
      <p:sp>
        <p:nvSpPr>
          <p:cNvPr id="18" name="TextBox 17"/>
          <p:cNvSpPr txBox="1"/>
          <p:nvPr/>
        </p:nvSpPr>
        <p:spPr>
          <a:xfrm>
            <a:off x="1005840" y="6236208"/>
            <a:ext cx="13898880" cy="402336"/>
          </a:xfrm>
          <a:prstGeom prst="rect">
            <a:avLst/>
          </a:prstGeom>
          <a:noFill/>
        </p:spPr>
        <p:txBody>
          <a:bodyPr wrap="square" lIns="0" rIns="0" tIns="0" bIns="0" anchor="t">
            <a:spAutoFit/>
          </a:bodyPr>
          <a:lstStyle/>
          <a:p>
            <a:pPr algn="l">
              <a:lnSpc>
                <a:spcPct val="108000"/>
              </a:lnSpc>
              <a:spcAft>
                <a:spcPts val="0"/>
              </a:spcAft>
            </a:pPr>
            <a:r>
              <a:rPr sz="2600" b="1" i="0">
                <a:solidFill>
                  <a:srgbClr val="1A1A1A"/>
                </a:solidFill>
                <a:latin typeface="Cambria"/>
              </a:rPr>
              <a:t>One sentence, one camera position, one seed — only the country changed</a:t>
            </a:r>
          </a:p>
        </p:txBody>
      </p:sp>
      <p:sp>
        <p:nvSpPr>
          <p:cNvPr id="19" name="TextBox 18"/>
          <p:cNvSpPr txBox="1"/>
          <p:nvPr/>
        </p:nvSpPr>
        <p:spPr>
          <a:xfrm>
            <a:off x="1005840" y="6693408"/>
            <a:ext cx="13898880" cy="256032"/>
          </a:xfrm>
          <a:prstGeom prst="rect">
            <a:avLst/>
          </a:prstGeom>
          <a:noFill/>
        </p:spPr>
        <p:txBody>
          <a:bodyPr wrap="square" lIns="0" rIns="0" tIns="0" bIns="0" anchor="t">
            <a:spAutoFit/>
          </a:bodyPr>
          <a:lstStyle/>
          <a:p>
            <a:pPr algn="l">
              <a:lnSpc>
                <a:spcPct val="108000"/>
              </a:lnSpc>
              <a:spcAft>
                <a:spcPts val="0"/>
              </a:spcAft>
            </a:pPr>
            <a:r>
              <a:rPr sz="1400" b="1" i="0">
                <a:solidFill>
                  <a:srgbClr val="B07C1F"/>
                </a:solidFill>
                <a:latin typeface="Calibri"/>
              </a:rPr>
              <a:t>THE FOUR THE MODEL DRAWS WARMEST</a:t>
            </a:r>
          </a:p>
        </p:txBody>
      </p:sp>
      <p:sp>
        <p:nvSpPr>
          <p:cNvPr id="20" name="TextBox 19"/>
          <p:cNvSpPr txBox="1"/>
          <p:nvPr/>
        </p:nvSpPr>
        <p:spPr>
          <a:xfrm>
            <a:off x="1005840" y="6986016"/>
            <a:ext cx="3426713" cy="274320"/>
          </a:xfrm>
          <a:prstGeom prst="rect">
            <a:avLst/>
          </a:prstGeom>
          <a:noFill/>
        </p:spPr>
        <p:txBody>
          <a:bodyPr wrap="square" lIns="0" rIns="0" tIns="0" bIns="0" anchor="t">
            <a:spAutoFit/>
          </a:bodyPr>
          <a:lstStyle/>
          <a:p>
            <a:pPr algn="l">
              <a:lnSpc>
                <a:spcPct val="108000"/>
              </a:lnSpc>
              <a:spcAft>
                <a:spcPts val="0"/>
              </a:spcAft>
            </a:pPr>
            <a:r>
              <a:rPr sz="1600" b="1" i="0">
                <a:solidFill>
                  <a:srgbClr val="1A1A1A"/>
                </a:solidFill>
                <a:latin typeface="Cambria"/>
              </a:rPr>
              <a:t>Niger  </a:t>
            </a:r>
          </a:p>
          <a:p>
            <a:pPr algn="l">
              <a:lnSpc>
                <a:spcPct val="108000"/>
              </a:lnSpc>
              <a:spcAft>
                <a:spcPts val="0"/>
              </a:spcAft>
            </a:pPr>
            <a:r>
              <a:rPr sz="1600" b="1" i="0">
                <a:solidFill>
                  <a:srgbClr val="B07C1F"/>
                </a:solidFill>
                <a:latin typeface="Cambria"/>
              </a:rPr>
              <a:t>+1.93</a:t>
            </a:r>
          </a:p>
        </p:txBody>
      </p:sp>
      <p:sp>
        <p:nvSpPr>
          <p:cNvPr id="21" name="TextBox 20"/>
          <p:cNvSpPr txBox="1"/>
          <p:nvPr/>
        </p:nvSpPr>
        <p:spPr>
          <a:xfrm>
            <a:off x="4496562" y="6986016"/>
            <a:ext cx="3426713" cy="274320"/>
          </a:xfrm>
          <a:prstGeom prst="rect">
            <a:avLst/>
          </a:prstGeom>
          <a:noFill/>
        </p:spPr>
        <p:txBody>
          <a:bodyPr wrap="square" lIns="0" rIns="0" tIns="0" bIns="0" anchor="t">
            <a:spAutoFit/>
          </a:bodyPr>
          <a:lstStyle/>
          <a:p>
            <a:pPr algn="l">
              <a:lnSpc>
                <a:spcPct val="108000"/>
              </a:lnSpc>
              <a:spcAft>
                <a:spcPts val="0"/>
              </a:spcAft>
            </a:pPr>
            <a:r>
              <a:rPr sz="1600" b="1" i="0">
                <a:solidFill>
                  <a:srgbClr val="1A1A1A"/>
                </a:solidFill>
                <a:latin typeface="Cambria"/>
              </a:rPr>
              <a:t>Nigeria  </a:t>
            </a:r>
          </a:p>
          <a:p>
            <a:pPr algn="l">
              <a:lnSpc>
                <a:spcPct val="108000"/>
              </a:lnSpc>
              <a:spcAft>
                <a:spcPts val="0"/>
              </a:spcAft>
            </a:pPr>
            <a:r>
              <a:rPr sz="1600" b="1" i="0">
                <a:solidFill>
                  <a:srgbClr val="B07C1F"/>
                </a:solidFill>
                <a:latin typeface="Cambria"/>
              </a:rPr>
              <a:t>+1.55</a:t>
            </a:r>
          </a:p>
        </p:txBody>
      </p:sp>
      <p:sp>
        <p:nvSpPr>
          <p:cNvPr id="22" name="TextBox 21"/>
          <p:cNvSpPr txBox="1"/>
          <p:nvPr/>
        </p:nvSpPr>
        <p:spPr>
          <a:xfrm>
            <a:off x="7987283" y="6986016"/>
            <a:ext cx="3426713" cy="274320"/>
          </a:xfrm>
          <a:prstGeom prst="rect">
            <a:avLst/>
          </a:prstGeom>
          <a:noFill/>
        </p:spPr>
        <p:txBody>
          <a:bodyPr wrap="square" lIns="0" rIns="0" tIns="0" bIns="0" anchor="t">
            <a:spAutoFit/>
          </a:bodyPr>
          <a:lstStyle/>
          <a:p>
            <a:pPr algn="l">
              <a:lnSpc>
                <a:spcPct val="108000"/>
              </a:lnSpc>
              <a:spcAft>
                <a:spcPts val="0"/>
              </a:spcAft>
            </a:pPr>
            <a:r>
              <a:rPr sz="1600" b="1" i="0">
                <a:solidFill>
                  <a:srgbClr val="1A1A1A"/>
                </a:solidFill>
                <a:latin typeface="Cambria"/>
              </a:rPr>
              <a:t>Chad  </a:t>
            </a:r>
          </a:p>
          <a:p>
            <a:pPr algn="l">
              <a:lnSpc>
                <a:spcPct val="108000"/>
              </a:lnSpc>
              <a:spcAft>
                <a:spcPts val="0"/>
              </a:spcAft>
            </a:pPr>
            <a:r>
              <a:rPr sz="1600" b="1" i="0">
                <a:solidFill>
                  <a:srgbClr val="B07C1F"/>
                </a:solidFill>
                <a:latin typeface="Cambria"/>
              </a:rPr>
              <a:t>+1.46</a:t>
            </a:r>
          </a:p>
        </p:txBody>
      </p:sp>
      <p:sp>
        <p:nvSpPr>
          <p:cNvPr id="23" name="TextBox 22"/>
          <p:cNvSpPr txBox="1"/>
          <p:nvPr/>
        </p:nvSpPr>
        <p:spPr>
          <a:xfrm>
            <a:off x="11478005" y="6986016"/>
            <a:ext cx="3426713" cy="274320"/>
          </a:xfrm>
          <a:prstGeom prst="rect">
            <a:avLst/>
          </a:prstGeom>
          <a:noFill/>
        </p:spPr>
        <p:txBody>
          <a:bodyPr wrap="square" lIns="0" rIns="0" tIns="0" bIns="0" anchor="t">
            <a:spAutoFit/>
          </a:bodyPr>
          <a:lstStyle/>
          <a:p>
            <a:pPr algn="l">
              <a:lnSpc>
                <a:spcPct val="108000"/>
              </a:lnSpc>
              <a:spcAft>
                <a:spcPts val="0"/>
              </a:spcAft>
            </a:pPr>
            <a:r>
              <a:rPr sz="1600" b="1" i="0">
                <a:solidFill>
                  <a:srgbClr val="1A1A1A"/>
                </a:solidFill>
                <a:latin typeface="Cambria"/>
              </a:rPr>
              <a:t>Mali  </a:t>
            </a:r>
          </a:p>
          <a:p>
            <a:pPr algn="l">
              <a:lnSpc>
                <a:spcPct val="108000"/>
              </a:lnSpc>
              <a:spcAft>
                <a:spcPts val="0"/>
              </a:spcAft>
            </a:pPr>
            <a:r>
              <a:rPr sz="1600" b="1" i="0">
                <a:solidFill>
                  <a:srgbClr val="B07C1F"/>
                </a:solidFill>
                <a:latin typeface="Cambria"/>
              </a:rPr>
              <a:t>+1.41</a:t>
            </a:r>
          </a:p>
        </p:txBody>
      </p:sp>
      <p:pic>
        <p:nvPicPr>
          <p:cNvPr id="24" name="Picture 23" descr="warm-row.jpg"/>
          <p:cNvPicPr>
            <a:picLocks noChangeAspect="1"/>
          </p:cNvPicPr>
          <p:nvPr/>
        </p:nvPicPr>
        <p:blipFill>
          <a:blip r:embed="rId2"/>
          <a:stretch>
            <a:fillRect/>
          </a:stretch>
        </p:blipFill>
        <p:spPr>
          <a:xfrm>
            <a:off x="1005840" y="7287768"/>
            <a:ext cx="13898880" cy="3439452"/>
          </a:xfrm>
          <a:prstGeom prst="rect">
            <a:avLst/>
          </a:prstGeom>
        </p:spPr>
      </p:pic>
      <p:sp>
        <p:nvSpPr>
          <p:cNvPr id="25" name="TextBox 24"/>
          <p:cNvSpPr txBox="1"/>
          <p:nvPr/>
        </p:nvSpPr>
        <p:spPr>
          <a:xfrm>
            <a:off x="1005840" y="10964964"/>
            <a:ext cx="13898880" cy="256032"/>
          </a:xfrm>
          <a:prstGeom prst="rect">
            <a:avLst/>
          </a:prstGeom>
          <a:noFill/>
        </p:spPr>
        <p:txBody>
          <a:bodyPr wrap="square" lIns="0" rIns="0" tIns="0" bIns="0" anchor="t">
            <a:spAutoFit/>
          </a:bodyPr>
          <a:lstStyle/>
          <a:p>
            <a:pPr algn="l">
              <a:lnSpc>
                <a:spcPct val="108000"/>
              </a:lnSpc>
              <a:spcAft>
                <a:spcPts val="0"/>
              </a:spcAft>
            </a:pPr>
            <a:r>
              <a:rPr sz="1400" b="1" i="0">
                <a:solidFill>
                  <a:srgbClr val="2F6CA8"/>
                </a:solidFill>
                <a:latin typeface="Calibri"/>
              </a:rPr>
              <a:t>THE FOUR IT DRAWS COOLEST</a:t>
            </a:r>
          </a:p>
        </p:txBody>
      </p:sp>
      <p:sp>
        <p:nvSpPr>
          <p:cNvPr id="26" name="TextBox 25"/>
          <p:cNvSpPr txBox="1"/>
          <p:nvPr/>
        </p:nvSpPr>
        <p:spPr>
          <a:xfrm>
            <a:off x="1005840" y="11257572"/>
            <a:ext cx="3426713" cy="274320"/>
          </a:xfrm>
          <a:prstGeom prst="rect">
            <a:avLst/>
          </a:prstGeom>
          <a:noFill/>
        </p:spPr>
        <p:txBody>
          <a:bodyPr wrap="square" lIns="0" rIns="0" tIns="0" bIns="0" anchor="t">
            <a:spAutoFit/>
          </a:bodyPr>
          <a:lstStyle/>
          <a:p>
            <a:pPr algn="l">
              <a:lnSpc>
                <a:spcPct val="108000"/>
              </a:lnSpc>
              <a:spcAft>
                <a:spcPts val="0"/>
              </a:spcAft>
            </a:pPr>
            <a:r>
              <a:rPr sz="1600" b="1" i="0">
                <a:solidFill>
                  <a:srgbClr val="1A1A1A"/>
                </a:solidFill>
                <a:latin typeface="Cambria"/>
              </a:rPr>
              <a:t>Norway  </a:t>
            </a:r>
          </a:p>
          <a:p>
            <a:pPr algn="l">
              <a:lnSpc>
                <a:spcPct val="108000"/>
              </a:lnSpc>
              <a:spcAft>
                <a:spcPts val="0"/>
              </a:spcAft>
            </a:pPr>
            <a:r>
              <a:rPr sz="1600" b="1" i="0">
                <a:solidFill>
                  <a:srgbClr val="2F6CA8"/>
                </a:solidFill>
                <a:latin typeface="Cambria"/>
              </a:rPr>
              <a:t>−1.83</a:t>
            </a:r>
          </a:p>
        </p:txBody>
      </p:sp>
      <p:sp>
        <p:nvSpPr>
          <p:cNvPr id="27" name="TextBox 26"/>
          <p:cNvSpPr txBox="1"/>
          <p:nvPr/>
        </p:nvSpPr>
        <p:spPr>
          <a:xfrm>
            <a:off x="4496562" y="11257572"/>
            <a:ext cx="3426713" cy="274320"/>
          </a:xfrm>
          <a:prstGeom prst="rect">
            <a:avLst/>
          </a:prstGeom>
          <a:noFill/>
        </p:spPr>
        <p:txBody>
          <a:bodyPr wrap="square" lIns="0" rIns="0" tIns="0" bIns="0" anchor="t">
            <a:spAutoFit/>
          </a:bodyPr>
          <a:lstStyle/>
          <a:p>
            <a:pPr algn="l">
              <a:lnSpc>
                <a:spcPct val="108000"/>
              </a:lnSpc>
              <a:spcAft>
                <a:spcPts val="0"/>
              </a:spcAft>
            </a:pPr>
            <a:r>
              <a:rPr sz="1600" b="1" i="0">
                <a:solidFill>
                  <a:srgbClr val="1A1A1A"/>
                </a:solidFill>
                <a:latin typeface="Cambria"/>
              </a:rPr>
              <a:t>Australia  </a:t>
            </a:r>
          </a:p>
          <a:p>
            <a:pPr algn="l">
              <a:lnSpc>
                <a:spcPct val="108000"/>
              </a:lnSpc>
              <a:spcAft>
                <a:spcPts val="0"/>
              </a:spcAft>
            </a:pPr>
            <a:r>
              <a:rPr sz="1600" b="1" i="0">
                <a:solidFill>
                  <a:srgbClr val="2F6CA8"/>
                </a:solidFill>
                <a:latin typeface="Cambria"/>
              </a:rPr>
              <a:t>−1.73</a:t>
            </a:r>
          </a:p>
        </p:txBody>
      </p:sp>
      <p:sp>
        <p:nvSpPr>
          <p:cNvPr id="28" name="TextBox 27"/>
          <p:cNvSpPr txBox="1"/>
          <p:nvPr/>
        </p:nvSpPr>
        <p:spPr>
          <a:xfrm>
            <a:off x="7987283" y="11257572"/>
            <a:ext cx="3426713" cy="274320"/>
          </a:xfrm>
          <a:prstGeom prst="rect">
            <a:avLst/>
          </a:prstGeom>
          <a:noFill/>
        </p:spPr>
        <p:txBody>
          <a:bodyPr wrap="square" lIns="0" rIns="0" tIns="0" bIns="0" anchor="t">
            <a:spAutoFit/>
          </a:bodyPr>
          <a:lstStyle/>
          <a:p>
            <a:pPr algn="l">
              <a:lnSpc>
                <a:spcPct val="108000"/>
              </a:lnSpc>
              <a:spcAft>
                <a:spcPts val="0"/>
              </a:spcAft>
            </a:pPr>
            <a:r>
              <a:rPr sz="1600" b="1" i="0">
                <a:solidFill>
                  <a:srgbClr val="1A1A1A"/>
                </a:solidFill>
                <a:latin typeface="Cambria"/>
              </a:rPr>
              <a:t>Costa Rica  </a:t>
            </a:r>
          </a:p>
          <a:p>
            <a:pPr algn="l">
              <a:lnSpc>
                <a:spcPct val="108000"/>
              </a:lnSpc>
              <a:spcAft>
                <a:spcPts val="0"/>
              </a:spcAft>
            </a:pPr>
            <a:r>
              <a:rPr sz="1600" b="1" i="0">
                <a:solidFill>
                  <a:srgbClr val="2F6CA8"/>
                </a:solidFill>
                <a:latin typeface="Cambria"/>
              </a:rPr>
              <a:t>−1.39</a:t>
            </a:r>
          </a:p>
        </p:txBody>
      </p:sp>
      <p:sp>
        <p:nvSpPr>
          <p:cNvPr id="29" name="TextBox 28"/>
          <p:cNvSpPr txBox="1"/>
          <p:nvPr/>
        </p:nvSpPr>
        <p:spPr>
          <a:xfrm>
            <a:off x="11478005" y="11257572"/>
            <a:ext cx="3426713" cy="274320"/>
          </a:xfrm>
          <a:prstGeom prst="rect">
            <a:avLst/>
          </a:prstGeom>
          <a:noFill/>
        </p:spPr>
        <p:txBody>
          <a:bodyPr wrap="square" lIns="0" rIns="0" tIns="0" bIns="0" anchor="t">
            <a:spAutoFit/>
          </a:bodyPr>
          <a:lstStyle/>
          <a:p>
            <a:pPr algn="l">
              <a:lnSpc>
                <a:spcPct val="108000"/>
              </a:lnSpc>
              <a:spcAft>
                <a:spcPts val="0"/>
              </a:spcAft>
            </a:pPr>
            <a:r>
              <a:rPr sz="1600" b="1" i="0">
                <a:solidFill>
                  <a:srgbClr val="1A1A1A"/>
                </a:solidFill>
                <a:latin typeface="Cambria"/>
              </a:rPr>
              <a:t>South Africa  </a:t>
            </a:r>
          </a:p>
          <a:p>
            <a:pPr algn="l">
              <a:lnSpc>
                <a:spcPct val="108000"/>
              </a:lnSpc>
              <a:spcAft>
                <a:spcPts val="0"/>
              </a:spcAft>
            </a:pPr>
            <a:r>
              <a:rPr sz="1600" b="1" i="0">
                <a:solidFill>
                  <a:srgbClr val="2F6CA8"/>
                </a:solidFill>
                <a:latin typeface="Cambria"/>
              </a:rPr>
              <a:t>−1.38</a:t>
            </a:r>
          </a:p>
        </p:txBody>
      </p:sp>
      <p:pic>
        <p:nvPicPr>
          <p:cNvPr id="30" name="Picture 29" descr="cool-row.jpg"/>
          <p:cNvPicPr>
            <a:picLocks noChangeAspect="1"/>
          </p:cNvPicPr>
          <p:nvPr/>
        </p:nvPicPr>
        <p:blipFill>
          <a:blip r:embed="rId3"/>
          <a:stretch>
            <a:fillRect/>
          </a:stretch>
        </p:blipFill>
        <p:spPr>
          <a:xfrm>
            <a:off x="1005840" y="11559324"/>
            <a:ext cx="13898880" cy="3439452"/>
          </a:xfrm>
          <a:prstGeom prst="rect">
            <a:avLst/>
          </a:prstGeom>
        </p:spPr>
      </p:pic>
      <p:sp>
        <p:nvSpPr>
          <p:cNvPr id="31" name="TextBox 30"/>
          <p:cNvSpPr txBox="1"/>
          <p:nvPr/>
        </p:nvSpPr>
        <p:spPr>
          <a:xfrm>
            <a:off x="15544800" y="6236208"/>
            <a:ext cx="5394959" cy="365760"/>
          </a:xfrm>
          <a:prstGeom prst="rect">
            <a:avLst/>
          </a:prstGeom>
          <a:noFill/>
        </p:spPr>
        <p:txBody>
          <a:bodyPr wrap="square" lIns="0" rIns="0" tIns="0" bIns="0" anchor="t">
            <a:spAutoFit/>
          </a:bodyPr>
          <a:lstStyle/>
          <a:p>
            <a:pPr algn="l">
              <a:lnSpc>
                <a:spcPct val="108000"/>
              </a:lnSpc>
              <a:spcAft>
                <a:spcPts val="0"/>
              </a:spcAft>
            </a:pPr>
            <a:r>
              <a:rPr sz="2400" b="1" i="0">
                <a:solidFill>
                  <a:srgbClr val="1A1A1A"/>
                </a:solidFill>
                <a:latin typeface="Cambria"/>
              </a:rPr>
              <a:t>The question</a:t>
            </a:r>
          </a:p>
        </p:txBody>
      </p:sp>
      <p:sp>
        <p:nvSpPr>
          <p:cNvPr id="32" name="TextBox 31"/>
          <p:cNvSpPr txBox="1"/>
          <p:nvPr/>
        </p:nvSpPr>
        <p:spPr>
          <a:xfrm>
            <a:off x="15544800" y="6656832"/>
            <a:ext cx="5394959" cy="3108960"/>
          </a:xfrm>
          <a:prstGeom prst="rect">
            <a:avLst/>
          </a:prstGeom>
          <a:noFill/>
        </p:spPr>
        <p:txBody>
          <a:bodyPr wrap="square" lIns="0" rIns="0" tIns="0" bIns="0" anchor="t">
            <a:spAutoFit/>
          </a:bodyPr>
          <a:lstStyle/>
          <a:p>
            <a:pPr algn="l">
              <a:lnSpc>
                <a:spcPct val="130000"/>
              </a:lnSpc>
              <a:spcAft>
                <a:spcPts val="0"/>
              </a:spcAft>
            </a:pPr>
            <a:r>
              <a:rPr sz="1500" b="0" i="0">
                <a:solidFill>
                  <a:srgbClr val="1A1A1A"/>
                </a:solidFill>
                <a:latin typeface="Calibri"/>
              </a:rPr>
              <a:t>Film colours places. A sepia wash over Mexico; dust and amber for “somewhere dangerous.” A yellow filter tells an audience that a place is poor, hot and unsafe before a line is spoken. An image model trained on pictures like those may have learned the habit. This project asks whether it did — and whether the countries it warms are the poorer ones.</a:t>
            </a:r>
          </a:p>
        </p:txBody>
      </p:sp>
      <p:sp>
        <p:nvSpPr>
          <p:cNvPr id="33" name="TextBox 32"/>
          <p:cNvSpPr txBox="1"/>
          <p:nvPr/>
        </p:nvSpPr>
        <p:spPr>
          <a:xfrm>
            <a:off x="15544800" y="9857232"/>
            <a:ext cx="5394959" cy="329184"/>
          </a:xfrm>
          <a:prstGeom prst="rect">
            <a:avLst/>
          </a:prstGeom>
          <a:noFill/>
        </p:spPr>
        <p:txBody>
          <a:bodyPr wrap="square" lIns="0" rIns="0" tIns="0" bIns="0" anchor="t">
            <a:spAutoFit/>
          </a:bodyPr>
          <a:lstStyle/>
          <a:p>
            <a:pPr algn="l">
              <a:lnSpc>
                <a:spcPct val="108000"/>
              </a:lnSpc>
              <a:spcAft>
                <a:spcPts val="0"/>
              </a:spcAft>
            </a:pPr>
            <a:r>
              <a:rPr sz="1900" b="1" i="0">
                <a:solidFill>
                  <a:srgbClr val="1A1A1A"/>
                </a:solidFill>
                <a:latin typeface="Cambria"/>
              </a:rPr>
              <a:t>What you are looking at</a:t>
            </a:r>
          </a:p>
        </p:txBody>
      </p:sp>
      <p:sp>
        <p:nvSpPr>
          <p:cNvPr id="34" name="TextBox 33"/>
          <p:cNvSpPr txBox="1"/>
          <p:nvPr/>
        </p:nvSpPr>
        <p:spPr>
          <a:xfrm>
            <a:off x="15544800" y="10241280"/>
            <a:ext cx="5394959" cy="3291840"/>
          </a:xfrm>
          <a:prstGeom prst="rect">
            <a:avLst/>
          </a:prstGeom>
          <a:noFill/>
        </p:spPr>
        <p:txBody>
          <a:bodyPr wrap="square" lIns="0" rIns="0" tIns="0" bIns="0" anchor="t">
            <a:spAutoFit/>
          </a:bodyPr>
          <a:lstStyle/>
          <a:p>
            <a:pPr algn="l">
              <a:lnSpc>
                <a:spcPct val="130000"/>
              </a:lnSpc>
              <a:spcAft>
                <a:spcPts val="0"/>
              </a:spcAft>
            </a:pPr>
            <a:r>
              <a:rPr sz="1500" b="0" i="0">
                <a:solidFill>
                  <a:srgbClr val="5F6670"/>
                </a:solidFill>
                <a:latin typeface="Calibri"/>
              </a:rPr>
              <a:t>Image i of every prompt is generated from the same seed, so all eight pictures start from identical noise and the street recedes the same way in each. The only difference between one cell and the next is the country named in the sentence. Figures are the country's standing on the yellow–blue cast, in country-to-country standard deviations.</a:t>
            </a:r>
          </a:p>
        </p:txBody>
      </p:sp>
      <p:sp>
        <p:nvSpPr>
          <p:cNvPr id="35" name="TextBox 34"/>
          <p:cNvSpPr txBox="1"/>
          <p:nvPr/>
        </p:nvSpPr>
        <p:spPr>
          <a:xfrm>
            <a:off x="1005840" y="15501696"/>
            <a:ext cx="13898880" cy="402336"/>
          </a:xfrm>
          <a:prstGeom prst="rect">
            <a:avLst/>
          </a:prstGeom>
          <a:noFill/>
        </p:spPr>
        <p:txBody>
          <a:bodyPr wrap="square" lIns="0" rIns="0" tIns="0" bIns="0" anchor="t">
            <a:spAutoFit/>
          </a:bodyPr>
          <a:lstStyle/>
          <a:p>
            <a:pPr algn="l">
              <a:lnSpc>
                <a:spcPct val="108000"/>
              </a:lnSpc>
              <a:spcAft>
                <a:spcPts val="0"/>
              </a:spcAft>
            </a:pPr>
            <a:r>
              <a:rPr sz="2600" b="1" i="0">
                <a:solidFill>
                  <a:srgbClr val="1A1A1A"/>
                </a:solidFill>
                <a:latin typeface="Cambria"/>
              </a:rPr>
              <a:t>How the model colours each of the 60 countries</a:t>
            </a:r>
          </a:p>
        </p:txBody>
      </p:sp>
      <p:sp>
        <p:nvSpPr>
          <p:cNvPr id="36" name="TextBox 35"/>
          <p:cNvSpPr txBox="1"/>
          <p:nvPr/>
        </p:nvSpPr>
        <p:spPr>
          <a:xfrm>
            <a:off x="15544800" y="15538272"/>
            <a:ext cx="5394959" cy="1097280"/>
          </a:xfrm>
          <a:prstGeom prst="rect">
            <a:avLst/>
          </a:prstGeom>
          <a:noFill/>
        </p:spPr>
        <p:txBody>
          <a:bodyPr wrap="square" lIns="0" rIns="0" tIns="0" bIns="0" anchor="t">
            <a:spAutoFit/>
          </a:bodyPr>
          <a:lstStyle/>
          <a:p>
            <a:pPr algn="l">
              <a:lnSpc>
                <a:spcPct val="130000"/>
              </a:lnSpc>
              <a:spcAft>
                <a:spcPts val="0"/>
              </a:spcAft>
            </a:pPr>
            <a:r>
              <a:rPr sz="1450" b="0" i="0">
                <a:solidFill>
                  <a:srgbClr val="5F6670"/>
                </a:solidFill>
                <a:latin typeface="Calibri"/>
              </a:rPr>
              <a:t>Amber: warmer than the average country. Blue: cooler. Grey: within a third of a standard deviation of the average. Pale grey: not in this run.</a:t>
            </a:r>
          </a:p>
        </p:txBody>
      </p:sp>
      <p:sp>
        <p:nvSpPr>
          <p:cNvPr id="37" name="TextBox 36"/>
          <p:cNvSpPr txBox="1"/>
          <p:nvPr/>
        </p:nvSpPr>
        <p:spPr>
          <a:xfrm>
            <a:off x="15544800" y="16736136"/>
            <a:ext cx="5394959" cy="365760"/>
          </a:xfrm>
          <a:prstGeom prst="rect">
            <a:avLst/>
          </a:prstGeom>
          <a:noFill/>
        </p:spPr>
        <p:txBody>
          <a:bodyPr wrap="square" lIns="0" rIns="0" tIns="0" bIns="0" anchor="t">
            <a:spAutoFit/>
          </a:bodyPr>
          <a:lstStyle/>
          <a:p>
            <a:pPr algn="l">
              <a:lnSpc>
                <a:spcPct val="108000"/>
              </a:lnSpc>
              <a:spcAft>
                <a:spcPts val="0"/>
              </a:spcAft>
            </a:pPr>
            <a:r>
              <a:rPr sz="2200" b="1" i="0">
                <a:solidFill>
                  <a:srgbClr val="1A1A1A"/>
                </a:solidFill>
                <a:latin typeface="Cambria"/>
              </a:rPr>
              <a:t>How it was measured</a:t>
            </a:r>
          </a:p>
        </p:txBody>
      </p:sp>
      <p:sp>
        <p:nvSpPr>
          <p:cNvPr id="38" name="TextBox 37"/>
          <p:cNvSpPr txBox="1"/>
          <p:nvPr/>
        </p:nvSpPr>
        <p:spPr>
          <a:xfrm>
            <a:off x="15544800" y="17175048"/>
            <a:ext cx="5394959" cy="1019556"/>
          </a:xfrm>
          <a:prstGeom prst="rect">
            <a:avLst/>
          </a:prstGeom>
          <a:noFill/>
        </p:spPr>
        <p:txBody>
          <a:bodyPr wrap="square" lIns="0" rIns="0" tIns="0" bIns="0" anchor="t">
            <a:spAutoFit/>
          </a:bodyPr>
          <a:lstStyle/>
          <a:p>
            <a:pPr algn="l">
              <a:lnSpc>
                <a:spcPct val="122000"/>
              </a:lnSpc>
              <a:spcAft>
                <a:spcPts val="0"/>
              </a:spcAft>
            </a:pPr>
            <a:r>
              <a:rPr sz="1350" b="1" i="0">
                <a:solidFill>
                  <a:srgbClr val="1A1A1A"/>
                </a:solidFill>
                <a:latin typeface="Calibri"/>
              </a:rPr>
              <a:t>One sentence, one camera  </a:t>
            </a:r>
          </a:p>
          <a:p>
            <a:pPr algn="l">
              <a:lnSpc>
                <a:spcPct val="122000"/>
              </a:lnSpc>
              <a:spcAft>
                <a:spcPts val="0"/>
              </a:spcAft>
            </a:pPr>
            <a:r>
              <a:rPr sz="1350" b="0" i="0">
                <a:solidFill>
                  <a:srgbClr val="5F6670"/>
                </a:solidFill>
                <a:latin typeface="Calibri"/>
              </a:rPr>
              <a:t>“A photograph of {place} in {country}, {view}.” The view is fixed per kind of place, so two countries' pictures differ only because the country does.</a:t>
            </a:r>
          </a:p>
        </p:txBody>
      </p:sp>
      <p:sp>
        <p:nvSpPr>
          <p:cNvPr id="39" name="TextBox 38"/>
          <p:cNvSpPr txBox="1"/>
          <p:nvPr/>
        </p:nvSpPr>
        <p:spPr>
          <a:xfrm>
            <a:off x="15544800" y="18304332"/>
            <a:ext cx="5394959" cy="1019556"/>
          </a:xfrm>
          <a:prstGeom prst="rect">
            <a:avLst/>
          </a:prstGeom>
          <a:noFill/>
        </p:spPr>
        <p:txBody>
          <a:bodyPr wrap="square" lIns="0" rIns="0" tIns="0" bIns="0" anchor="t">
            <a:spAutoFit/>
          </a:bodyPr>
          <a:lstStyle/>
          <a:p>
            <a:pPr algn="l">
              <a:lnSpc>
                <a:spcPct val="122000"/>
              </a:lnSpc>
              <a:spcAft>
                <a:spcPts val="0"/>
              </a:spcAft>
            </a:pPr>
            <a:r>
              <a:rPr sz="1350" b="1" i="0">
                <a:solidFill>
                  <a:srgbClr val="1A1A1A"/>
                </a:solidFill>
                <a:latin typeface="Calibri"/>
              </a:rPr>
              <a:t>The light is pinned  </a:t>
            </a:r>
          </a:p>
          <a:p>
            <a:pPr algn="l">
              <a:lnSpc>
                <a:spcPct val="122000"/>
              </a:lnSpc>
              <a:spcAft>
                <a:spcPts val="0"/>
              </a:spcAft>
            </a:pPr>
            <a:r>
              <a:rPr sz="1350" b="0" i="0">
                <a:solidFill>
                  <a:srgbClr val="5F6670"/>
                </a:solidFill>
                <a:latin typeface="Calibri"/>
              </a:rPr>
              <a:t>Each prompt runs twice: free, and ending “at noon under a clear sky with the sun high overhead.” It names no colour, so a gap that survives it is a grade, not an hour.</a:t>
            </a:r>
          </a:p>
        </p:txBody>
      </p:sp>
      <p:sp>
        <p:nvSpPr>
          <p:cNvPr id="40" name="TextBox 39"/>
          <p:cNvSpPr txBox="1"/>
          <p:nvPr/>
        </p:nvSpPr>
        <p:spPr>
          <a:xfrm>
            <a:off x="15544800" y="19433616"/>
            <a:ext cx="5394959" cy="626364"/>
          </a:xfrm>
          <a:prstGeom prst="rect">
            <a:avLst/>
          </a:prstGeom>
          <a:noFill/>
        </p:spPr>
        <p:txBody>
          <a:bodyPr wrap="square" lIns="0" rIns="0" tIns="0" bIns="0" anchor="t">
            <a:spAutoFit/>
          </a:bodyPr>
          <a:lstStyle/>
          <a:p>
            <a:pPr algn="l">
              <a:lnSpc>
                <a:spcPct val="122000"/>
              </a:lnSpc>
              <a:spcAft>
                <a:spcPts val="0"/>
              </a:spcAft>
            </a:pPr>
            <a:r>
              <a:rPr sz="1350" b="1" i="0">
                <a:solidFill>
                  <a:srgbClr val="1A1A1A"/>
                </a:solidFill>
                <a:latin typeface="Calibri"/>
              </a:rPr>
              <a:t>A zero to measure from  </a:t>
            </a:r>
          </a:p>
          <a:p>
            <a:pPr algn="l">
              <a:lnSpc>
                <a:spcPct val="122000"/>
              </a:lnSpc>
              <a:spcAft>
                <a:spcPts val="0"/>
              </a:spcAft>
            </a:pPr>
            <a:r>
              <a:rPr sz="1350" b="0" i="0">
                <a:solidFill>
                  <a:srgbClr val="5F6670"/>
                </a:solidFill>
                <a:latin typeface="Calibri"/>
              </a:rPr>
              <a:t>The same places drawn with no country named at all, giving the model's own default.</a:t>
            </a:r>
          </a:p>
        </p:txBody>
      </p:sp>
      <p:sp>
        <p:nvSpPr>
          <p:cNvPr id="41" name="TextBox 40"/>
          <p:cNvSpPr txBox="1"/>
          <p:nvPr/>
        </p:nvSpPr>
        <p:spPr>
          <a:xfrm>
            <a:off x="15544800" y="20169708"/>
            <a:ext cx="5394959" cy="1019556"/>
          </a:xfrm>
          <a:prstGeom prst="rect">
            <a:avLst/>
          </a:prstGeom>
          <a:noFill/>
        </p:spPr>
        <p:txBody>
          <a:bodyPr wrap="square" lIns="0" rIns="0" tIns="0" bIns="0" anchor="t">
            <a:spAutoFit/>
          </a:bodyPr>
          <a:lstStyle/>
          <a:p>
            <a:pPr algn="l">
              <a:lnSpc>
                <a:spcPct val="122000"/>
              </a:lnSpc>
              <a:spcAft>
                <a:spcPts val="0"/>
              </a:spcAft>
            </a:pPr>
            <a:r>
              <a:rPr sz="1350" b="1" i="0">
                <a:solidFill>
                  <a:srgbClr val="1A1A1A"/>
                </a:solidFill>
                <a:latin typeface="Calibri"/>
              </a:rPr>
              <a:t>Sixty countries, chosen not picked  </a:t>
            </a:r>
          </a:p>
          <a:p>
            <a:pPr algn="l">
              <a:lnSpc>
                <a:spcPct val="122000"/>
              </a:lnSpc>
              <a:spcAft>
                <a:spcPts val="0"/>
              </a:spcAft>
            </a:pPr>
            <a:r>
              <a:rPr sz="1350" b="0" i="0">
                <a:solidFill>
                  <a:srgbClr val="5F6670"/>
                </a:solidFill>
                <a:latin typeface="Calibri"/>
              </a:rPr>
              <a:t>Fifteen per World Bank income group, all above a million people, selected so income and distance from the equator pull apart: ρ = 0.25 here against 0.49 worldwide.</a:t>
            </a:r>
          </a:p>
        </p:txBody>
      </p:sp>
      <p:sp>
        <p:nvSpPr>
          <p:cNvPr id="42" name="TextBox 41"/>
          <p:cNvSpPr txBox="1"/>
          <p:nvPr/>
        </p:nvSpPr>
        <p:spPr>
          <a:xfrm>
            <a:off x="15544800" y="21298992"/>
            <a:ext cx="5394959" cy="626364"/>
          </a:xfrm>
          <a:prstGeom prst="rect">
            <a:avLst/>
          </a:prstGeom>
          <a:noFill/>
        </p:spPr>
        <p:txBody>
          <a:bodyPr wrap="square" lIns="0" rIns="0" tIns="0" bIns="0" anchor="t">
            <a:spAutoFit/>
          </a:bodyPr>
          <a:lstStyle/>
          <a:p>
            <a:pPr algn="l">
              <a:lnSpc>
                <a:spcPct val="122000"/>
              </a:lnSpc>
              <a:spcAft>
                <a:spcPts val="0"/>
              </a:spcAft>
            </a:pPr>
            <a:r>
              <a:rPr sz="1350" b="1" i="0">
                <a:solidFill>
                  <a:srgbClr val="1A1A1A"/>
                </a:solidFill>
                <a:latin typeface="Calibri"/>
              </a:rPr>
              <a:t>Eighty-four images per prompt  </a:t>
            </a:r>
          </a:p>
          <a:p>
            <a:pPr algn="l">
              <a:lnSpc>
                <a:spcPct val="122000"/>
              </a:lnSpc>
              <a:spcAft>
                <a:spcPts val="0"/>
              </a:spcAft>
            </a:pPr>
            <a:r>
              <a:rPr sz="1350" b="0" i="0">
                <a:solidFill>
                  <a:srgbClr val="5F6670"/>
                </a:solidFill>
                <a:latin typeface="Calibri"/>
              </a:rPr>
              <a:t>Sized from a 3,300-image pilot's measured noise; more countries and places buy more.</a:t>
            </a:r>
          </a:p>
        </p:txBody>
      </p:sp>
      <p:sp>
        <p:nvSpPr>
          <p:cNvPr id="43" name="TextBox 42"/>
          <p:cNvSpPr txBox="1"/>
          <p:nvPr/>
        </p:nvSpPr>
        <p:spPr>
          <a:xfrm>
            <a:off x="15544800" y="22035084"/>
            <a:ext cx="5394959" cy="626364"/>
          </a:xfrm>
          <a:prstGeom prst="rect">
            <a:avLst/>
          </a:prstGeom>
          <a:noFill/>
        </p:spPr>
        <p:txBody>
          <a:bodyPr wrap="square" lIns="0" rIns="0" tIns="0" bIns="0" anchor="t">
            <a:spAutoFit/>
          </a:bodyPr>
          <a:lstStyle/>
          <a:p>
            <a:pPr algn="l">
              <a:lnSpc>
                <a:spcPct val="122000"/>
              </a:lnSpc>
              <a:spcAft>
                <a:spcPts val="0"/>
              </a:spcAft>
            </a:pPr>
            <a:r>
              <a:rPr sz="1350" b="1" i="0">
                <a:solidFill>
                  <a:srgbClr val="1A1A1A"/>
                </a:solidFill>
                <a:latin typeface="Calibri"/>
              </a:rPr>
              <a:t>Reproducible by construction  </a:t>
            </a:r>
          </a:p>
          <a:p>
            <a:pPr algn="l">
              <a:lnSpc>
                <a:spcPct val="122000"/>
              </a:lnSpc>
              <a:spcAft>
                <a:spcPts val="0"/>
              </a:spcAft>
            </a:pPr>
            <a:r>
              <a:rPr sz="1350" b="0" i="0">
                <a:solidFill>
                  <a:srgbClr val="5F6670"/>
                </a:solidFill>
                <a:latin typeface="Calibri"/>
              </a:rPr>
              <a:t>flux-schnell on Replicate at 1024×1024, one pinned version, every seed recorded.</a:t>
            </a:r>
          </a:p>
        </p:txBody>
      </p:sp>
      <p:pic>
        <p:nvPicPr>
          <p:cNvPr id="44" name="Picture 43" descr="world-map.png"/>
          <p:cNvPicPr>
            <a:picLocks noChangeAspect="1"/>
          </p:cNvPicPr>
          <p:nvPr/>
        </p:nvPicPr>
        <p:blipFill>
          <a:blip r:embed="rId4"/>
          <a:stretch>
            <a:fillRect/>
          </a:stretch>
        </p:blipFill>
        <p:spPr>
          <a:xfrm>
            <a:off x="1005840" y="15958896"/>
            <a:ext cx="13898880" cy="5881542"/>
          </a:xfrm>
          <a:prstGeom prst="rect">
            <a:avLst/>
          </a:prstGeom>
        </p:spPr>
      </p:pic>
      <p:sp>
        <p:nvSpPr>
          <p:cNvPr id="45" name="TextBox 44"/>
          <p:cNvSpPr txBox="1"/>
          <p:nvPr/>
        </p:nvSpPr>
        <p:spPr>
          <a:xfrm>
            <a:off x="1005840" y="23228376"/>
            <a:ext cx="9555480" cy="402336"/>
          </a:xfrm>
          <a:prstGeom prst="rect">
            <a:avLst/>
          </a:prstGeom>
          <a:noFill/>
        </p:spPr>
        <p:txBody>
          <a:bodyPr wrap="square" lIns="0" rIns="0" tIns="0" bIns="0" anchor="t">
            <a:spAutoFit/>
          </a:bodyPr>
          <a:lstStyle/>
          <a:p>
            <a:pPr algn="l">
              <a:lnSpc>
                <a:spcPct val="108000"/>
              </a:lnSpc>
              <a:spcAft>
                <a:spcPts val="0"/>
              </a:spcAft>
            </a:pPr>
            <a:r>
              <a:rPr sz="2600" b="1" i="0">
                <a:solidFill>
                  <a:srgbClr val="1A1A1A"/>
                </a:solidFill>
                <a:latin typeface="Cambria"/>
              </a:rPr>
              <a:t>What predicts the warmth</a:t>
            </a:r>
          </a:p>
        </p:txBody>
      </p:sp>
      <p:graphicFrame>
        <p:nvGraphicFramePr>
          <p:cNvPr id="46" name="Table 45"/>
          <p:cNvGraphicFramePr>
            <a:graphicFrameLocks noGrp="1"/>
          </p:cNvGraphicFramePr>
          <p:nvPr/>
        </p:nvGraphicFramePr>
        <p:xfrm>
          <a:off x="1005840" y="23703864"/>
          <a:ext cx="9555478" cy="2487168"/>
        </p:xfrm>
        <a:graphic>
          <a:graphicData uri="http://schemas.openxmlformats.org/drawingml/2006/table">
            <a:tbl>
              <a:tblPr firstRow="1" bandRow="1">
                <a:tableStyleId>{5C22544A-7EE6-4342-B048-85BDC9FD1C3A}</a:tableStyleId>
              </a:tblPr>
              <a:tblGrid>
                <a:gridCol w="2866644"/>
                <a:gridCol w="1051102"/>
                <a:gridCol w="2006650"/>
                <a:gridCol w="1815541"/>
                <a:gridCol w="1815541"/>
              </a:tblGrid>
              <a:tr h="402336">
                <a:tc>
                  <a:txBody>
                    <a:bodyPr/>
                    <a:lstStyle/>
                    <a:p>
                      <a:pPr algn="l"/>
                      <a:r>
                        <a:rPr sz="1500" b="1">
                          <a:solidFill>
                            <a:srgbClr val="5F6670"/>
                          </a:solidFill>
                          <a:latin typeface="Calibri"/>
                        </a:rPr>
                        <a:t>held constant</a:t>
                      </a:r>
                    </a:p>
                  </a:txBody>
                  <a:tcPr marL="91440" marR="91440" marT="27432" marB="27432" anchor="ctr">
                    <a:solidFill>
                      <a:srgbClr val="F4F6F8"/>
                    </a:solidFill>
                  </a:tcPr>
                </a:tc>
                <a:tc>
                  <a:txBody>
                    <a:bodyPr/>
                    <a:lstStyle/>
                    <a:p>
                      <a:pPr algn="r"/>
                      <a:r>
                        <a:rPr sz="1500" b="1">
                          <a:solidFill>
                            <a:srgbClr val="5F6670"/>
                          </a:solidFill>
                          <a:latin typeface="Calibri"/>
                        </a:rPr>
                        <a:t>r²</a:t>
                      </a:r>
                    </a:p>
                  </a:txBody>
                  <a:tcPr marL="91440" marR="91440" marT="27432" marB="27432" anchor="ctr">
                    <a:solidFill>
                      <a:srgbClr val="F4F6F8"/>
                    </a:solidFill>
                  </a:tcPr>
                </a:tc>
                <a:tc>
                  <a:txBody>
                    <a:bodyPr/>
                    <a:lstStyle/>
                    <a:p>
                      <a:pPr algn="r"/>
                      <a:r>
                        <a:rPr sz="1500" b="1">
                          <a:solidFill>
                            <a:srgbClr val="5F6670"/>
                          </a:solidFill>
                          <a:latin typeface="Calibri"/>
                        </a:rPr>
                        <a:t>low income</a:t>
                      </a:r>
                    </a:p>
                  </a:txBody>
                  <a:tcPr marL="91440" marR="91440" marT="27432" marB="27432" anchor="ctr">
                    <a:solidFill>
                      <a:srgbClr val="F4F6F8"/>
                    </a:solidFill>
                  </a:tcPr>
                </a:tc>
                <a:tc>
                  <a:txBody>
                    <a:bodyPr/>
                    <a:lstStyle/>
                    <a:p>
                      <a:pPr algn="r"/>
                      <a:r>
                        <a:rPr sz="1500" b="1">
                          <a:solidFill>
                            <a:srgbClr val="5F6670"/>
                          </a:solidFill>
                          <a:latin typeface="Calibri"/>
                        </a:rPr>
                        <a:t>Africa</a:t>
                      </a:r>
                    </a:p>
                  </a:txBody>
                  <a:tcPr marL="91440" marR="91440" marT="27432" marB="27432" anchor="ctr">
                    <a:solidFill>
                      <a:srgbClr val="F4F6F8"/>
                    </a:solidFill>
                  </a:tcPr>
                </a:tc>
                <a:tc>
                  <a:txBody>
                    <a:bodyPr/>
                    <a:lstStyle/>
                    <a:p>
                      <a:pPr algn="r"/>
                      <a:r>
                        <a:rPr sz="1500" b="1">
                          <a:solidFill>
                            <a:srgbClr val="5F6670"/>
                          </a:solidFill>
                          <a:latin typeface="Calibri"/>
                        </a:rPr>
                        <a:t>Asia</a:t>
                      </a:r>
                    </a:p>
                  </a:txBody>
                  <a:tcPr marL="91440" marR="91440" marT="27432" marB="27432" anchor="ctr">
                    <a:solidFill>
                      <a:srgbClr val="F4F6F8"/>
                    </a:solidFill>
                  </a:tcPr>
                </a:tc>
              </a:tr>
              <a:tr h="347472">
                <a:tc>
                  <a:txBody>
                    <a:bodyPr/>
                    <a:lstStyle/>
                    <a:p>
                      <a:pPr algn="l"/>
                      <a:r>
                        <a:rPr sz="1600" b="0">
                          <a:solidFill>
                            <a:srgbClr val="1A1A1A"/>
                          </a:solidFill>
                          <a:latin typeface="Calibri"/>
                        </a:rPr>
                        <a:t>nothing</a:t>
                      </a:r>
                    </a:p>
                  </a:txBody>
                  <a:tcPr marL="91440" marR="91440" marT="27432" marB="27432" anchor="ctr">
                    <a:solidFill>
                      <a:srgbClr val="FFFFFF"/>
                    </a:solidFill>
                  </a:tcPr>
                </a:tc>
                <a:tc>
                  <a:txBody>
                    <a:bodyPr/>
                    <a:lstStyle/>
                    <a:p>
                      <a:pPr algn="r"/>
                      <a:r>
                        <a:rPr sz="1600" b="0">
                          <a:solidFill>
                            <a:srgbClr val="1A1A1A"/>
                          </a:solidFill>
                          <a:latin typeface="Calibri"/>
                        </a:rPr>
                        <a:t>—</a:t>
                      </a:r>
                    </a:p>
                  </a:txBody>
                  <a:tcPr marL="91440" marR="91440" marT="27432" marB="27432" anchor="ctr">
                    <a:solidFill>
                      <a:srgbClr val="FFFFFF"/>
                    </a:solidFill>
                  </a:tcPr>
                </a:tc>
                <a:tc>
                  <a:txBody>
                    <a:bodyPr/>
                    <a:lstStyle/>
                    <a:p>
                      <a:pPr algn="r"/>
                      <a:r>
                        <a:rPr sz="1600" b="0">
                          <a:solidFill>
                            <a:srgbClr val="1A1A1A"/>
                          </a:solidFill>
                          <a:latin typeface="Calibri"/>
                        </a:rPr>
                        <a:t>+0.72 (.018)</a:t>
                      </a:r>
                    </a:p>
                  </a:txBody>
                  <a:tcPr marL="91440" marR="91440" marT="27432" marB="27432" anchor="ctr">
                    <a:solidFill>
                      <a:srgbClr val="FFFFFF"/>
                    </a:solidFill>
                  </a:tcPr>
                </a:tc>
                <a:tc>
                  <a:txBody>
                    <a:bodyPr/>
                    <a:lstStyle/>
                    <a:p>
                      <a:pPr algn="r"/>
                      <a:r>
                        <a:rPr sz="1600" b="0">
                          <a:solidFill>
                            <a:srgbClr val="1A1A1A"/>
                          </a:solidFill>
                          <a:latin typeface="Calibri"/>
                        </a:rPr>
                        <a:t>+0.62 (.030)</a:t>
                      </a:r>
                    </a:p>
                  </a:txBody>
                  <a:tcPr marL="91440" marR="91440" marT="27432" marB="27432" anchor="ctr">
                    <a:solidFill>
                      <a:srgbClr val="FFFFFF"/>
                    </a:solidFill>
                  </a:tcPr>
                </a:tc>
                <a:tc>
                  <a:txBody>
                    <a:bodyPr/>
                    <a:lstStyle/>
                    <a:p>
                      <a:pPr algn="r"/>
                      <a:r>
                        <a:rPr sz="1600" b="0">
                          <a:solidFill>
                            <a:srgbClr val="1A1A1A"/>
                          </a:solidFill>
                          <a:latin typeface="Calibri"/>
                        </a:rPr>
                        <a:t>+0.60 (.026)</a:t>
                      </a:r>
                    </a:p>
                  </a:txBody>
                  <a:tcPr marL="91440" marR="91440" marT="27432" marB="27432" anchor="ctr">
                    <a:solidFill>
                      <a:srgbClr val="FFFFFF"/>
                    </a:solidFill>
                  </a:tcPr>
                </a:tc>
              </a:tr>
              <a:tr h="347472">
                <a:tc>
                  <a:txBody>
                    <a:bodyPr/>
                    <a:lstStyle/>
                    <a:p>
                      <a:pPr algn="l"/>
                      <a:r>
                        <a:rPr sz="1600" b="0">
                          <a:solidFill>
                            <a:srgbClr val="1A1A1A"/>
                          </a:solidFill>
                          <a:latin typeface="Calibri"/>
                        </a:rPr>
                        <a:t>|latitude|</a:t>
                      </a:r>
                    </a:p>
                  </a:txBody>
                  <a:tcPr marL="91440" marR="91440" marT="27432" marB="27432" anchor="ctr">
                    <a:solidFill>
                      <a:srgbClr val="F4F6F8"/>
                    </a:solidFill>
                  </a:tcPr>
                </a:tc>
                <a:tc>
                  <a:txBody>
                    <a:bodyPr/>
                    <a:lstStyle/>
                    <a:p>
                      <a:pPr algn="r"/>
                      <a:r>
                        <a:rPr sz="1600" b="0">
                          <a:solidFill>
                            <a:srgbClr val="1A1A1A"/>
                          </a:solidFill>
                          <a:latin typeface="Calibri"/>
                        </a:rPr>
                        <a:t>5%</a:t>
                      </a:r>
                    </a:p>
                  </a:txBody>
                  <a:tcPr marL="91440" marR="91440" marT="27432" marB="27432" anchor="ctr">
                    <a:solidFill>
                      <a:srgbClr val="F4F6F8"/>
                    </a:solidFill>
                  </a:tcPr>
                </a:tc>
                <a:tc>
                  <a:txBody>
                    <a:bodyPr/>
                    <a:lstStyle/>
                    <a:p>
                      <a:pPr algn="r"/>
                      <a:r>
                        <a:rPr sz="1600" b="0">
                          <a:solidFill>
                            <a:srgbClr val="1A1A1A"/>
                          </a:solidFill>
                          <a:latin typeface="Calibri"/>
                        </a:rPr>
                        <a:t>+0.62 (.041)</a:t>
                      </a:r>
                    </a:p>
                  </a:txBody>
                  <a:tcPr marL="91440" marR="91440" marT="27432" marB="27432" anchor="ctr">
                    <a:solidFill>
                      <a:srgbClr val="F4F6F8"/>
                    </a:solidFill>
                  </a:tcPr>
                </a:tc>
                <a:tc>
                  <a:txBody>
                    <a:bodyPr/>
                    <a:lstStyle/>
                    <a:p>
                      <a:pPr algn="r"/>
                      <a:r>
                        <a:rPr sz="1600" b="0">
                          <a:solidFill>
                            <a:srgbClr val="1A1A1A"/>
                          </a:solidFill>
                          <a:latin typeface="Calibri"/>
                        </a:rPr>
                        <a:t>+0.47 (.097)</a:t>
                      </a:r>
                    </a:p>
                  </a:txBody>
                  <a:tcPr marL="91440" marR="91440" marT="27432" marB="27432" anchor="ctr">
                    <a:solidFill>
                      <a:srgbClr val="F4F6F8"/>
                    </a:solidFill>
                  </a:tcPr>
                </a:tc>
                <a:tc>
                  <a:txBody>
                    <a:bodyPr/>
                    <a:lstStyle/>
                    <a:p>
                      <a:pPr algn="r"/>
                      <a:r>
                        <a:rPr sz="1600" b="0">
                          <a:solidFill>
                            <a:srgbClr val="1A1A1A"/>
                          </a:solidFill>
                          <a:latin typeface="Calibri"/>
                        </a:rPr>
                        <a:t>+0.79 (.005)</a:t>
                      </a:r>
                    </a:p>
                  </a:txBody>
                  <a:tcPr marL="91440" marR="91440" marT="27432" marB="27432" anchor="ctr">
                    <a:solidFill>
                      <a:srgbClr val="F4F6F8"/>
                    </a:solidFill>
                  </a:tcPr>
                </a:tc>
              </a:tr>
              <a:tr h="347472">
                <a:tc>
                  <a:txBody>
                    <a:bodyPr/>
                    <a:lstStyle/>
                    <a:p>
                      <a:pPr algn="l"/>
                      <a:r>
                        <a:rPr sz="1600" b="0">
                          <a:solidFill>
                            <a:srgbClr val="1A1A1A"/>
                          </a:solidFill>
                          <a:latin typeface="Calibri"/>
                        </a:rPr>
                        <a:t>log rainfall</a:t>
                      </a:r>
                    </a:p>
                  </a:txBody>
                  <a:tcPr marL="91440" marR="91440" marT="27432" marB="27432" anchor="ctr">
                    <a:solidFill>
                      <a:srgbClr val="FFFFFF"/>
                    </a:solidFill>
                  </a:tcPr>
                </a:tc>
                <a:tc>
                  <a:txBody>
                    <a:bodyPr/>
                    <a:lstStyle/>
                    <a:p>
                      <a:pPr algn="r"/>
                      <a:r>
                        <a:rPr sz="1600" b="0">
                          <a:solidFill>
                            <a:srgbClr val="1A1A1A"/>
                          </a:solidFill>
                          <a:latin typeface="Calibri"/>
                        </a:rPr>
                        <a:t>18%</a:t>
                      </a:r>
                    </a:p>
                  </a:txBody>
                  <a:tcPr marL="91440" marR="91440" marT="27432" marB="27432" anchor="ctr">
                    <a:solidFill>
                      <a:srgbClr val="FFFFFF"/>
                    </a:solidFill>
                  </a:tcPr>
                </a:tc>
                <a:tc>
                  <a:txBody>
                    <a:bodyPr/>
                    <a:lstStyle/>
                    <a:p>
                      <a:pPr algn="r"/>
                      <a:r>
                        <a:rPr sz="1600" b="0">
                          <a:solidFill>
                            <a:srgbClr val="1A1A1A"/>
                          </a:solidFill>
                          <a:latin typeface="Calibri"/>
                        </a:rPr>
                        <a:t>+0.73 (.017)</a:t>
                      </a:r>
                    </a:p>
                  </a:txBody>
                  <a:tcPr marL="91440" marR="91440" marT="27432" marB="27432" anchor="ctr">
                    <a:solidFill>
                      <a:srgbClr val="FFFFFF"/>
                    </a:solidFill>
                  </a:tcPr>
                </a:tc>
                <a:tc>
                  <a:txBody>
                    <a:bodyPr/>
                    <a:lstStyle/>
                    <a:p>
                      <a:pPr algn="r"/>
                      <a:r>
                        <a:rPr sz="1600" b="0">
                          <a:solidFill>
                            <a:srgbClr val="1A1A1A"/>
                          </a:solidFill>
                          <a:latin typeface="Calibri"/>
                        </a:rPr>
                        <a:t>+0.51 (.073)</a:t>
                      </a:r>
                    </a:p>
                  </a:txBody>
                  <a:tcPr marL="91440" marR="91440" marT="27432" marB="27432" anchor="ctr">
                    <a:solidFill>
                      <a:srgbClr val="FFFFFF"/>
                    </a:solidFill>
                  </a:tcPr>
                </a:tc>
                <a:tc>
                  <a:txBody>
                    <a:bodyPr/>
                    <a:lstStyle/>
                    <a:p>
                      <a:pPr algn="r"/>
                      <a:r>
                        <a:rPr sz="1600" b="0">
                          <a:solidFill>
                            <a:srgbClr val="1A1A1A"/>
                          </a:solidFill>
                          <a:latin typeface="Calibri"/>
                        </a:rPr>
                        <a:t>+0.42 (.114)</a:t>
                      </a:r>
                    </a:p>
                  </a:txBody>
                  <a:tcPr marL="91440" marR="91440" marT="27432" marB="27432" anchor="ctr">
                    <a:solidFill>
                      <a:srgbClr val="FFFFFF"/>
                    </a:solidFill>
                  </a:tcPr>
                </a:tc>
              </a:tr>
              <a:tr h="347472">
                <a:tc>
                  <a:txBody>
                    <a:bodyPr/>
                    <a:lstStyle/>
                    <a:p>
                      <a:pPr algn="l"/>
                      <a:r>
                        <a:rPr sz="1600" b="0">
                          <a:solidFill>
                            <a:srgbClr val="1A1A1A"/>
                          </a:solidFill>
                          <a:latin typeface="Calibri"/>
                        </a:rPr>
                        <a:t>mean temperature</a:t>
                      </a:r>
                    </a:p>
                  </a:txBody>
                  <a:tcPr marL="91440" marR="91440" marT="27432" marB="27432" anchor="ctr">
                    <a:solidFill>
                      <a:srgbClr val="F4F6F8"/>
                    </a:solidFill>
                  </a:tcPr>
                </a:tc>
                <a:tc>
                  <a:txBody>
                    <a:bodyPr/>
                    <a:lstStyle/>
                    <a:p>
                      <a:pPr algn="r"/>
                      <a:r>
                        <a:rPr sz="1600" b="0">
                          <a:solidFill>
                            <a:srgbClr val="1A1A1A"/>
                          </a:solidFill>
                          <a:latin typeface="Calibri"/>
                        </a:rPr>
                        <a:t>25%</a:t>
                      </a:r>
                    </a:p>
                  </a:txBody>
                  <a:tcPr marL="91440" marR="91440" marT="27432" marB="27432" anchor="ctr">
                    <a:solidFill>
                      <a:srgbClr val="F4F6F8"/>
                    </a:solidFill>
                  </a:tcPr>
                </a:tc>
                <a:tc>
                  <a:txBody>
                    <a:bodyPr/>
                    <a:lstStyle/>
                    <a:p>
                      <a:pPr algn="r"/>
                      <a:r>
                        <a:rPr sz="1600" b="0">
                          <a:solidFill>
                            <a:srgbClr val="1A1A1A"/>
                          </a:solidFill>
                          <a:latin typeface="Calibri"/>
                        </a:rPr>
                        <a:t>+0.72 (.018)</a:t>
                      </a:r>
                    </a:p>
                  </a:txBody>
                  <a:tcPr marL="91440" marR="91440" marT="27432" marB="27432" anchor="ctr">
                    <a:solidFill>
                      <a:srgbClr val="F4F6F8"/>
                    </a:solidFill>
                  </a:tcPr>
                </a:tc>
                <a:tc>
                  <a:txBody>
                    <a:bodyPr/>
                    <a:lstStyle/>
                    <a:p>
                      <a:pPr algn="r"/>
                      <a:r>
                        <a:rPr sz="1600" b="0">
                          <a:solidFill>
                            <a:srgbClr val="1A1A1A"/>
                          </a:solidFill>
                          <a:latin typeface="Calibri"/>
                        </a:rPr>
                        <a:t>+0.33 (.228)</a:t>
                      </a:r>
                    </a:p>
                  </a:txBody>
                  <a:tcPr marL="91440" marR="91440" marT="27432" marB="27432" anchor="ctr">
                    <a:solidFill>
                      <a:srgbClr val="F4F6F8"/>
                    </a:solidFill>
                  </a:tcPr>
                </a:tc>
                <a:tc>
                  <a:txBody>
                    <a:bodyPr/>
                    <a:lstStyle/>
                    <a:p>
                      <a:pPr algn="r"/>
                      <a:r>
                        <a:rPr sz="1600" b="0">
                          <a:solidFill>
                            <a:srgbClr val="1A1A1A"/>
                          </a:solidFill>
                          <a:latin typeface="Calibri"/>
                        </a:rPr>
                        <a:t>+0.88 (.003)</a:t>
                      </a:r>
                    </a:p>
                  </a:txBody>
                  <a:tcPr marL="91440" marR="91440" marT="27432" marB="27432" anchor="ctr">
                    <a:solidFill>
                      <a:srgbClr val="F4F6F8"/>
                    </a:solidFill>
                  </a:tcPr>
                </a:tc>
              </a:tr>
              <a:tr h="347472">
                <a:tc>
                  <a:txBody>
                    <a:bodyPr/>
                    <a:lstStyle/>
                    <a:p>
                      <a:pPr algn="l"/>
                      <a:r>
                        <a:rPr sz="1600" b="0">
                          <a:solidFill>
                            <a:srgbClr val="1A1A1A"/>
                          </a:solidFill>
                          <a:latin typeface="Calibri"/>
                        </a:rPr>
                        <a:t>forest cover</a:t>
                      </a:r>
                    </a:p>
                  </a:txBody>
                  <a:tcPr marL="91440" marR="91440" marT="27432" marB="27432" anchor="ctr">
                    <a:solidFill>
                      <a:srgbClr val="FFFFFF"/>
                    </a:solidFill>
                  </a:tcPr>
                </a:tc>
                <a:tc>
                  <a:txBody>
                    <a:bodyPr/>
                    <a:lstStyle/>
                    <a:p>
                      <a:pPr algn="r"/>
                      <a:r>
                        <a:rPr sz="1600" b="0">
                          <a:solidFill>
                            <a:srgbClr val="1A1A1A"/>
                          </a:solidFill>
                          <a:latin typeface="Calibri"/>
                        </a:rPr>
                        <a:t>30%</a:t>
                      </a:r>
                    </a:p>
                  </a:txBody>
                  <a:tcPr marL="91440" marR="91440" marT="27432" marB="27432" anchor="ctr">
                    <a:solidFill>
                      <a:srgbClr val="FFFFFF"/>
                    </a:solidFill>
                  </a:tcPr>
                </a:tc>
                <a:tc>
                  <a:txBody>
                    <a:bodyPr/>
                    <a:lstStyle/>
                    <a:p>
                      <a:pPr algn="r"/>
                      <a:r>
                        <a:rPr sz="1600" b="0">
                          <a:solidFill>
                            <a:srgbClr val="1A1A1A"/>
                          </a:solidFill>
                          <a:latin typeface="Calibri"/>
                        </a:rPr>
                        <a:t>+0.48 (.116)</a:t>
                      </a:r>
                    </a:p>
                  </a:txBody>
                  <a:tcPr marL="91440" marR="91440" marT="27432" marB="27432" anchor="ctr">
                    <a:solidFill>
                      <a:srgbClr val="FFFFFF"/>
                    </a:solidFill>
                  </a:tcPr>
                </a:tc>
                <a:tc>
                  <a:txBody>
                    <a:bodyPr/>
                    <a:lstStyle/>
                    <a:p>
                      <a:pPr algn="r"/>
                      <a:r>
                        <a:rPr sz="1600" b="0">
                          <a:solidFill>
                            <a:srgbClr val="1A1A1A"/>
                          </a:solidFill>
                          <a:latin typeface="Calibri"/>
                        </a:rPr>
                        <a:t>+0.23 (.404)</a:t>
                      </a:r>
                    </a:p>
                  </a:txBody>
                  <a:tcPr marL="91440" marR="91440" marT="27432" marB="27432" anchor="ctr">
                    <a:solidFill>
                      <a:srgbClr val="FFFFFF"/>
                    </a:solidFill>
                  </a:tcPr>
                </a:tc>
                <a:tc>
                  <a:txBody>
                    <a:bodyPr/>
                    <a:lstStyle/>
                    <a:p>
                      <a:pPr algn="r"/>
                      <a:r>
                        <a:rPr sz="1600" b="0">
                          <a:solidFill>
                            <a:srgbClr val="1A1A1A"/>
                          </a:solidFill>
                          <a:latin typeface="Calibri"/>
                        </a:rPr>
                        <a:t>+0.44 (.110)</a:t>
                      </a:r>
                    </a:p>
                  </a:txBody>
                  <a:tcPr marL="91440" marR="91440" marT="27432" marB="27432" anchor="ctr">
                    <a:solidFill>
                      <a:srgbClr val="FFFFFF"/>
                    </a:solidFill>
                  </a:tcPr>
                </a:tc>
              </a:tr>
              <a:tr h="347472">
                <a:tc>
                  <a:txBody>
                    <a:bodyPr/>
                    <a:lstStyle/>
                    <a:p>
                      <a:pPr algn="l"/>
                      <a:r>
                        <a:rPr sz="1600" b="1">
                          <a:solidFill>
                            <a:srgbClr val="1A1A1A"/>
                          </a:solidFill>
                          <a:latin typeface="Calibri"/>
                        </a:rPr>
                        <a:t>all four together</a:t>
                      </a:r>
                    </a:p>
                  </a:txBody>
                  <a:tcPr marL="91440" marR="91440" marT="27432" marB="27432" anchor="ctr">
                    <a:solidFill>
                      <a:srgbClr val="F4F6F8"/>
                    </a:solidFill>
                  </a:tcPr>
                </a:tc>
                <a:tc>
                  <a:txBody>
                    <a:bodyPr/>
                    <a:lstStyle/>
                    <a:p>
                      <a:pPr algn="r"/>
                      <a:r>
                        <a:rPr sz="1600" b="1">
                          <a:solidFill>
                            <a:srgbClr val="1A1A1A"/>
                          </a:solidFill>
                          <a:latin typeface="Calibri"/>
                        </a:rPr>
                        <a:t>46%</a:t>
                      </a:r>
                    </a:p>
                  </a:txBody>
                  <a:tcPr marL="91440" marR="91440" marT="27432" marB="27432" anchor="ctr">
                    <a:solidFill>
                      <a:srgbClr val="F4F6F8"/>
                    </a:solidFill>
                  </a:tcPr>
                </a:tc>
                <a:tc>
                  <a:txBody>
                    <a:bodyPr/>
                    <a:lstStyle/>
                    <a:p>
                      <a:pPr algn="r"/>
                      <a:r>
                        <a:rPr sz="1600" b="1">
                          <a:solidFill>
                            <a:srgbClr val="1A1A1A"/>
                          </a:solidFill>
                          <a:latin typeface="Calibri"/>
                        </a:rPr>
                        <a:t>+0.52 (.091)</a:t>
                      </a:r>
                    </a:p>
                  </a:txBody>
                  <a:tcPr marL="91440" marR="91440" marT="27432" marB="27432" anchor="ctr">
                    <a:solidFill>
                      <a:srgbClr val="F4F6F8"/>
                    </a:solidFill>
                  </a:tcPr>
                </a:tc>
                <a:tc>
                  <a:txBody>
                    <a:bodyPr/>
                    <a:lstStyle/>
                    <a:p>
                      <a:pPr algn="r"/>
                      <a:r>
                        <a:rPr sz="1600" b="1">
                          <a:solidFill>
                            <a:srgbClr val="1A1A1A"/>
                          </a:solidFill>
                          <a:latin typeface="Calibri"/>
                        </a:rPr>
                        <a:t>−0.03 (.919)</a:t>
                      </a:r>
                    </a:p>
                  </a:txBody>
                  <a:tcPr marL="91440" marR="91440" marT="27432" marB="27432" anchor="ctr">
                    <a:solidFill>
                      <a:srgbClr val="F4F6F8"/>
                    </a:solidFill>
                  </a:tcPr>
                </a:tc>
                <a:tc>
                  <a:txBody>
                    <a:bodyPr/>
                    <a:lstStyle/>
                    <a:p>
                      <a:pPr algn="r"/>
                      <a:r>
                        <a:rPr sz="1600" b="1">
                          <a:solidFill>
                            <a:srgbClr val="1A1A1A"/>
                          </a:solidFill>
                          <a:latin typeface="Calibri"/>
                        </a:rPr>
                        <a:t>+0.73 (.011)</a:t>
                      </a:r>
                    </a:p>
                  </a:txBody>
                  <a:tcPr marL="91440" marR="91440" marT="27432" marB="27432" anchor="ctr">
                    <a:solidFill>
                      <a:srgbClr val="F4F6F8"/>
                    </a:solidFill>
                  </a:tcPr>
                </a:tc>
              </a:tr>
            </a:tbl>
          </a:graphicData>
        </a:graphic>
      </p:graphicFrame>
      <p:sp>
        <p:nvSpPr>
          <p:cNvPr id="47" name="TextBox 46"/>
          <p:cNvSpPr txBox="1"/>
          <p:nvPr/>
        </p:nvSpPr>
        <p:spPr>
          <a:xfrm>
            <a:off x="1005840" y="26373912"/>
            <a:ext cx="9555480" cy="914400"/>
          </a:xfrm>
          <a:prstGeom prst="rect">
            <a:avLst/>
          </a:prstGeom>
          <a:noFill/>
        </p:spPr>
        <p:txBody>
          <a:bodyPr wrap="square" lIns="0" rIns="0" tIns="0" bIns="0" anchor="t">
            <a:spAutoFit/>
          </a:bodyPr>
          <a:lstStyle/>
          <a:p>
            <a:pPr algn="l">
              <a:lnSpc>
                <a:spcPct val="125000"/>
              </a:lnSpc>
              <a:spcAft>
                <a:spcPts val="0"/>
              </a:spcAft>
            </a:pPr>
            <a:r>
              <a:rPr sz="1350" b="0" i="0">
                <a:solidFill>
                  <a:srgbClr val="5F6670"/>
                </a:solidFill>
                <a:latin typeface="Calibri"/>
              </a:rPr>
              <a:t>Each row holds a rival explanation constant and asks the comparison again. Cohen's d with the permutation p-value in brackets; r² is the share of the spread between countries that the controls account for.</a:t>
            </a:r>
          </a:p>
        </p:txBody>
      </p:sp>
      <p:sp>
        <p:nvSpPr>
          <p:cNvPr id="48" name="TextBox 47"/>
          <p:cNvSpPr txBox="1"/>
          <p:nvPr/>
        </p:nvSpPr>
        <p:spPr>
          <a:xfrm>
            <a:off x="11384280" y="23228376"/>
            <a:ext cx="9555480" cy="402336"/>
          </a:xfrm>
          <a:prstGeom prst="rect">
            <a:avLst/>
          </a:prstGeom>
          <a:noFill/>
        </p:spPr>
        <p:txBody>
          <a:bodyPr wrap="square" lIns="0" rIns="0" tIns="0" bIns="0" anchor="t">
            <a:spAutoFit/>
          </a:bodyPr>
          <a:lstStyle/>
          <a:p>
            <a:pPr algn="l">
              <a:lnSpc>
                <a:spcPct val="108000"/>
              </a:lnSpc>
              <a:spcAft>
                <a:spcPts val="0"/>
              </a:spcAft>
            </a:pPr>
            <a:r>
              <a:rPr sz="2600" b="1" i="0">
                <a:solidFill>
                  <a:srgbClr val="1A1A1A"/>
                </a:solidFill>
                <a:latin typeface="Cambria"/>
              </a:rPr>
              <a:t>What it found</a:t>
            </a:r>
          </a:p>
        </p:txBody>
      </p:sp>
      <p:sp>
        <p:nvSpPr>
          <p:cNvPr id="49" name="TextBox 48"/>
          <p:cNvSpPr txBox="1"/>
          <p:nvPr/>
        </p:nvSpPr>
        <p:spPr>
          <a:xfrm>
            <a:off x="11384280" y="23722152"/>
            <a:ext cx="365760" cy="310896"/>
          </a:xfrm>
          <a:prstGeom prst="rect">
            <a:avLst/>
          </a:prstGeom>
          <a:noFill/>
        </p:spPr>
        <p:txBody>
          <a:bodyPr wrap="square" lIns="0" rIns="0" tIns="0" bIns="0" anchor="t">
            <a:spAutoFit/>
          </a:bodyPr>
          <a:lstStyle/>
          <a:p>
            <a:pPr algn="l">
              <a:lnSpc>
                <a:spcPct val="108000"/>
              </a:lnSpc>
              <a:spcAft>
                <a:spcPts val="0"/>
              </a:spcAft>
            </a:pPr>
            <a:r>
              <a:rPr sz="1800" b="1" i="0">
                <a:solidFill>
                  <a:srgbClr val="B07C1F"/>
                </a:solidFill>
                <a:latin typeface="Cambria"/>
              </a:rPr>
              <a:t>1</a:t>
            </a:r>
          </a:p>
        </p:txBody>
      </p:sp>
      <p:sp>
        <p:nvSpPr>
          <p:cNvPr id="50" name="TextBox 49"/>
          <p:cNvSpPr txBox="1"/>
          <p:nvPr/>
        </p:nvSpPr>
        <p:spPr>
          <a:xfrm>
            <a:off x="11768328" y="23703864"/>
            <a:ext cx="9171432" cy="274320"/>
          </a:xfrm>
          <a:prstGeom prst="rect">
            <a:avLst/>
          </a:prstGeom>
          <a:noFill/>
        </p:spPr>
        <p:txBody>
          <a:bodyPr wrap="square" lIns="0" rIns="0" tIns="0" bIns="0" anchor="t">
            <a:spAutoFit/>
          </a:bodyPr>
          <a:lstStyle/>
          <a:p>
            <a:pPr algn="l">
              <a:lnSpc>
                <a:spcPct val="108000"/>
              </a:lnSpc>
              <a:spcAft>
                <a:spcPts val="0"/>
              </a:spcAft>
            </a:pPr>
            <a:r>
              <a:rPr sz="1700" b="1" i="0">
                <a:solidFill>
                  <a:srgbClr val="1A1A1A"/>
                </a:solidFill>
                <a:latin typeface="Cambria"/>
              </a:rPr>
              <a:t>Naming a country warms the picture</a:t>
            </a:r>
          </a:p>
        </p:txBody>
      </p:sp>
      <p:sp>
        <p:nvSpPr>
          <p:cNvPr id="51" name="TextBox 50"/>
          <p:cNvSpPr txBox="1"/>
          <p:nvPr/>
        </p:nvSpPr>
        <p:spPr>
          <a:xfrm>
            <a:off x="11768328" y="24005616"/>
            <a:ext cx="9171432" cy="457200"/>
          </a:xfrm>
          <a:prstGeom prst="rect">
            <a:avLst/>
          </a:prstGeom>
          <a:noFill/>
        </p:spPr>
        <p:txBody>
          <a:bodyPr wrap="square" lIns="0" rIns="0" tIns="0" bIns="0" anchor="t">
            <a:spAutoFit/>
          </a:bodyPr>
          <a:lstStyle/>
          <a:p>
            <a:pPr algn="l">
              <a:lnSpc>
                <a:spcPct val="125000"/>
              </a:lnSpc>
              <a:spcAft>
                <a:spcPts val="0"/>
              </a:spcAft>
            </a:pPr>
            <a:r>
              <a:rPr sz="1450" b="0" i="0">
                <a:solidFill>
                  <a:srgbClr val="5F6670"/>
                </a:solidFill>
                <a:latin typeface="Calibri"/>
              </a:rPr>
              <a:t>53 of the 60 countries are warmer than the model's own no-country default. Norway is the only one consistently cooler.</a:t>
            </a:r>
          </a:p>
        </p:txBody>
      </p:sp>
      <p:sp>
        <p:nvSpPr>
          <p:cNvPr id="52" name="TextBox 51"/>
          <p:cNvSpPr txBox="1"/>
          <p:nvPr/>
        </p:nvSpPr>
        <p:spPr>
          <a:xfrm>
            <a:off x="11384280" y="24682272"/>
            <a:ext cx="365760" cy="310896"/>
          </a:xfrm>
          <a:prstGeom prst="rect">
            <a:avLst/>
          </a:prstGeom>
          <a:noFill/>
        </p:spPr>
        <p:txBody>
          <a:bodyPr wrap="square" lIns="0" rIns="0" tIns="0" bIns="0" anchor="t">
            <a:spAutoFit/>
          </a:bodyPr>
          <a:lstStyle/>
          <a:p>
            <a:pPr algn="l">
              <a:lnSpc>
                <a:spcPct val="108000"/>
              </a:lnSpc>
              <a:spcAft>
                <a:spcPts val="0"/>
              </a:spcAft>
            </a:pPr>
            <a:r>
              <a:rPr sz="1800" b="1" i="0">
                <a:solidFill>
                  <a:srgbClr val="B07C1F"/>
                </a:solidFill>
                <a:latin typeface="Cambria"/>
              </a:rPr>
              <a:t>2</a:t>
            </a:r>
          </a:p>
        </p:txBody>
      </p:sp>
      <p:sp>
        <p:nvSpPr>
          <p:cNvPr id="53" name="TextBox 52"/>
          <p:cNvSpPr txBox="1"/>
          <p:nvPr/>
        </p:nvSpPr>
        <p:spPr>
          <a:xfrm>
            <a:off x="11768328" y="24663984"/>
            <a:ext cx="9171432" cy="274320"/>
          </a:xfrm>
          <a:prstGeom prst="rect">
            <a:avLst/>
          </a:prstGeom>
          <a:noFill/>
        </p:spPr>
        <p:txBody>
          <a:bodyPr wrap="square" lIns="0" rIns="0" tIns="0" bIns="0" anchor="t">
            <a:spAutoFit/>
          </a:bodyPr>
          <a:lstStyle/>
          <a:p>
            <a:pPr algn="l">
              <a:lnSpc>
                <a:spcPct val="108000"/>
              </a:lnSpc>
              <a:spcAft>
                <a:spcPts val="0"/>
              </a:spcAft>
            </a:pPr>
            <a:r>
              <a:rPr sz="1700" b="1" i="0">
                <a:solidFill>
                  <a:srgbClr val="1A1A1A"/>
                </a:solidFill>
                <a:latin typeface="Cambria"/>
              </a:rPr>
              <a:t>Income does not survive the controls</a:t>
            </a:r>
          </a:p>
        </p:txBody>
      </p:sp>
      <p:sp>
        <p:nvSpPr>
          <p:cNvPr id="54" name="TextBox 53"/>
          <p:cNvSpPr txBox="1"/>
          <p:nvPr/>
        </p:nvSpPr>
        <p:spPr>
          <a:xfrm>
            <a:off x="11768328" y="24965736"/>
            <a:ext cx="9171432" cy="667512"/>
          </a:xfrm>
          <a:prstGeom prst="rect">
            <a:avLst/>
          </a:prstGeom>
          <a:noFill/>
        </p:spPr>
        <p:txBody>
          <a:bodyPr wrap="square" lIns="0" rIns="0" tIns="0" bIns="0" anchor="t">
            <a:spAutoFit/>
          </a:bodyPr>
          <a:lstStyle/>
          <a:p>
            <a:pPr algn="l">
              <a:lnSpc>
                <a:spcPct val="125000"/>
              </a:lnSpc>
              <a:spcAft>
                <a:spcPts val="0"/>
              </a:spcAft>
            </a:pPr>
            <a:r>
              <a:rPr sz="1450" b="0" i="0">
                <a:solidFill>
                  <a:srgbClr val="5F6670"/>
                </a:solidFill>
                <a:latin typeface="Calibri"/>
              </a:rPr>
              <a:t>The poorest group is warmer as measured (d = +0.72), but holding real latitude, temperature, rainfall and forest cover constant drops it to +0.52 — no longer distinguishable from chance. Of the four, forest cover is the one that moves it.</a:t>
            </a:r>
          </a:p>
        </p:txBody>
      </p:sp>
      <p:sp>
        <p:nvSpPr>
          <p:cNvPr id="55" name="TextBox 54"/>
          <p:cNvSpPr txBox="1"/>
          <p:nvPr/>
        </p:nvSpPr>
        <p:spPr>
          <a:xfrm>
            <a:off x="11384280" y="25852704"/>
            <a:ext cx="365760" cy="310896"/>
          </a:xfrm>
          <a:prstGeom prst="rect">
            <a:avLst/>
          </a:prstGeom>
          <a:noFill/>
        </p:spPr>
        <p:txBody>
          <a:bodyPr wrap="square" lIns="0" rIns="0" tIns="0" bIns="0" anchor="t">
            <a:spAutoFit/>
          </a:bodyPr>
          <a:lstStyle/>
          <a:p>
            <a:pPr algn="l">
              <a:lnSpc>
                <a:spcPct val="108000"/>
              </a:lnSpc>
              <a:spcAft>
                <a:spcPts val="0"/>
              </a:spcAft>
            </a:pPr>
            <a:r>
              <a:rPr sz="1800" b="1" i="0">
                <a:solidFill>
                  <a:srgbClr val="B07C1F"/>
                </a:solidFill>
                <a:latin typeface="Cambria"/>
              </a:rPr>
              <a:t>3</a:t>
            </a:r>
          </a:p>
        </p:txBody>
      </p:sp>
      <p:sp>
        <p:nvSpPr>
          <p:cNvPr id="56" name="TextBox 55"/>
          <p:cNvSpPr txBox="1"/>
          <p:nvPr/>
        </p:nvSpPr>
        <p:spPr>
          <a:xfrm>
            <a:off x="11768328" y="25834416"/>
            <a:ext cx="9171432" cy="274320"/>
          </a:xfrm>
          <a:prstGeom prst="rect">
            <a:avLst/>
          </a:prstGeom>
          <a:noFill/>
        </p:spPr>
        <p:txBody>
          <a:bodyPr wrap="square" lIns="0" rIns="0" tIns="0" bIns="0" anchor="t">
            <a:spAutoFit/>
          </a:bodyPr>
          <a:lstStyle/>
          <a:p>
            <a:pPr algn="l">
              <a:lnSpc>
                <a:spcPct val="108000"/>
              </a:lnSpc>
              <a:spcAft>
                <a:spcPts val="0"/>
              </a:spcAft>
            </a:pPr>
            <a:r>
              <a:rPr sz="1700" b="1" i="0">
                <a:solidFill>
                  <a:srgbClr val="1A1A1A"/>
                </a:solidFill>
                <a:latin typeface="Cambria"/>
              </a:rPr>
              <a:t>Latitude was the wrong confound</a:t>
            </a:r>
          </a:p>
        </p:txBody>
      </p:sp>
      <p:sp>
        <p:nvSpPr>
          <p:cNvPr id="57" name="TextBox 56"/>
          <p:cNvSpPr txBox="1"/>
          <p:nvPr/>
        </p:nvSpPr>
        <p:spPr>
          <a:xfrm>
            <a:off x="11768328" y="26136168"/>
            <a:ext cx="9171432" cy="457200"/>
          </a:xfrm>
          <a:prstGeom prst="rect">
            <a:avLst/>
          </a:prstGeom>
          <a:noFill/>
        </p:spPr>
        <p:txBody>
          <a:bodyPr wrap="square" lIns="0" rIns="0" tIns="0" bIns="0" anchor="t">
            <a:spAutoFit/>
          </a:bodyPr>
          <a:lstStyle/>
          <a:p>
            <a:pPr algn="l">
              <a:lnSpc>
                <a:spcPct val="125000"/>
              </a:lnSpc>
              <a:spcAft>
                <a:spcPts val="0"/>
              </a:spcAft>
            </a:pPr>
            <a:r>
              <a:rPr sz="1450" b="0" i="0">
                <a:solidFill>
                  <a:srgbClr val="5F6670"/>
                </a:solidFill>
                <a:latin typeface="Calibri"/>
              </a:rPr>
              <a:t>The country list was built to defeat it, and it accounts for about 5%. Forest cover alone accounts for 30%.</a:t>
            </a:r>
          </a:p>
        </p:txBody>
      </p:sp>
      <p:sp>
        <p:nvSpPr>
          <p:cNvPr id="58" name="TextBox 57"/>
          <p:cNvSpPr txBox="1"/>
          <p:nvPr/>
        </p:nvSpPr>
        <p:spPr>
          <a:xfrm>
            <a:off x="11384280" y="26812824"/>
            <a:ext cx="365760" cy="310896"/>
          </a:xfrm>
          <a:prstGeom prst="rect">
            <a:avLst/>
          </a:prstGeom>
          <a:noFill/>
        </p:spPr>
        <p:txBody>
          <a:bodyPr wrap="square" lIns="0" rIns="0" tIns="0" bIns="0" anchor="t">
            <a:spAutoFit/>
          </a:bodyPr>
          <a:lstStyle/>
          <a:p>
            <a:pPr algn="l">
              <a:lnSpc>
                <a:spcPct val="108000"/>
              </a:lnSpc>
              <a:spcAft>
                <a:spcPts val="0"/>
              </a:spcAft>
            </a:pPr>
            <a:r>
              <a:rPr sz="1800" b="1" i="0">
                <a:solidFill>
                  <a:srgbClr val="B07C1F"/>
                </a:solidFill>
                <a:latin typeface="Cambria"/>
              </a:rPr>
              <a:t>4</a:t>
            </a:r>
          </a:p>
        </p:txBody>
      </p:sp>
      <p:sp>
        <p:nvSpPr>
          <p:cNvPr id="59" name="TextBox 58"/>
          <p:cNvSpPr txBox="1"/>
          <p:nvPr/>
        </p:nvSpPr>
        <p:spPr>
          <a:xfrm>
            <a:off x="11768328" y="26794536"/>
            <a:ext cx="9171432" cy="274320"/>
          </a:xfrm>
          <a:prstGeom prst="rect">
            <a:avLst/>
          </a:prstGeom>
          <a:noFill/>
        </p:spPr>
        <p:txBody>
          <a:bodyPr wrap="square" lIns="0" rIns="0" tIns="0" bIns="0" anchor="t">
            <a:spAutoFit/>
          </a:bodyPr>
          <a:lstStyle/>
          <a:p>
            <a:pPr algn="l">
              <a:lnSpc>
                <a:spcPct val="108000"/>
              </a:lnSpc>
              <a:spcAft>
                <a:spcPts val="0"/>
              </a:spcAft>
            </a:pPr>
            <a:r>
              <a:rPr sz="1700" b="1" i="0">
                <a:solidFill>
                  <a:srgbClr val="1A1A1A"/>
                </a:solidFill>
                <a:latin typeface="Cambria"/>
              </a:rPr>
              <a:t>Africa's warmth is climate. Asia's is not</a:t>
            </a:r>
          </a:p>
        </p:txBody>
      </p:sp>
      <p:sp>
        <p:nvSpPr>
          <p:cNvPr id="60" name="TextBox 59"/>
          <p:cNvSpPr txBox="1"/>
          <p:nvPr/>
        </p:nvSpPr>
        <p:spPr>
          <a:xfrm>
            <a:off x="11768328" y="27096288"/>
            <a:ext cx="9171432" cy="457200"/>
          </a:xfrm>
          <a:prstGeom prst="rect">
            <a:avLst/>
          </a:prstGeom>
          <a:noFill/>
        </p:spPr>
        <p:txBody>
          <a:bodyPr wrap="square" lIns="0" rIns="0" tIns="0" bIns="0" anchor="t">
            <a:spAutoFit/>
          </a:bodyPr>
          <a:lstStyle/>
          <a:p>
            <a:pPr algn="l">
              <a:lnSpc>
                <a:spcPct val="125000"/>
              </a:lnSpc>
              <a:spcAft>
                <a:spcPts val="0"/>
              </a:spcAft>
            </a:pPr>
            <a:r>
              <a:rPr sz="1450" b="0" i="0">
                <a:solidFill>
                  <a:srgbClr val="5F6670"/>
                </a:solidFill>
                <a:latin typeface="Calibri"/>
              </a:rPr>
              <a:t>Africa's gap vanishes under the controls (−0.03). Asia's survives everything (+0.73, p = .011) and holds separately in all six kinds of place.</a:t>
            </a:r>
          </a:p>
        </p:txBody>
      </p:sp>
      <p:sp>
        <p:nvSpPr>
          <p:cNvPr id="61" name="TextBox 60"/>
          <p:cNvSpPr txBox="1"/>
          <p:nvPr/>
        </p:nvSpPr>
        <p:spPr>
          <a:xfrm>
            <a:off x="11384280" y="27772944"/>
            <a:ext cx="365760" cy="310896"/>
          </a:xfrm>
          <a:prstGeom prst="rect">
            <a:avLst/>
          </a:prstGeom>
          <a:noFill/>
        </p:spPr>
        <p:txBody>
          <a:bodyPr wrap="square" lIns="0" rIns="0" tIns="0" bIns="0" anchor="t">
            <a:spAutoFit/>
          </a:bodyPr>
          <a:lstStyle/>
          <a:p>
            <a:pPr algn="l">
              <a:lnSpc>
                <a:spcPct val="108000"/>
              </a:lnSpc>
              <a:spcAft>
                <a:spcPts val="0"/>
              </a:spcAft>
            </a:pPr>
            <a:r>
              <a:rPr sz="1800" b="1" i="0">
                <a:solidFill>
                  <a:srgbClr val="B07C1F"/>
                </a:solidFill>
                <a:latin typeface="Cambria"/>
              </a:rPr>
              <a:t>5</a:t>
            </a:r>
          </a:p>
        </p:txBody>
      </p:sp>
      <p:sp>
        <p:nvSpPr>
          <p:cNvPr id="62" name="TextBox 61"/>
          <p:cNvSpPr txBox="1"/>
          <p:nvPr/>
        </p:nvSpPr>
        <p:spPr>
          <a:xfrm>
            <a:off x="11768328" y="27754656"/>
            <a:ext cx="9171432" cy="274320"/>
          </a:xfrm>
          <a:prstGeom prst="rect">
            <a:avLst/>
          </a:prstGeom>
          <a:noFill/>
        </p:spPr>
        <p:txBody>
          <a:bodyPr wrap="square" lIns="0" rIns="0" tIns="0" bIns="0" anchor="t">
            <a:spAutoFit/>
          </a:bodyPr>
          <a:lstStyle/>
          <a:p>
            <a:pPr algn="l">
              <a:lnSpc>
                <a:spcPct val="108000"/>
              </a:lnSpc>
              <a:spcAft>
                <a:spcPts val="0"/>
              </a:spcAft>
            </a:pPr>
            <a:r>
              <a:rPr sz="1700" b="1" i="0">
                <a:solidFill>
                  <a:srgbClr val="1A1A1A"/>
                </a:solidFill>
                <a:latin typeface="Cambria"/>
              </a:rPr>
              <a:t>The light control is what makes it visible</a:t>
            </a:r>
          </a:p>
        </p:txBody>
      </p:sp>
      <p:sp>
        <p:nvSpPr>
          <p:cNvPr id="63" name="TextBox 62"/>
          <p:cNvSpPr txBox="1"/>
          <p:nvPr/>
        </p:nvSpPr>
        <p:spPr>
          <a:xfrm>
            <a:off x="11768328" y="28056408"/>
            <a:ext cx="9171432" cy="667512"/>
          </a:xfrm>
          <a:prstGeom prst="rect">
            <a:avLst/>
          </a:prstGeom>
          <a:noFill/>
        </p:spPr>
        <p:txBody>
          <a:bodyPr wrap="square" lIns="0" rIns="0" tIns="0" bIns="0" anchor="t">
            <a:spAutoFit/>
          </a:bodyPr>
          <a:lstStyle/>
          <a:p>
            <a:pPr algn="l">
              <a:lnSpc>
                <a:spcPct val="125000"/>
              </a:lnSpc>
              <a:spcAft>
                <a:spcPts val="0"/>
              </a:spcAft>
            </a:pPr>
            <a:r>
              <a:rPr sz="1450" b="0" i="0">
                <a:solidFill>
                  <a:srgbClr val="5F6670"/>
                </a:solidFill>
                <a:latin typeface="Calibri"/>
              </a:rPr>
              <a:t>Under the free prompt climate explains 10% of the spread against 46% under the pinned light, and no group effect survives. The model's own choice of hour was drowning out the country.</a:t>
            </a:r>
          </a:p>
        </p:txBody>
      </p:sp>
      <p:sp>
        <p:nvSpPr>
          <p:cNvPr id="64" name="Rectangle 63"/>
          <p:cNvSpPr/>
          <p:nvPr/>
        </p:nvSpPr>
        <p:spPr>
          <a:xfrm>
            <a:off x="1005840" y="29153688"/>
            <a:ext cx="19933920" cy="10972"/>
          </a:xfrm>
          <a:prstGeom prst="rect">
            <a:avLst/>
          </a:prstGeom>
          <a:solidFill>
            <a:srgbClr val="D8D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05840" y="29482872"/>
            <a:ext cx="19933920" cy="384048"/>
          </a:xfrm>
          <a:prstGeom prst="rect">
            <a:avLst/>
          </a:prstGeom>
          <a:noFill/>
        </p:spPr>
        <p:txBody>
          <a:bodyPr wrap="square" lIns="0" rIns="0" tIns="0" bIns="0" anchor="t">
            <a:spAutoFit/>
          </a:bodyPr>
          <a:lstStyle/>
          <a:p>
            <a:pPr algn="l">
              <a:lnSpc>
                <a:spcPct val="108000"/>
              </a:lnSpc>
              <a:spcAft>
                <a:spcPts val="0"/>
              </a:spcAft>
            </a:pPr>
            <a:r>
              <a:rPr sz="2400" b="1" i="0">
                <a:solidFill>
                  <a:srgbClr val="1A1A1A"/>
                </a:solidFill>
                <a:latin typeface="Cambria"/>
              </a:rPr>
              <a:t>What it cannot show</a:t>
            </a:r>
          </a:p>
        </p:txBody>
      </p:sp>
      <p:sp>
        <p:nvSpPr>
          <p:cNvPr id="66" name="TextBox 65"/>
          <p:cNvSpPr txBox="1"/>
          <p:nvPr/>
        </p:nvSpPr>
        <p:spPr>
          <a:xfrm>
            <a:off x="1005840" y="29958360"/>
            <a:ext cx="164592" cy="237744"/>
          </a:xfrm>
          <a:prstGeom prst="rect">
            <a:avLst/>
          </a:prstGeom>
          <a:noFill/>
        </p:spPr>
        <p:txBody>
          <a:bodyPr wrap="square" lIns="0" rIns="0" tIns="0" bIns="0" anchor="t">
            <a:spAutoFit/>
          </a:bodyPr>
          <a:lstStyle/>
          <a:p>
            <a:pPr algn="l">
              <a:lnSpc>
                <a:spcPct val="108000"/>
              </a:lnSpc>
              <a:spcAft>
                <a:spcPts val="0"/>
              </a:spcAft>
            </a:pPr>
            <a:r>
              <a:rPr sz="1500" b="1" i="0">
                <a:solidFill>
                  <a:srgbClr val="B07C1F"/>
                </a:solidFill>
                <a:latin typeface="Calibri"/>
              </a:rPr>
              <a:t>•</a:t>
            </a:r>
          </a:p>
        </p:txBody>
      </p:sp>
      <p:sp>
        <p:nvSpPr>
          <p:cNvPr id="67" name="TextBox 66"/>
          <p:cNvSpPr txBox="1"/>
          <p:nvPr/>
        </p:nvSpPr>
        <p:spPr>
          <a:xfrm>
            <a:off x="1225296" y="29940072"/>
            <a:ext cx="9336024" cy="242316"/>
          </a:xfrm>
          <a:prstGeom prst="rect">
            <a:avLst/>
          </a:prstGeom>
          <a:noFill/>
        </p:spPr>
        <p:txBody>
          <a:bodyPr wrap="square" lIns="0" rIns="0" tIns="0" bIns="0" anchor="t">
            <a:spAutoFit/>
          </a:bodyPr>
          <a:lstStyle/>
          <a:p>
            <a:pPr algn="l">
              <a:lnSpc>
                <a:spcPct val="125000"/>
              </a:lnSpc>
              <a:spcAft>
                <a:spcPts val="0"/>
              </a:spcAft>
            </a:pPr>
            <a:r>
              <a:rPr sz="1400" b="0" i="0">
                <a:solidFill>
                  <a:srgbClr val="5F6670"/>
                </a:solidFill>
                <a:latin typeface="Calibri"/>
              </a:rPr>
              <a:t>One model, one prompt template, one language.</a:t>
            </a:r>
          </a:p>
        </p:txBody>
      </p:sp>
      <p:sp>
        <p:nvSpPr>
          <p:cNvPr id="68" name="TextBox 67"/>
          <p:cNvSpPr txBox="1"/>
          <p:nvPr/>
        </p:nvSpPr>
        <p:spPr>
          <a:xfrm>
            <a:off x="1005840" y="30319548"/>
            <a:ext cx="164592" cy="237744"/>
          </a:xfrm>
          <a:prstGeom prst="rect">
            <a:avLst/>
          </a:prstGeom>
          <a:noFill/>
        </p:spPr>
        <p:txBody>
          <a:bodyPr wrap="square" lIns="0" rIns="0" tIns="0" bIns="0" anchor="t">
            <a:spAutoFit/>
          </a:bodyPr>
          <a:lstStyle/>
          <a:p>
            <a:pPr algn="l">
              <a:lnSpc>
                <a:spcPct val="108000"/>
              </a:lnSpc>
              <a:spcAft>
                <a:spcPts val="0"/>
              </a:spcAft>
            </a:pPr>
            <a:r>
              <a:rPr sz="1500" b="1" i="0">
                <a:solidFill>
                  <a:srgbClr val="B07C1F"/>
                </a:solidFill>
                <a:latin typeface="Calibri"/>
              </a:rPr>
              <a:t>•</a:t>
            </a:r>
          </a:p>
        </p:txBody>
      </p:sp>
      <p:sp>
        <p:nvSpPr>
          <p:cNvPr id="69" name="TextBox 68"/>
          <p:cNvSpPr txBox="1"/>
          <p:nvPr/>
        </p:nvSpPr>
        <p:spPr>
          <a:xfrm>
            <a:off x="1225296" y="30301260"/>
            <a:ext cx="9336024" cy="448056"/>
          </a:xfrm>
          <a:prstGeom prst="rect">
            <a:avLst/>
          </a:prstGeom>
          <a:noFill/>
        </p:spPr>
        <p:txBody>
          <a:bodyPr wrap="square" lIns="0" rIns="0" tIns="0" bIns="0" anchor="t">
            <a:spAutoFit/>
          </a:bodyPr>
          <a:lstStyle/>
          <a:p>
            <a:pPr algn="l">
              <a:lnSpc>
                <a:spcPct val="125000"/>
              </a:lnSpc>
              <a:spcAft>
                <a:spcPts val="0"/>
              </a:spcAft>
            </a:pPr>
            <a:r>
              <a:rPr sz="1400" b="0" i="0">
                <a:solidFill>
                  <a:srgbClr val="5F6670"/>
                </a:solidFill>
                <a:latin typeface="Calibri"/>
              </a:rPr>
              <a:t>Four country averages is a blunt control, and it leaves 54% of the spread unexplained.</a:t>
            </a:r>
          </a:p>
        </p:txBody>
      </p:sp>
      <p:sp>
        <p:nvSpPr>
          <p:cNvPr id="70" name="TextBox 69"/>
          <p:cNvSpPr txBox="1"/>
          <p:nvPr/>
        </p:nvSpPr>
        <p:spPr>
          <a:xfrm>
            <a:off x="1005840" y="30886476"/>
            <a:ext cx="164592" cy="237744"/>
          </a:xfrm>
          <a:prstGeom prst="rect">
            <a:avLst/>
          </a:prstGeom>
          <a:noFill/>
        </p:spPr>
        <p:txBody>
          <a:bodyPr wrap="square" lIns="0" rIns="0" tIns="0" bIns="0" anchor="t">
            <a:spAutoFit/>
          </a:bodyPr>
          <a:lstStyle/>
          <a:p>
            <a:pPr algn="l">
              <a:lnSpc>
                <a:spcPct val="108000"/>
              </a:lnSpc>
              <a:spcAft>
                <a:spcPts val="0"/>
              </a:spcAft>
            </a:pPr>
            <a:r>
              <a:rPr sz="1500" b="1" i="0">
                <a:solidFill>
                  <a:srgbClr val="B07C1F"/>
                </a:solidFill>
                <a:latin typeface="Calibri"/>
              </a:rPr>
              <a:t>•</a:t>
            </a:r>
          </a:p>
        </p:txBody>
      </p:sp>
      <p:sp>
        <p:nvSpPr>
          <p:cNvPr id="71" name="TextBox 70"/>
          <p:cNvSpPr txBox="1"/>
          <p:nvPr/>
        </p:nvSpPr>
        <p:spPr>
          <a:xfrm>
            <a:off x="1225296" y="30868188"/>
            <a:ext cx="9336024" cy="653796"/>
          </a:xfrm>
          <a:prstGeom prst="rect">
            <a:avLst/>
          </a:prstGeom>
          <a:noFill/>
        </p:spPr>
        <p:txBody>
          <a:bodyPr wrap="square" lIns="0" rIns="0" tIns="0" bIns="0" anchor="t">
            <a:spAutoFit/>
          </a:bodyPr>
          <a:lstStyle/>
          <a:p>
            <a:pPr algn="l">
              <a:lnSpc>
                <a:spcPct val="125000"/>
              </a:lnSpc>
              <a:spcAft>
                <a:spcPts val="0"/>
              </a:spcAft>
            </a:pPr>
            <a:r>
              <a:rPr sz="1400" b="0" i="0">
                <a:solidFill>
                  <a:srgbClr val="5F6670"/>
                </a:solidFill>
                <a:latin typeface="Calibri"/>
              </a:rPr>
              <a:t>Controlling for climate may control away part of the question. The controls use each country's real climate, not the drawn one, so a place rendered drier than it is counts as signal — but content against habit is a judgement this cannot make.</a:t>
            </a:r>
          </a:p>
        </p:txBody>
      </p:sp>
      <p:sp>
        <p:nvSpPr>
          <p:cNvPr id="72" name="TextBox 71"/>
          <p:cNvSpPr txBox="1"/>
          <p:nvPr/>
        </p:nvSpPr>
        <p:spPr>
          <a:xfrm>
            <a:off x="11384280" y="29958360"/>
            <a:ext cx="164592" cy="237744"/>
          </a:xfrm>
          <a:prstGeom prst="rect">
            <a:avLst/>
          </a:prstGeom>
          <a:noFill/>
        </p:spPr>
        <p:txBody>
          <a:bodyPr wrap="square" lIns="0" rIns="0" tIns="0" bIns="0" anchor="t">
            <a:spAutoFit/>
          </a:bodyPr>
          <a:lstStyle/>
          <a:p>
            <a:pPr algn="l">
              <a:lnSpc>
                <a:spcPct val="108000"/>
              </a:lnSpc>
              <a:spcAft>
                <a:spcPts val="0"/>
              </a:spcAft>
            </a:pPr>
            <a:r>
              <a:rPr sz="1500" b="1" i="0">
                <a:solidFill>
                  <a:srgbClr val="B07C1F"/>
                </a:solidFill>
                <a:latin typeface="Calibri"/>
              </a:rPr>
              <a:t>•</a:t>
            </a:r>
          </a:p>
        </p:txBody>
      </p:sp>
      <p:sp>
        <p:nvSpPr>
          <p:cNvPr id="73" name="TextBox 72"/>
          <p:cNvSpPr txBox="1"/>
          <p:nvPr/>
        </p:nvSpPr>
        <p:spPr>
          <a:xfrm>
            <a:off x="11603736" y="29940072"/>
            <a:ext cx="9336024" cy="448056"/>
          </a:xfrm>
          <a:prstGeom prst="rect">
            <a:avLst/>
          </a:prstGeom>
          <a:noFill/>
        </p:spPr>
        <p:txBody>
          <a:bodyPr wrap="square" lIns="0" rIns="0" tIns="0" bIns="0" anchor="t">
            <a:spAutoFit/>
          </a:bodyPr>
          <a:lstStyle/>
          <a:p>
            <a:pPr algn="l">
              <a:lnSpc>
                <a:spcPct val="125000"/>
              </a:lnSpc>
              <a:spcAft>
                <a:spcPts val="0"/>
              </a:spcAft>
            </a:pPr>
            <a:r>
              <a:rPr sz="1400" b="0" i="0">
                <a:solidFill>
                  <a:srgbClr val="5F6670"/>
                </a:solidFill>
                <a:latin typeface="Calibri"/>
              </a:rPr>
              <a:t>18 comparisons per metric: only Asia, the Americas and upper-middle income on haze and lightness carry real weight.</a:t>
            </a:r>
          </a:p>
        </p:txBody>
      </p:sp>
      <p:sp>
        <p:nvSpPr>
          <p:cNvPr id="74" name="TextBox 73"/>
          <p:cNvSpPr txBox="1"/>
          <p:nvPr/>
        </p:nvSpPr>
        <p:spPr>
          <a:xfrm>
            <a:off x="11384280" y="30525288"/>
            <a:ext cx="164592" cy="237744"/>
          </a:xfrm>
          <a:prstGeom prst="rect">
            <a:avLst/>
          </a:prstGeom>
          <a:noFill/>
        </p:spPr>
        <p:txBody>
          <a:bodyPr wrap="square" lIns="0" rIns="0" tIns="0" bIns="0" anchor="t">
            <a:spAutoFit/>
          </a:bodyPr>
          <a:lstStyle/>
          <a:p>
            <a:pPr algn="l">
              <a:lnSpc>
                <a:spcPct val="108000"/>
              </a:lnSpc>
              <a:spcAft>
                <a:spcPts val="0"/>
              </a:spcAft>
            </a:pPr>
            <a:r>
              <a:rPr sz="1500" b="1" i="0">
                <a:solidFill>
                  <a:srgbClr val="B07C1F"/>
                </a:solidFill>
                <a:latin typeface="Calibri"/>
              </a:rPr>
              <a:t>•</a:t>
            </a:r>
          </a:p>
        </p:txBody>
      </p:sp>
      <p:sp>
        <p:nvSpPr>
          <p:cNvPr id="75" name="TextBox 74"/>
          <p:cNvSpPr txBox="1"/>
          <p:nvPr/>
        </p:nvSpPr>
        <p:spPr>
          <a:xfrm>
            <a:off x="11603736" y="30507000"/>
            <a:ext cx="9336024" cy="448056"/>
          </a:xfrm>
          <a:prstGeom prst="rect">
            <a:avLst/>
          </a:prstGeom>
          <a:noFill/>
        </p:spPr>
        <p:txBody>
          <a:bodyPr wrap="square" lIns="0" rIns="0" tIns="0" bIns="0" anchor="t">
            <a:spAutoFit/>
          </a:bodyPr>
          <a:lstStyle/>
          <a:p>
            <a:pPr algn="l">
              <a:lnSpc>
                <a:spcPct val="125000"/>
              </a:lnSpc>
              <a:spcAft>
                <a:spcPts val="0"/>
              </a:spcAft>
            </a:pPr>
            <a:r>
              <a:rPr sz="1400" b="0" i="0">
                <a:solidFill>
                  <a:srgbClr val="5F6670"/>
                </a:solidFill>
                <a:latin typeface="Calibri"/>
              </a:rPr>
              <a:t>Europe is three countries here and Oceania two; the list balances income, not regions.</a:t>
            </a:r>
          </a:p>
        </p:txBody>
      </p:sp>
      <p:sp>
        <p:nvSpPr>
          <p:cNvPr id="76" name="Rectangle 75"/>
          <p:cNvSpPr/>
          <p:nvPr/>
        </p:nvSpPr>
        <p:spPr>
          <a:xfrm>
            <a:off x="1005840" y="31915176"/>
            <a:ext cx="19933920" cy="10972"/>
          </a:xfrm>
          <a:prstGeom prst="rect">
            <a:avLst/>
          </a:prstGeom>
          <a:solidFill>
            <a:srgbClr val="D8D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005840" y="32098056"/>
            <a:ext cx="19933920" cy="329184"/>
          </a:xfrm>
          <a:prstGeom prst="rect">
            <a:avLst/>
          </a:prstGeom>
          <a:noFill/>
        </p:spPr>
        <p:txBody>
          <a:bodyPr wrap="square" lIns="0" rIns="0" tIns="0" bIns="0" anchor="t">
            <a:spAutoFit/>
          </a:bodyPr>
          <a:lstStyle/>
          <a:p>
            <a:pPr algn="l">
              <a:lnSpc>
                <a:spcPct val="108000"/>
              </a:lnSpc>
              <a:spcAft>
                <a:spcPts val="0"/>
              </a:spcAft>
            </a:pPr>
            <a:r>
              <a:rPr sz="1400" b="0" i="0">
                <a:solidFill>
                  <a:srgbClr val="5F6670"/>
                </a:solidFill>
                <a:latin typeface="Calibri"/>
              </a:rPr>
              <a:t>github.com/haydn-s/blurred-lens  ·  interactive globe, every prompt and every measurement in the repository  ·  generated October 2026 for $185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